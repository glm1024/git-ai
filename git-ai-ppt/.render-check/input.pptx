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61" r:id="rId2"/>
  </p:sldMasterIdLst>
  <p:handoutMasterIdLst>
    <p:handoutMasterId r:id="rId40"/>
  </p:handoutMasterIdLst>
  <p:sldIdLst>
    <p:sldId id="272" r:id="rId3"/>
    <p:sldId id="276" r:id="rId4"/>
    <p:sldId id="277" r:id="rId5"/>
    <p:sldId id="262" r:id="rId6"/>
    <p:sldId id="263" r:id="rId7"/>
    <p:sldId id="278" r:id="rId8"/>
    <p:sldId id="266" r:id="rId9"/>
    <p:sldId id="267" r:id="rId10"/>
    <p:sldId id="269" r:id="rId11"/>
    <p:sldId id="264" r:id="rId12"/>
    <p:sldId id="279" r:id="rId13"/>
    <p:sldId id="280" r:id="rId14"/>
    <p:sldId id="271" r:id="rId15"/>
    <p:sldId id="281" r:id="rId16"/>
    <p:sldId id="301" r:id="rId17"/>
    <p:sldId id="273" r:id="rId18"/>
    <p:sldId id="282" r:id="rId19"/>
    <p:sldId id="283" r:id="rId20"/>
    <p:sldId id="284" r:id="rId21"/>
    <p:sldId id="285" r:id="rId22"/>
    <p:sldId id="286" r:id="rId23"/>
    <p:sldId id="290" r:id="rId24"/>
    <p:sldId id="291" r:id="rId25"/>
    <p:sldId id="292" r:id="rId26"/>
    <p:sldId id="293" r:id="rId27"/>
    <p:sldId id="294" r:id="rId28"/>
    <p:sldId id="295" r:id="rId29"/>
    <p:sldId id="299" r:id="rId30"/>
    <p:sldId id="296" r:id="rId31"/>
    <p:sldId id="300" r:id="rId32"/>
    <p:sldId id="297" r:id="rId33"/>
    <p:sldId id="298" r:id="rId34"/>
    <p:sldId id="274" r:id="rId35"/>
    <p:sldId id="275" r:id="rId36"/>
    <p:sldId id="289" r:id="rId37"/>
    <p:sldId id="287" r:id="rId38"/>
    <p:sldId id="288" r:id="rId39"/>
  </p:sldIdLst>
  <p:sldSz cx="12192000" cy="6858000"/>
  <p:notesSz cx="6858000" cy="9144000"/>
  <p:custDataLst>
    <p:tags r:id="rId4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Microsoft YaHei"/>
        <a:ea typeface="微软雅黑"/>
        <a:cs typeface="Microsoft YaHei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Microsoft YaHei"/>
        <a:ea typeface="微软雅黑"/>
        <a:cs typeface="Microsoft YaHei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Microsoft YaHei"/>
        <a:ea typeface="微软雅黑"/>
        <a:cs typeface="Microsoft YaHei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Microsoft YaHei"/>
        <a:ea typeface="微软雅黑"/>
        <a:cs typeface="Microsoft YaHei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Microsoft YaHei"/>
        <a:ea typeface="微软雅黑"/>
        <a:cs typeface="Microsoft YaHei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Microsoft YaHei"/>
        <a:ea typeface="微软雅黑"/>
        <a:cs typeface="Microsoft YaHei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Microsoft YaHei"/>
        <a:ea typeface="微软雅黑"/>
        <a:cs typeface="Microsoft YaHei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Microsoft YaHei"/>
        <a:ea typeface="微软雅黑"/>
        <a:cs typeface="Microsoft YaHei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Microsoft YaHei"/>
        <a:ea typeface="微软雅黑"/>
        <a:cs typeface="Microsoft YaHei"/>
      </a:defRPr>
    </a:lvl9pPr>
  </p:defaultTextStyle>
  <p:extLst>
    <p:ext uri="{EFAFB233-063F-42B5-8137-9DF3F51BA10A}">
      <p15:sldGuideLst xmlns:p15="http://schemas.microsoft.com/office/powerpoint/2012/main">
        <p15:guide id="1" orient="horz" pos="3264" userDrawn="1">
          <p15:clr>
            <a:srgbClr val="A4A3A4"/>
          </p15:clr>
        </p15:guide>
        <p15:guide id="2" orient="horz" pos="929" userDrawn="1">
          <p15:clr>
            <a:srgbClr val="A4A3A4"/>
          </p15:clr>
        </p15:guide>
        <p15:guide id="3" orient="horz" pos="2889" userDrawn="1">
          <p15:clr>
            <a:srgbClr val="A4A3A4"/>
          </p15:clr>
        </p15:guide>
        <p15:guide id="4" pos="1884" userDrawn="1">
          <p15:clr>
            <a:srgbClr val="A4A3A4"/>
          </p15:clr>
        </p15:guide>
        <p15:guide id="5" pos="2463" userDrawn="1">
          <p15:clr>
            <a:srgbClr val="A4A3A4"/>
          </p15:clr>
        </p15:guide>
        <p15:guide id="6" pos="347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bin_yx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2AC"/>
    <a:srgbClr val="0033CC"/>
    <a:srgbClr val="00518E"/>
    <a:srgbClr val="003399"/>
    <a:srgbClr val="213261"/>
    <a:srgbClr val="000000"/>
    <a:srgbClr val="FF9999"/>
    <a:srgbClr val="FF7C80"/>
    <a:srgbClr val="0066FF"/>
    <a:srgbClr val="3F5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E4AEA4-8DFA-4A89-87EB-49C32662AFE0}"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20" autoAdjust="0"/>
    <p:restoredTop sz="88296" autoAdjust="0"/>
  </p:normalViewPr>
  <p:slideViewPr>
    <p:cSldViewPr showGuides="1">
      <p:cViewPr varScale="1">
        <p:scale>
          <a:sx n="128" d="100"/>
          <a:sy n="128" d="100"/>
        </p:scale>
        <p:origin x="704" y="176"/>
      </p:cViewPr>
      <p:guideLst>
        <p:guide orient="horz" pos="3264"/>
        <p:guide orient="horz" pos="929"/>
        <p:guide orient="horz" pos="2889"/>
        <p:guide pos="1884"/>
        <p:guide pos="2463"/>
        <p:guide pos="3477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commentAuthors" Target="commentAuthor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70563E6-95EB-4370-8635-C2BF33E7666D}" type="datetime1">
              <a:rPr lang="zh-CN" altLang="en-US"/>
              <a:t>2026/7/23</a:t>
            </a:fld>
            <a:endParaRPr lang="en-US" altLang="zh-CN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F1B02628-D6A3-4668-A545-97CB7E1F0FFE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8"/>
          <p:cNvSpPr>
            <a:spLocks noChangeArrowheads="1"/>
          </p:cNvSpPr>
          <p:nvPr userDrawn="1"/>
        </p:nvSpPr>
        <p:spPr bwMode="auto">
          <a:xfrm>
            <a:off x="-2118" y="1584325"/>
            <a:ext cx="12194118" cy="3644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0" y="0"/>
            <a:ext cx="12198351" cy="1584325"/>
          </a:xfrm>
          <a:prstGeom prst="rect">
            <a:avLst/>
          </a:prstGeom>
          <a:solidFill>
            <a:srgbClr val="0062AC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latin typeface="Microsoft YaHei"/>
              <a:ea typeface="微软雅黑"/>
              <a:cs typeface="Microsoft YaHei"/>
            </a:endParaRPr>
          </a:p>
        </p:txBody>
      </p:sp>
      <p:pic>
        <p:nvPicPr>
          <p:cNvPr id="8" name="Picture 2" descr="D:\快盘\130425PPT模板与规范\标志-蓝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967" y="5516563"/>
            <a:ext cx="4578351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310799" y="2060575"/>
            <a:ext cx="8161535" cy="1223963"/>
          </a:xfrm>
        </p:spPr>
        <p:txBody>
          <a:bodyPr lIns="91440"/>
          <a:lstStyle>
            <a:lvl1pPr marL="0" indent="0">
              <a:buFontTx/>
              <a:buNone/>
              <a:defRPr sz="4000" b="1">
                <a:solidFill>
                  <a:srgbClr val="0062AC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单击此处编辑母版副标题样式</a:t>
            </a:r>
            <a:endParaRPr lang="en-US" altLang="zh-CN" dirty="0">
              <a:latin typeface="Microsoft YaHei"/>
              <a:ea typeface="微软雅黑"/>
              <a:cs typeface="Microsoft YaHe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507" y="0"/>
            <a:ext cx="11520944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4435" y="1052737"/>
            <a:ext cx="11523133" cy="5329014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  <a:lvl2pPr>
              <a:defRPr>
                <a:latin typeface="Microsoft YaHei"/>
                <a:ea typeface="微软雅黑"/>
                <a:cs typeface="Microsoft YaHei"/>
              </a:defRPr>
            </a:lvl2pPr>
            <a:lvl3pPr>
              <a:defRPr>
                <a:latin typeface="Microsoft YaHei"/>
                <a:ea typeface="微软雅黑"/>
                <a:cs typeface="Microsoft YaHei"/>
              </a:defRPr>
            </a:lvl3pPr>
            <a:lvl4pPr>
              <a:defRPr>
                <a:latin typeface="Microsoft YaHei"/>
                <a:ea typeface="微软雅黑"/>
                <a:cs typeface="Microsoft YaHei"/>
              </a:defRPr>
            </a:lvl4pPr>
            <a:lvl5pPr>
              <a:defRPr>
                <a:latin typeface="Microsoft YaHei"/>
                <a:ea typeface="微软雅黑"/>
                <a:cs typeface="Microsoft YaHei"/>
              </a:defRPr>
            </a:lvl5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18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6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14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14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14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14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14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14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0"/>
            <a:ext cx="11521017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34433" y="1052514"/>
            <a:ext cx="5665556" cy="5328814"/>
          </a:xfrm>
        </p:spPr>
        <p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2000">
                <a:latin typeface="Microsoft YaHei"/>
                <a:ea typeface="微软雅黑"/>
                <a:cs typeface="Microsoft YaHei"/>
              </a:defRPr>
            </a:lvl3pPr>
            <a:lvl4pPr>
              <a:defRPr sz="2000">
                <a:latin typeface="Microsoft YaHei"/>
                <a:ea typeface="微软雅黑"/>
                <a:cs typeface="Microsoft YaHei"/>
              </a:defRPr>
            </a:lvl4pPr>
            <a:lvl5pPr>
              <a:defRPr sz="2000">
                <a:latin typeface="Microsoft YaHei"/>
                <a:ea typeface="微软雅黑"/>
                <a:cs typeface="Microsoft YaHei"/>
              </a:defRPr>
            </a:lvl5pPr>
            <a:lvl6pPr>
              <a:defRPr sz="1800">
                <a:latin typeface="Microsoft YaHei"/>
                <a:ea typeface="微软雅黑"/>
                <a:cs typeface="Microsoft YaHei"/>
              </a:defRPr>
            </a:lvl6pPr>
            <a:lvl7pPr>
              <a:defRPr sz="1800">
                <a:latin typeface="Microsoft YaHei"/>
                <a:ea typeface="微软雅黑"/>
                <a:cs typeface="Microsoft YaHei"/>
              </a:defRPr>
            </a:lvl7pPr>
            <a:lvl8pPr>
              <a:defRPr sz="1800">
                <a:latin typeface="Microsoft YaHei"/>
                <a:ea typeface="微软雅黑"/>
                <a:cs typeface="Microsoft YaHei"/>
              </a:defRPr>
            </a:lvl8pPr>
            <a:lvl9pPr>
              <a:defRPr sz="18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2011" y="1052514"/>
            <a:ext cx="5664629" cy="5328814"/>
          </a:xfrm>
        </p:spPr>
        <p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2000">
                <a:latin typeface="Microsoft YaHei"/>
                <a:ea typeface="微软雅黑"/>
                <a:cs typeface="Microsoft YaHei"/>
              </a:defRPr>
            </a:lvl3pPr>
            <a:lvl4pPr>
              <a:defRPr sz="2000">
                <a:latin typeface="Microsoft YaHei"/>
                <a:ea typeface="微软雅黑"/>
                <a:cs typeface="Microsoft YaHei"/>
              </a:defRPr>
            </a:lvl4pPr>
            <a:lvl5pPr>
              <a:defRPr sz="2000">
                <a:latin typeface="Microsoft YaHei"/>
                <a:ea typeface="微软雅黑"/>
                <a:cs typeface="Microsoft YaHei"/>
              </a:defRPr>
            </a:lvl5pPr>
            <a:lvl6pPr>
              <a:defRPr sz="1800">
                <a:latin typeface="Microsoft YaHei"/>
                <a:ea typeface="微软雅黑"/>
                <a:cs typeface="Microsoft YaHei"/>
              </a:defRPr>
            </a:lvl6pPr>
            <a:lvl7pPr>
              <a:defRPr sz="1800">
                <a:latin typeface="Microsoft YaHei"/>
                <a:ea typeface="微软雅黑"/>
                <a:cs typeface="Microsoft YaHei"/>
              </a:defRPr>
            </a:lvl7pPr>
            <a:lvl8pPr>
              <a:defRPr sz="1800">
                <a:latin typeface="Microsoft YaHei"/>
                <a:ea typeface="微软雅黑"/>
                <a:cs typeface="Microsoft YaHei"/>
              </a:defRPr>
            </a:lvl8pPr>
            <a:lvl9pPr>
              <a:defRPr sz="18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0"/>
            <a:ext cx="11522207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4433" y="1052736"/>
            <a:ext cx="5569545" cy="639762"/>
          </a:xfrm>
        </p:spPr>
        <p:txBody>
          <a:bodyPr anchor="b"/>
          <a:lstStyle>
            <a:lvl1pPr marL="0" indent="0">
              <a:buNone/>
              <a:defRPr sz="2400" b="1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2000" b="1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800" b="1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34433" y="1772816"/>
            <a:ext cx="5569545" cy="4608512"/>
          </a:xfrm>
        </p:spPr>
        <p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1800">
                <a:latin typeface="Microsoft YaHei"/>
                <a:ea typeface="微软雅黑"/>
                <a:cs typeface="Microsoft YaHei"/>
              </a:defRPr>
            </a:lvl3pPr>
            <a:lvl4pPr>
              <a:defRPr sz="1600">
                <a:latin typeface="Microsoft YaHei"/>
                <a:ea typeface="微软雅黑"/>
                <a:cs typeface="Microsoft YaHei"/>
              </a:defRPr>
            </a:lvl4pPr>
            <a:lvl5pPr>
              <a:defRPr sz="1600">
                <a:latin typeface="Microsoft YaHei"/>
                <a:ea typeface="微软雅黑"/>
                <a:cs typeface="Microsoft YaHei"/>
              </a:defRPr>
            </a:lvl5pPr>
            <a:lvl6pPr>
              <a:defRPr sz="1600">
                <a:latin typeface="Microsoft YaHei"/>
                <a:ea typeface="微软雅黑"/>
                <a:cs typeface="Microsoft YaHei"/>
              </a:defRPr>
            </a:lvl6pPr>
            <a:lvl7pPr>
              <a:defRPr sz="1600">
                <a:latin typeface="Microsoft YaHei"/>
                <a:ea typeface="微软雅黑"/>
                <a:cs typeface="Microsoft YaHei"/>
              </a:defRPr>
            </a:lvl7pPr>
            <a:lvl8pPr>
              <a:defRPr sz="1600">
                <a:latin typeface="Microsoft YaHei"/>
                <a:ea typeface="微软雅黑"/>
                <a:cs typeface="Microsoft YaHei"/>
              </a:defRPr>
            </a:lvl8pPr>
            <a:lvl9pPr>
              <a:defRPr sz="16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096000" y="1052736"/>
            <a:ext cx="5760641" cy="639762"/>
          </a:xfrm>
        </p:spPr>
        <p:txBody>
          <a:bodyPr anchor="b"/>
          <a:lstStyle>
            <a:lvl1pPr marL="0" indent="0">
              <a:buNone/>
              <a:defRPr sz="2400" b="1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2000" b="1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800" b="1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096000" y="1772816"/>
            <a:ext cx="5760641" cy="4608512"/>
          </a:xfrm>
        </p:spPr>
        <p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1800">
                <a:latin typeface="Microsoft YaHei"/>
                <a:ea typeface="微软雅黑"/>
                <a:cs typeface="Microsoft YaHei"/>
              </a:defRPr>
            </a:lvl3pPr>
            <a:lvl4pPr>
              <a:defRPr sz="1600">
                <a:latin typeface="Microsoft YaHei"/>
                <a:ea typeface="微软雅黑"/>
                <a:cs typeface="Microsoft YaHei"/>
              </a:defRPr>
            </a:lvl4pPr>
            <a:lvl5pPr>
              <a:defRPr sz="1600">
                <a:latin typeface="Microsoft YaHei"/>
                <a:ea typeface="微软雅黑"/>
                <a:cs typeface="Microsoft YaHei"/>
              </a:defRPr>
            </a:lvl5pPr>
            <a:lvl6pPr>
              <a:defRPr sz="1600">
                <a:latin typeface="Microsoft YaHei"/>
                <a:ea typeface="微软雅黑"/>
                <a:cs typeface="Microsoft YaHei"/>
              </a:defRPr>
            </a:lvl6pPr>
            <a:lvl7pPr>
              <a:defRPr sz="1600">
                <a:latin typeface="Microsoft YaHei"/>
                <a:ea typeface="微软雅黑"/>
                <a:cs typeface="Microsoft YaHei"/>
              </a:defRPr>
            </a:lvl7pPr>
            <a:lvl8pPr>
              <a:defRPr sz="1600">
                <a:latin typeface="Microsoft YaHei"/>
                <a:ea typeface="微软雅黑"/>
                <a:cs typeface="Microsoft YaHei"/>
              </a:defRPr>
            </a:lvl8pPr>
            <a:lvl9pPr>
              <a:defRPr sz="16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0"/>
            <a:ext cx="11520036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0"/>
            <a:ext cx="11523135" cy="836613"/>
          </a:xfrm>
        </p:spPr>
        <p:txBody>
          <a:bodyPr/>
          <a:lstStyle>
            <a:lvl1pPr algn="l">
              <a:defRPr sz="3200" b="1"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1052512"/>
            <a:ext cx="7089907" cy="5328815"/>
          </a:xfrm>
        </p:spPr>
        <p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2000">
                <a:latin typeface="Microsoft YaHei"/>
                <a:ea typeface="微软雅黑"/>
                <a:cs typeface="Microsoft YaHei"/>
              </a:defRPr>
            </a:lvl3pPr>
            <a:lvl4pPr>
              <a:defRPr sz="2000">
                <a:latin typeface="Microsoft YaHei"/>
                <a:ea typeface="微软雅黑"/>
                <a:cs typeface="Microsoft YaHei"/>
              </a:defRPr>
            </a:lvl4pPr>
            <a:lvl5pPr>
              <a:defRPr sz="2000">
                <a:latin typeface="Microsoft YaHei"/>
                <a:ea typeface="微软雅黑"/>
                <a:cs typeface="Microsoft YaHei"/>
              </a:defRPr>
            </a:lvl5pPr>
            <a:lvl6pPr>
              <a:defRPr sz="2000">
                <a:latin typeface="Microsoft YaHei"/>
                <a:ea typeface="微软雅黑"/>
                <a:cs typeface="Microsoft YaHei"/>
              </a:defRPr>
            </a:lvl6pPr>
            <a:lvl7pPr>
              <a:defRPr sz="2000">
                <a:latin typeface="Microsoft YaHei"/>
                <a:ea typeface="微软雅黑"/>
                <a:cs typeface="Microsoft YaHei"/>
              </a:defRPr>
            </a:lvl7pPr>
            <a:lvl8pPr>
              <a:defRPr sz="2000">
                <a:latin typeface="Microsoft YaHei"/>
                <a:ea typeface="微软雅黑"/>
                <a:cs typeface="Microsoft YaHei"/>
              </a:defRPr>
            </a:lvl8pPr>
            <a:lvl9pPr>
              <a:defRPr sz="20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34435" y="1052514"/>
            <a:ext cx="4286251" cy="5278156"/>
          </a:xfrm>
        </p:spPr>
        <p:txBody>
          <a:bodyPr/>
          <a:lstStyle>
            <a:lvl1pPr marL="0" indent="0">
              <a:buNone/>
              <a:defRPr sz="2000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12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0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9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9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9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9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9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9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3200" b="1"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1052513"/>
            <a:ext cx="7315200" cy="3675062"/>
          </a:xfrm>
        </p:spPr>
        <p:txBody>
          <a:bodyPr/>
          <a:lstStyle>
            <a:lvl1pPr marL="0" indent="0">
              <a:buNone/>
              <a:defRPr sz="3200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28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24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20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20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20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20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20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20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endParaRPr lang="zh-CN" altLang="en-US" noProof="0"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2400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12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0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9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9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9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9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9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9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507" y="0"/>
            <a:ext cx="11520944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34435" y="1052737"/>
            <a:ext cx="11523133" cy="5329014"/>
          </a:xfrm>
        </p:spPr>
        <p:txBody>
          <a:bodyPr vert="eaVert"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  <a:lvl2pPr>
              <a:defRPr>
                <a:latin typeface="Microsoft YaHei"/>
                <a:ea typeface="微软雅黑"/>
                <a:cs typeface="Microsoft YaHei"/>
              </a:defRPr>
            </a:lvl2pPr>
            <a:lvl3pPr>
              <a:defRPr>
                <a:latin typeface="Microsoft YaHei"/>
                <a:ea typeface="微软雅黑"/>
                <a:cs typeface="Microsoft YaHei"/>
              </a:defRPr>
            </a:lvl3pPr>
            <a:lvl4pPr>
              <a:defRPr>
                <a:latin typeface="Microsoft YaHei"/>
                <a:ea typeface="微软雅黑"/>
                <a:cs typeface="Microsoft YaHei"/>
              </a:defRPr>
            </a:lvl4pPr>
            <a:lvl5pPr>
              <a:defRPr>
                <a:latin typeface="Microsoft YaHei"/>
                <a:ea typeface="微软雅黑"/>
                <a:cs typeface="Microsoft YaHei"/>
              </a:defRPr>
            </a:lvl5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68341" y="1052512"/>
            <a:ext cx="2667000" cy="5328815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34433" y="1052512"/>
            <a:ext cx="8737899" cy="5328815"/>
          </a:xfrm>
        </p:spPr>
        <p:txBody>
          <a:bodyPr vert="eaVert"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  <a:lvl2pPr>
              <a:defRPr>
                <a:latin typeface="Microsoft YaHei"/>
                <a:ea typeface="微软雅黑"/>
                <a:cs typeface="Microsoft YaHei"/>
              </a:defRPr>
            </a:lvl2pPr>
            <a:lvl3pPr>
              <a:defRPr>
                <a:latin typeface="Microsoft YaHei"/>
                <a:ea typeface="微软雅黑"/>
                <a:cs typeface="Microsoft YaHei"/>
              </a:defRPr>
            </a:lvl3pPr>
            <a:lvl4pPr>
              <a:defRPr>
                <a:latin typeface="Microsoft YaHei"/>
                <a:ea typeface="微软雅黑"/>
                <a:cs typeface="Microsoft YaHei"/>
              </a:defRPr>
            </a:lvl4pPr>
            <a:lvl5pPr>
              <a:defRPr>
                <a:latin typeface="Microsoft YaHei"/>
                <a:ea typeface="微软雅黑"/>
                <a:cs typeface="Microsoft YaHei"/>
              </a:defRPr>
            </a:lvl5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0"/>
            <a:ext cx="11520036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34320" y="1052514"/>
            <a:ext cx="11522321" cy="5328814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pPr lvl="0"/>
            <a:endParaRPr lang="zh-CN" altLang="en-US" noProof="0">
              <a:latin typeface="Microsoft YaHei"/>
              <a:ea typeface="微软雅黑"/>
              <a:cs typeface="Microsoft YaHe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8"/>
          <p:cNvSpPr>
            <a:spLocks noChangeArrowheads="1"/>
          </p:cNvSpPr>
          <p:nvPr userDrawn="1"/>
        </p:nvSpPr>
        <p:spPr bwMode="auto">
          <a:xfrm>
            <a:off x="-2117" y="981075"/>
            <a:ext cx="12187768" cy="4319588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4" name="AutoShape 10"/>
          <p:cNvSpPr>
            <a:spLocks noChangeArrowheads="1"/>
          </p:cNvSpPr>
          <p:nvPr userDrawn="1"/>
        </p:nvSpPr>
        <p:spPr bwMode="auto">
          <a:xfrm>
            <a:off x="2734733" y="2363788"/>
            <a:ext cx="480484" cy="358775"/>
          </a:xfrm>
          <a:prstGeom prst="chevron">
            <a:avLst>
              <a:gd name="adj" fmla="val 43944"/>
            </a:avLst>
          </a:prstGeom>
          <a:solidFill>
            <a:srgbClr val="0062AC">
              <a:alpha val="49001"/>
            </a:srgbClr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0" y="0"/>
            <a:ext cx="12198351" cy="1584325"/>
          </a:xfrm>
          <a:prstGeom prst="rect">
            <a:avLst/>
          </a:prstGeom>
          <a:solidFill>
            <a:srgbClr val="0062AC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7" name="Rectangle 11"/>
          <p:cNvSpPr>
            <a:spLocks noChangeArrowheads="1"/>
          </p:cNvSpPr>
          <p:nvPr userDrawn="1"/>
        </p:nvSpPr>
        <p:spPr bwMode="auto">
          <a:xfrm>
            <a:off x="6351" y="1584325"/>
            <a:ext cx="12192000" cy="7143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latin typeface="Microsoft YaHei"/>
              <a:ea typeface="微软雅黑"/>
              <a:cs typeface="Microsoft YaHei"/>
            </a:endParaRPr>
          </a:p>
        </p:txBody>
      </p:sp>
      <p:pic>
        <p:nvPicPr>
          <p:cNvPr id="8" name="Picture 2" descr="D:\快盘\130425PPT模板与规范\标志-蓝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967" y="5516563"/>
            <a:ext cx="4578351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310799" y="2060575"/>
            <a:ext cx="8161535" cy="1223963"/>
          </a:xfrm>
        </p:spPr>
        <p:txBody>
          <a:bodyPr lIns="91440"/>
          <a:lstStyle>
            <a:lvl1pPr marL="0" indent="0">
              <a:buFontTx/>
              <a:buNone/>
              <a:defRPr sz="4000" b="1">
                <a:solidFill>
                  <a:srgbClr val="0062AC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单击此处编辑母版副标题样式</a:t>
            </a:r>
            <a:endParaRPr lang="en-US" altLang="zh-CN" dirty="0">
              <a:latin typeface="Microsoft YaHei"/>
              <a:ea typeface="微软雅黑"/>
              <a:cs typeface="Microsoft YaHe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507" y="0"/>
            <a:ext cx="11520944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4435" y="1052737"/>
            <a:ext cx="11523133" cy="5329014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  <a:lvl2pPr>
              <a:defRPr>
                <a:latin typeface="Microsoft YaHei"/>
                <a:ea typeface="微软雅黑"/>
                <a:cs typeface="Microsoft YaHei"/>
              </a:defRPr>
            </a:lvl2pPr>
            <a:lvl3pPr>
              <a:defRPr>
                <a:latin typeface="Microsoft YaHei"/>
                <a:ea typeface="微软雅黑"/>
                <a:cs typeface="Microsoft YaHei"/>
              </a:defRPr>
            </a:lvl3pPr>
            <a:lvl4pPr>
              <a:defRPr>
                <a:latin typeface="Microsoft YaHei"/>
                <a:ea typeface="微软雅黑"/>
                <a:cs typeface="Microsoft YaHei"/>
              </a:defRPr>
            </a:lvl4pPr>
            <a:lvl5pPr>
              <a:defRPr>
                <a:latin typeface="Microsoft YaHei"/>
                <a:ea typeface="微软雅黑"/>
                <a:cs typeface="Microsoft YaHei"/>
              </a:defRPr>
            </a:lvl5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18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6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14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14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14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14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14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14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0"/>
            <a:ext cx="11521017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34433" y="1052514"/>
            <a:ext cx="5665556" cy="5328814"/>
          </a:xfrm>
        </p:spPr>
        <p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2000">
                <a:latin typeface="Microsoft YaHei"/>
                <a:ea typeface="微软雅黑"/>
                <a:cs typeface="Microsoft YaHei"/>
              </a:defRPr>
            </a:lvl3pPr>
            <a:lvl4pPr>
              <a:defRPr sz="2000">
                <a:latin typeface="Microsoft YaHei"/>
                <a:ea typeface="微软雅黑"/>
                <a:cs typeface="Microsoft YaHei"/>
              </a:defRPr>
            </a:lvl4pPr>
            <a:lvl5pPr>
              <a:defRPr sz="2000">
                <a:latin typeface="Microsoft YaHei"/>
                <a:ea typeface="微软雅黑"/>
                <a:cs typeface="Microsoft YaHei"/>
              </a:defRPr>
            </a:lvl5pPr>
            <a:lvl6pPr>
              <a:defRPr sz="1800">
                <a:latin typeface="Microsoft YaHei"/>
                <a:ea typeface="微软雅黑"/>
                <a:cs typeface="Microsoft YaHei"/>
              </a:defRPr>
            </a:lvl6pPr>
            <a:lvl7pPr>
              <a:defRPr sz="1800">
                <a:latin typeface="Microsoft YaHei"/>
                <a:ea typeface="微软雅黑"/>
                <a:cs typeface="Microsoft YaHei"/>
              </a:defRPr>
            </a:lvl7pPr>
            <a:lvl8pPr>
              <a:defRPr sz="1800">
                <a:latin typeface="Microsoft YaHei"/>
                <a:ea typeface="微软雅黑"/>
                <a:cs typeface="Microsoft YaHei"/>
              </a:defRPr>
            </a:lvl8pPr>
            <a:lvl9pPr>
              <a:defRPr sz="18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2011" y="1052514"/>
            <a:ext cx="5664629" cy="5328814"/>
          </a:xfrm>
        </p:spPr>
        <p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2000">
                <a:latin typeface="Microsoft YaHei"/>
                <a:ea typeface="微软雅黑"/>
                <a:cs typeface="Microsoft YaHei"/>
              </a:defRPr>
            </a:lvl3pPr>
            <a:lvl4pPr>
              <a:defRPr sz="2000">
                <a:latin typeface="Microsoft YaHei"/>
                <a:ea typeface="微软雅黑"/>
                <a:cs typeface="Microsoft YaHei"/>
              </a:defRPr>
            </a:lvl4pPr>
            <a:lvl5pPr>
              <a:defRPr sz="2000">
                <a:latin typeface="Microsoft YaHei"/>
                <a:ea typeface="微软雅黑"/>
                <a:cs typeface="Microsoft YaHei"/>
              </a:defRPr>
            </a:lvl5pPr>
            <a:lvl6pPr>
              <a:defRPr sz="1800">
                <a:latin typeface="Microsoft YaHei"/>
                <a:ea typeface="微软雅黑"/>
                <a:cs typeface="Microsoft YaHei"/>
              </a:defRPr>
            </a:lvl6pPr>
            <a:lvl7pPr>
              <a:defRPr sz="1800">
                <a:latin typeface="Microsoft YaHei"/>
                <a:ea typeface="微软雅黑"/>
                <a:cs typeface="Microsoft YaHei"/>
              </a:defRPr>
            </a:lvl7pPr>
            <a:lvl8pPr>
              <a:defRPr sz="1800">
                <a:latin typeface="Microsoft YaHei"/>
                <a:ea typeface="微软雅黑"/>
                <a:cs typeface="Microsoft YaHei"/>
              </a:defRPr>
            </a:lvl8pPr>
            <a:lvl9pPr>
              <a:defRPr sz="18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0"/>
            <a:ext cx="11522207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4433" y="1052736"/>
            <a:ext cx="5569545" cy="639762"/>
          </a:xfrm>
        </p:spPr>
        <p:txBody>
          <a:bodyPr anchor="b"/>
          <a:lstStyle>
            <a:lvl1pPr marL="0" indent="0">
              <a:buNone/>
              <a:defRPr sz="2400" b="1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2000" b="1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800" b="1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34433" y="1772816"/>
            <a:ext cx="5569545" cy="4608512"/>
          </a:xfrm>
        </p:spPr>
        <p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1800">
                <a:latin typeface="Microsoft YaHei"/>
                <a:ea typeface="微软雅黑"/>
                <a:cs typeface="Microsoft YaHei"/>
              </a:defRPr>
            </a:lvl3pPr>
            <a:lvl4pPr>
              <a:defRPr sz="1600">
                <a:latin typeface="Microsoft YaHei"/>
                <a:ea typeface="微软雅黑"/>
                <a:cs typeface="Microsoft YaHei"/>
              </a:defRPr>
            </a:lvl4pPr>
            <a:lvl5pPr>
              <a:defRPr sz="1600">
                <a:latin typeface="Microsoft YaHei"/>
                <a:ea typeface="微软雅黑"/>
                <a:cs typeface="Microsoft YaHei"/>
              </a:defRPr>
            </a:lvl5pPr>
            <a:lvl6pPr>
              <a:defRPr sz="1600">
                <a:latin typeface="Microsoft YaHei"/>
                <a:ea typeface="微软雅黑"/>
                <a:cs typeface="Microsoft YaHei"/>
              </a:defRPr>
            </a:lvl6pPr>
            <a:lvl7pPr>
              <a:defRPr sz="1600">
                <a:latin typeface="Microsoft YaHei"/>
                <a:ea typeface="微软雅黑"/>
                <a:cs typeface="Microsoft YaHei"/>
              </a:defRPr>
            </a:lvl7pPr>
            <a:lvl8pPr>
              <a:defRPr sz="1600">
                <a:latin typeface="Microsoft YaHei"/>
                <a:ea typeface="微软雅黑"/>
                <a:cs typeface="Microsoft YaHei"/>
              </a:defRPr>
            </a:lvl8pPr>
            <a:lvl9pPr>
              <a:defRPr sz="16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096000" y="1052736"/>
            <a:ext cx="5760641" cy="639762"/>
          </a:xfrm>
        </p:spPr>
        <p:txBody>
          <a:bodyPr anchor="b"/>
          <a:lstStyle>
            <a:lvl1pPr marL="0" indent="0">
              <a:buNone/>
              <a:defRPr sz="2400" b="1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2000" b="1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800" b="1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096000" y="1772816"/>
            <a:ext cx="5760641" cy="4608512"/>
          </a:xfrm>
        </p:spPr>
        <p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1800">
                <a:latin typeface="Microsoft YaHei"/>
                <a:ea typeface="微软雅黑"/>
                <a:cs typeface="Microsoft YaHei"/>
              </a:defRPr>
            </a:lvl3pPr>
            <a:lvl4pPr>
              <a:defRPr sz="1600">
                <a:latin typeface="Microsoft YaHei"/>
                <a:ea typeface="微软雅黑"/>
                <a:cs typeface="Microsoft YaHei"/>
              </a:defRPr>
            </a:lvl4pPr>
            <a:lvl5pPr>
              <a:defRPr sz="1600">
                <a:latin typeface="Microsoft YaHei"/>
                <a:ea typeface="微软雅黑"/>
                <a:cs typeface="Microsoft YaHei"/>
              </a:defRPr>
            </a:lvl5pPr>
            <a:lvl6pPr>
              <a:defRPr sz="1600">
                <a:latin typeface="Microsoft YaHei"/>
                <a:ea typeface="微软雅黑"/>
                <a:cs typeface="Microsoft YaHei"/>
              </a:defRPr>
            </a:lvl6pPr>
            <a:lvl7pPr>
              <a:defRPr sz="1600">
                <a:latin typeface="Microsoft YaHei"/>
                <a:ea typeface="微软雅黑"/>
                <a:cs typeface="Microsoft YaHei"/>
              </a:defRPr>
            </a:lvl7pPr>
            <a:lvl8pPr>
              <a:defRPr sz="1600">
                <a:latin typeface="Microsoft YaHei"/>
                <a:ea typeface="微软雅黑"/>
                <a:cs typeface="Microsoft YaHei"/>
              </a:defRPr>
            </a:lvl8pPr>
            <a:lvl9pPr>
              <a:defRPr sz="16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0"/>
            <a:ext cx="11520036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0"/>
            <a:ext cx="11523135" cy="836613"/>
          </a:xfrm>
        </p:spPr>
        <p:txBody>
          <a:bodyPr/>
          <a:lstStyle>
            <a:lvl1pPr algn="l">
              <a:defRPr sz="3200" b="1"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1052512"/>
            <a:ext cx="7089907" cy="5328815"/>
          </a:xfrm>
        </p:spPr>
        <p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2000">
                <a:latin typeface="Microsoft YaHei"/>
                <a:ea typeface="微软雅黑"/>
                <a:cs typeface="Microsoft YaHei"/>
              </a:defRPr>
            </a:lvl3pPr>
            <a:lvl4pPr>
              <a:defRPr sz="2000">
                <a:latin typeface="Microsoft YaHei"/>
                <a:ea typeface="微软雅黑"/>
                <a:cs typeface="Microsoft YaHei"/>
              </a:defRPr>
            </a:lvl4pPr>
            <a:lvl5pPr>
              <a:defRPr sz="2000">
                <a:latin typeface="Microsoft YaHei"/>
                <a:ea typeface="微软雅黑"/>
                <a:cs typeface="Microsoft YaHei"/>
              </a:defRPr>
            </a:lvl5pPr>
            <a:lvl6pPr>
              <a:defRPr sz="2000">
                <a:latin typeface="Microsoft YaHei"/>
                <a:ea typeface="微软雅黑"/>
                <a:cs typeface="Microsoft YaHei"/>
              </a:defRPr>
            </a:lvl6pPr>
            <a:lvl7pPr>
              <a:defRPr sz="2000">
                <a:latin typeface="Microsoft YaHei"/>
                <a:ea typeface="微软雅黑"/>
                <a:cs typeface="Microsoft YaHei"/>
              </a:defRPr>
            </a:lvl7pPr>
            <a:lvl8pPr>
              <a:defRPr sz="2000">
                <a:latin typeface="Microsoft YaHei"/>
                <a:ea typeface="微软雅黑"/>
                <a:cs typeface="Microsoft YaHei"/>
              </a:defRPr>
            </a:lvl8pPr>
            <a:lvl9pPr>
              <a:defRPr sz="20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34435" y="1052514"/>
            <a:ext cx="4286251" cy="5278156"/>
          </a:xfrm>
        </p:spPr>
        <p:txBody>
          <a:bodyPr/>
          <a:lstStyle>
            <a:lvl1pPr marL="0" indent="0">
              <a:buNone/>
              <a:defRPr sz="2000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12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0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9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9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9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9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9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9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3200" b="1"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1052513"/>
            <a:ext cx="7315200" cy="3675062"/>
          </a:xfrm>
        </p:spPr>
        <p:txBody>
          <a:bodyPr/>
          <a:lstStyle>
            <a:lvl1pPr marL="0" indent="0">
              <a:buNone/>
              <a:defRPr sz="3200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28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24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20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20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20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20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20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20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endParaRPr lang="zh-CN" altLang="en-US" noProof="0"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2400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12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0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9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9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9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9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9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9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507" y="0"/>
            <a:ext cx="11520944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34435" y="1052737"/>
            <a:ext cx="11523133" cy="5329014"/>
          </a:xfrm>
        </p:spPr>
        <p:txBody>
          <a:bodyPr vert="eaVert"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  <a:lvl2pPr>
              <a:defRPr>
                <a:latin typeface="Microsoft YaHei"/>
                <a:ea typeface="微软雅黑"/>
                <a:cs typeface="Microsoft YaHei"/>
              </a:defRPr>
            </a:lvl2pPr>
            <a:lvl3pPr>
              <a:defRPr>
                <a:latin typeface="Microsoft YaHei"/>
                <a:ea typeface="微软雅黑"/>
                <a:cs typeface="Microsoft YaHei"/>
              </a:defRPr>
            </a:lvl3pPr>
            <a:lvl4pPr>
              <a:defRPr>
                <a:latin typeface="Microsoft YaHei"/>
                <a:ea typeface="微软雅黑"/>
                <a:cs typeface="Microsoft YaHei"/>
              </a:defRPr>
            </a:lvl4pPr>
            <a:lvl5pPr>
              <a:defRPr>
                <a:latin typeface="Microsoft YaHei"/>
                <a:ea typeface="微软雅黑"/>
                <a:cs typeface="Microsoft YaHei"/>
              </a:defRPr>
            </a:lvl5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68341" y="1052512"/>
            <a:ext cx="2667000" cy="5328815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34433" y="1052512"/>
            <a:ext cx="8737899" cy="5328815"/>
          </a:xfrm>
        </p:spPr>
        <p:txBody>
          <a:bodyPr vert="eaVert"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  <a:lvl2pPr>
              <a:defRPr>
                <a:latin typeface="Microsoft YaHei"/>
                <a:ea typeface="微软雅黑"/>
                <a:cs typeface="Microsoft YaHei"/>
              </a:defRPr>
            </a:lvl2pPr>
            <a:lvl3pPr>
              <a:defRPr>
                <a:latin typeface="Microsoft YaHei"/>
                <a:ea typeface="微软雅黑"/>
                <a:cs typeface="Microsoft YaHei"/>
              </a:defRPr>
            </a:lvl3pPr>
            <a:lvl4pPr>
              <a:defRPr>
                <a:latin typeface="Microsoft YaHei"/>
                <a:ea typeface="微软雅黑"/>
                <a:cs typeface="Microsoft YaHei"/>
              </a:defRPr>
            </a:lvl4pPr>
            <a:lvl5pPr>
              <a:defRPr>
                <a:latin typeface="Microsoft YaHei"/>
                <a:ea typeface="微软雅黑"/>
                <a:cs typeface="Microsoft YaHei"/>
              </a:defRPr>
            </a:lvl5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0"/>
            <a:ext cx="11520036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34320" y="1052514"/>
            <a:ext cx="11522321" cy="5328814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pPr lvl="0"/>
            <a:endParaRPr lang="zh-CN" altLang="en-US" noProof="0">
              <a:latin typeface="Microsoft YaHei"/>
              <a:ea typeface="微软雅黑"/>
              <a:cs typeface="Microsoft YaHe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433" y="1052513"/>
            <a:ext cx="11523133" cy="532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5720" rIns="91440" bIns="45720" numCol="1" anchor="t" anchorCtr="0" compatLnSpc="1"/>
          <a:lstStyle/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  <p:pic>
        <p:nvPicPr>
          <p:cNvPr id="1027" name="Picture 7" descr="D:\快盘\130425PPT模板与规范\标志-蓝.png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000" y="6507163"/>
            <a:ext cx="2110317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4433" y="0"/>
            <a:ext cx="11521017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7" name="任意多边形 6"/>
          <p:cNvSpPr/>
          <p:nvPr userDrawn="1"/>
        </p:nvSpPr>
        <p:spPr bwMode="auto">
          <a:xfrm>
            <a:off x="11186584" y="620713"/>
            <a:ext cx="1005416" cy="215900"/>
          </a:xfrm>
          <a:custGeom>
            <a:avLst/>
            <a:gdLst>
              <a:gd name="connsiteX0" fmla="*/ 0 w 7358743"/>
              <a:gd name="connsiteY0" fmla="*/ 377371 h 1872343"/>
              <a:gd name="connsiteX1" fmla="*/ 5109029 w 7358743"/>
              <a:gd name="connsiteY1" fmla="*/ 377371 h 1872343"/>
              <a:gd name="connsiteX2" fmla="*/ 5442858 w 7358743"/>
              <a:gd name="connsiteY2" fmla="*/ 0 h 1872343"/>
              <a:gd name="connsiteX3" fmla="*/ 7358743 w 7358743"/>
              <a:gd name="connsiteY3" fmla="*/ 0 h 1872343"/>
              <a:gd name="connsiteX4" fmla="*/ 7358743 w 7358743"/>
              <a:gd name="connsiteY4" fmla="*/ 1872343 h 1872343"/>
              <a:gd name="connsiteX5" fmla="*/ 261258 w 7358743"/>
              <a:gd name="connsiteY5" fmla="*/ 1872343 h 1872343"/>
              <a:gd name="connsiteX6" fmla="*/ 0 w 7358743"/>
              <a:gd name="connsiteY6" fmla="*/ 377371 h 1872343"/>
              <a:gd name="connsiteX0-1" fmla="*/ 0 w 7358743"/>
              <a:gd name="connsiteY0-2" fmla="*/ 377371 h 1872343"/>
              <a:gd name="connsiteX1-3" fmla="*/ 5109029 w 7358743"/>
              <a:gd name="connsiteY1-4" fmla="*/ 377371 h 1872343"/>
              <a:gd name="connsiteX2-5" fmla="*/ 5442858 w 7358743"/>
              <a:gd name="connsiteY2-6" fmla="*/ 0 h 1872343"/>
              <a:gd name="connsiteX3-7" fmla="*/ 7358743 w 7358743"/>
              <a:gd name="connsiteY3-8" fmla="*/ 0 h 1872343"/>
              <a:gd name="connsiteX4-9" fmla="*/ 7358743 w 7358743"/>
              <a:gd name="connsiteY4-10" fmla="*/ 1872343 h 1872343"/>
              <a:gd name="connsiteX5-11" fmla="*/ 0 w 7358743"/>
              <a:gd name="connsiteY5-12" fmla="*/ 377371 h 1872343"/>
              <a:gd name="connsiteX0-13" fmla="*/ 2249714 w 2249714"/>
              <a:gd name="connsiteY0-14" fmla="*/ 1872343 h 1872343"/>
              <a:gd name="connsiteX1-15" fmla="*/ 0 w 2249714"/>
              <a:gd name="connsiteY1-16" fmla="*/ 377371 h 1872343"/>
              <a:gd name="connsiteX2-17" fmla="*/ 333829 w 2249714"/>
              <a:gd name="connsiteY2-18" fmla="*/ 0 h 1872343"/>
              <a:gd name="connsiteX3-19" fmla="*/ 2249714 w 2249714"/>
              <a:gd name="connsiteY3-20" fmla="*/ 0 h 1872343"/>
              <a:gd name="connsiteX4-21" fmla="*/ 2249714 w 2249714"/>
              <a:gd name="connsiteY4-22" fmla="*/ 1872343 h 1872343"/>
              <a:gd name="connsiteX0-23" fmla="*/ 2249714 w 2249714"/>
              <a:gd name="connsiteY0-24" fmla="*/ 802065 h 802065"/>
              <a:gd name="connsiteX1-25" fmla="*/ 0 w 2249714"/>
              <a:gd name="connsiteY1-26" fmla="*/ 377371 h 802065"/>
              <a:gd name="connsiteX2-27" fmla="*/ 333829 w 2249714"/>
              <a:gd name="connsiteY2-28" fmla="*/ 0 h 802065"/>
              <a:gd name="connsiteX3-29" fmla="*/ 2249714 w 2249714"/>
              <a:gd name="connsiteY3-30" fmla="*/ 0 h 802065"/>
              <a:gd name="connsiteX4-31" fmla="*/ 2249714 w 2249714"/>
              <a:gd name="connsiteY4-32" fmla="*/ 802065 h 802065"/>
              <a:gd name="connsiteX0-33" fmla="*/ 1915885 w 1915885"/>
              <a:gd name="connsiteY0-34" fmla="*/ 802065 h 802069"/>
              <a:gd name="connsiteX1-35" fmla="*/ 1160309 w 1915885"/>
              <a:gd name="connsiteY1-36" fmla="*/ 802069 h 802069"/>
              <a:gd name="connsiteX2-37" fmla="*/ 0 w 1915885"/>
              <a:gd name="connsiteY2-38" fmla="*/ 0 h 802069"/>
              <a:gd name="connsiteX3-39" fmla="*/ 1915885 w 1915885"/>
              <a:gd name="connsiteY3-40" fmla="*/ 0 h 802069"/>
              <a:gd name="connsiteX4-41" fmla="*/ 1915885 w 1915885"/>
              <a:gd name="connsiteY4-42" fmla="*/ 802065 h 802069"/>
              <a:gd name="connsiteX0-43" fmla="*/ 755576 w 755576"/>
              <a:gd name="connsiteY0-44" fmla="*/ 802065 h 802069"/>
              <a:gd name="connsiteX1-45" fmla="*/ 0 w 755576"/>
              <a:gd name="connsiteY1-46" fmla="*/ 802069 h 802069"/>
              <a:gd name="connsiteX2-47" fmla="*/ 144016 w 755576"/>
              <a:gd name="connsiteY2-48" fmla="*/ 0 h 802069"/>
              <a:gd name="connsiteX3-49" fmla="*/ 755576 w 755576"/>
              <a:gd name="connsiteY3-50" fmla="*/ 0 h 802069"/>
              <a:gd name="connsiteX4-51" fmla="*/ 755576 w 755576"/>
              <a:gd name="connsiteY4-52" fmla="*/ 802065 h 802069"/>
              <a:gd name="connsiteX0-53" fmla="*/ 755576 w 755576"/>
              <a:gd name="connsiteY0-54" fmla="*/ 802065 h 802069"/>
              <a:gd name="connsiteX1-55" fmla="*/ 0 w 755576"/>
              <a:gd name="connsiteY1-56" fmla="*/ 802069 h 802069"/>
              <a:gd name="connsiteX2-57" fmla="*/ 215825 w 755576"/>
              <a:gd name="connsiteY2-58" fmla="*/ 0 h 802069"/>
              <a:gd name="connsiteX3-59" fmla="*/ 755576 w 755576"/>
              <a:gd name="connsiteY3-60" fmla="*/ 0 h 802069"/>
              <a:gd name="connsiteX4-61" fmla="*/ 755576 w 755576"/>
              <a:gd name="connsiteY4-62" fmla="*/ 802065 h 802069"/>
              <a:gd name="connsiteX0-63" fmla="*/ 755576 w 1295273"/>
              <a:gd name="connsiteY0-64" fmla="*/ 881313 h 881317"/>
              <a:gd name="connsiteX1-65" fmla="*/ 0 w 1295273"/>
              <a:gd name="connsiteY1-66" fmla="*/ 881317 h 881317"/>
              <a:gd name="connsiteX2-67" fmla="*/ 215825 w 1295273"/>
              <a:gd name="connsiteY2-68" fmla="*/ 79248 h 881317"/>
              <a:gd name="connsiteX3-69" fmla="*/ 1295273 w 1295273"/>
              <a:gd name="connsiteY3-70" fmla="*/ 0 h 881317"/>
              <a:gd name="connsiteX4-71" fmla="*/ 755576 w 1295273"/>
              <a:gd name="connsiteY4-72" fmla="*/ 881313 h 881317"/>
              <a:gd name="connsiteX0-73" fmla="*/ 1295273 w 1295273"/>
              <a:gd name="connsiteY0-74" fmla="*/ 802161 h 881317"/>
              <a:gd name="connsiteX1-75" fmla="*/ 0 w 1295273"/>
              <a:gd name="connsiteY1-76" fmla="*/ 881317 h 881317"/>
              <a:gd name="connsiteX2-77" fmla="*/ 215825 w 1295273"/>
              <a:gd name="connsiteY2-78" fmla="*/ 79248 h 881317"/>
              <a:gd name="connsiteX3-79" fmla="*/ 1295273 w 1295273"/>
              <a:gd name="connsiteY3-80" fmla="*/ 0 h 881317"/>
              <a:gd name="connsiteX4-81" fmla="*/ 1295273 w 1295273"/>
              <a:gd name="connsiteY4-82" fmla="*/ 802161 h 881317"/>
              <a:gd name="connsiteX0-83" fmla="*/ 1331509 w 1331509"/>
              <a:gd name="connsiteY0-84" fmla="*/ 802161 h 802161"/>
              <a:gd name="connsiteX1-85" fmla="*/ 0 w 1331509"/>
              <a:gd name="connsiteY1-86" fmla="*/ 802161 h 802161"/>
              <a:gd name="connsiteX2-87" fmla="*/ 252061 w 1331509"/>
              <a:gd name="connsiteY2-88" fmla="*/ 79248 h 802161"/>
              <a:gd name="connsiteX3-89" fmla="*/ 1331509 w 1331509"/>
              <a:gd name="connsiteY3-90" fmla="*/ 0 h 802161"/>
              <a:gd name="connsiteX4-91" fmla="*/ 1331509 w 1331509"/>
              <a:gd name="connsiteY4-92" fmla="*/ 802161 h 802161"/>
              <a:gd name="connsiteX0-93" fmla="*/ 1331509 w 1331509"/>
              <a:gd name="connsiteY0-94" fmla="*/ 802161 h 802161"/>
              <a:gd name="connsiteX1-95" fmla="*/ 0 w 1331509"/>
              <a:gd name="connsiteY1-96" fmla="*/ 802161 h 802161"/>
              <a:gd name="connsiteX2-97" fmla="*/ 216003 w 1331509"/>
              <a:gd name="connsiteY2-98" fmla="*/ 97 h 802161"/>
              <a:gd name="connsiteX3-99" fmla="*/ 1331509 w 1331509"/>
              <a:gd name="connsiteY3-100" fmla="*/ 0 h 802161"/>
              <a:gd name="connsiteX4-101" fmla="*/ 1331509 w 1331509"/>
              <a:gd name="connsiteY4-102" fmla="*/ 802161 h 802161"/>
              <a:gd name="connsiteX0-103" fmla="*/ 1331509 w 1331509"/>
              <a:gd name="connsiteY0-104" fmla="*/ 802064 h 802064"/>
              <a:gd name="connsiteX1-105" fmla="*/ 0 w 1331509"/>
              <a:gd name="connsiteY1-106" fmla="*/ 802064 h 802064"/>
              <a:gd name="connsiteX2-107" fmla="*/ 216003 w 1331509"/>
              <a:gd name="connsiteY2-108" fmla="*/ 0 h 802064"/>
              <a:gd name="connsiteX3-109" fmla="*/ 1078998 w 1331509"/>
              <a:gd name="connsiteY3-110" fmla="*/ 0 h 802064"/>
              <a:gd name="connsiteX4-111" fmla="*/ 1331509 w 1331509"/>
              <a:gd name="connsiteY4-112" fmla="*/ 802064 h 802064"/>
              <a:gd name="connsiteX0-113" fmla="*/ 1078998 w 1078998"/>
              <a:gd name="connsiteY0-114" fmla="*/ 802435 h 802435"/>
              <a:gd name="connsiteX1-115" fmla="*/ 0 w 1078998"/>
              <a:gd name="connsiteY1-116" fmla="*/ 802064 h 802435"/>
              <a:gd name="connsiteX2-117" fmla="*/ 216003 w 1078998"/>
              <a:gd name="connsiteY2-118" fmla="*/ 0 h 802435"/>
              <a:gd name="connsiteX3-119" fmla="*/ 1078998 w 1078998"/>
              <a:gd name="connsiteY3-120" fmla="*/ 0 h 802435"/>
              <a:gd name="connsiteX4-121" fmla="*/ 1078998 w 1078998"/>
              <a:gd name="connsiteY4-122" fmla="*/ 802435 h 802435"/>
              <a:gd name="connsiteX0-123" fmla="*/ 754486 w 1078998"/>
              <a:gd name="connsiteY0-124" fmla="*/ 802435 h 802435"/>
              <a:gd name="connsiteX1-125" fmla="*/ 0 w 1078998"/>
              <a:gd name="connsiteY1-126" fmla="*/ 802064 h 802435"/>
              <a:gd name="connsiteX2-127" fmla="*/ 216003 w 1078998"/>
              <a:gd name="connsiteY2-128" fmla="*/ 0 h 802435"/>
              <a:gd name="connsiteX3-129" fmla="*/ 1078998 w 1078998"/>
              <a:gd name="connsiteY3-130" fmla="*/ 0 h 802435"/>
              <a:gd name="connsiteX4-131" fmla="*/ 754486 w 1078998"/>
              <a:gd name="connsiteY4-132" fmla="*/ 802435 h 802435"/>
              <a:gd name="connsiteX0-133" fmla="*/ 754486 w 754486"/>
              <a:gd name="connsiteY0-134" fmla="*/ 802435 h 802435"/>
              <a:gd name="connsiteX1-135" fmla="*/ 0 w 754486"/>
              <a:gd name="connsiteY1-136" fmla="*/ 802064 h 802435"/>
              <a:gd name="connsiteX2-137" fmla="*/ 216003 w 754486"/>
              <a:gd name="connsiteY2-138" fmla="*/ 0 h 802435"/>
              <a:gd name="connsiteX3-139" fmla="*/ 754486 w 754486"/>
              <a:gd name="connsiteY3-140" fmla="*/ 0 h 802435"/>
              <a:gd name="connsiteX4-141" fmla="*/ 754486 w 754486"/>
              <a:gd name="connsiteY4-142" fmla="*/ 802435 h 8024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4486" h="802435">
                <a:moveTo>
                  <a:pt x="754486" y="802435"/>
                </a:moveTo>
                <a:lnTo>
                  <a:pt x="0" y="802064"/>
                </a:lnTo>
                <a:lnTo>
                  <a:pt x="216003" y="0"/>
                </a:lnTo>
                <a:lnTo>
                  <a:pt x="754486" y="0"/>
                </a:lnTo>
                <a:lnTo>
                  <a:pt x="754486" y="802435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39999">
                <a:srgbClr val="0062AC"/>
              </a:gs>
            </a:gsLst>
            <a:lin ang="5400000" scaled="0"/>
          </a:gradFill>
          <a:ln w="9525" algn="ctr">
            <a:noFill/>
            <a:miter lim="800000"/>
          </a:ln>
          <a:effectLst/>
        </p:spPr>
        <p:txBody>
          <a:bodyPr wrap="none" lIns="90000" anchor="ctr"/>
          <a:lstStyle/>
          <a:p>
            <a:pPr algn="ctr"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solidFill>
                <a:srgbClr val="000000"/>
              </a:solidFill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9" name="Rectangle 15"/>
          <p:cNvSpPr>
            <a:spLocks noChangeArrowheads="1"/>
          </p:cNvSpPr>
          <p:nvPr userDrawn="1"/>
        </p:nvSpPr>
        <p:spPr bwMode="auto">
          <a:xfrm>
            <a:off x="0" y="836613"/>
            <a:ext cx="12192000" cy="42862"/>
          </a:xfrm>
          <a:prstGeom prst="rect">
            <a:avLst/>
          </a:prstGeom>
          <a:solidFill>
            <a:srgbClr val="0062AC"/>
          </a:solidFill>
          <a:ln w="9525" algn="ctr">
            <a:noFill/>
            <a:miter lim="800000"/>
          </a:ln>
          <a:effectLst/>
        </p:spPr>
        <p:txBody>
          <a:bodyPr wrap="none" lIns="90000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solidFill>
                <a:srgbClr val="000000"/>
              </a:solidFill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11597217" y="628650"/>
            <a:ext cx="624416" cy="279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9pPr>
          </a:lstStyle>
          <a:p>
            <a:pPr eaLnBrk="1" hangingPunct="1"/>
            <a:fld id="{522BCC33-E6A0-4394-A5C7-9D49436D06E5}" type="slidenum">
              <a:rPr lang="en-US" altLang="zh-CN" sz="1400">
                <a:solidFill>
                  <a:schemeClr val="bg1"/>
                </a:solidFill>
                <a:latin typeface="Microsoft YaHei"/>
                <a:ea typeface="微软雅黑"/>
                <a:cs typeface="Microsoft YaHei"/>
              </a:rPr>
              <a:t>‹#›</a:t>
            </a:fld>
            <a:endParaRPr lang="en-US" altLang="zh-CN" sz="1400">
              <a:solidFill>
                <a:schemeClr val="bg1"/>
              </a:solidFill>
              <a:latin typeface="Microsoft YaHei"/>
              <a:ea typeface="微软雅黑"/>
              <a:cs typeface="Microsoft YaHe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4" r:id="rId13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9pPr>
    </p:titleStyle>
    <p:bodyStyle>
      <a:lvl1pPr marL="342900" indent="-3429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6"/>
        </a:buBlip>
        <a:defRPr sz="2400">
          <a:solidFill>
            <a:schemeClr val="tx1"/>
          </a:solidFill>
          <a:latin typeface="Microsoft YaHei"/>
          <a:ea typeface="微软雅黑"/>
          <a:cs typeface="Microsoft YaHei"/>
        </a:defRPr>
      </a:lvl1pPr>
      <a:lvl2pPr marL="742950" indent="-28575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Blip>
          <a:blip r:embed="rId16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2pPr>
      <a:lvl3pPr marL="11811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6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3pPr>
      <a:lvl4pPr marL="16383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Blip>
          <a:blip r:embed="rId16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4pPr>
      <a:lvl5pPr marL="20955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6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5pPr>
      <a:lvl6pPr marL="25527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6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6pPr>
      <a:lvl7pPr marL="30099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6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7pPr>
      <a:lvl8pPr marL="34671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6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8pPr>
      <a:lvl9pPr marL="39243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6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9pPr>
    </p:bodyStyle>
    <p:otherStyle>
      <a:defPPr>
        <a:defRPr lang="zh-CN">
          <a:latin typeface="Microsoft YaHei"/>
          <a:ea typeface="微软雅黑"/>
          <a:cs typeface="Microsoft YaHei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433" y="1052513"/>
            <a:ext cx="11523133" cy="532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5720" rIns="91440" bIns="45720" numCol="1" anchor="t" anchorCtr="0" compatLnSpc="1"/>
          <a:lstStyle/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  <p:pic>
        <p:nvPicPr>
          <p:cNvPr id="1027" name="Picture 7" descr="D:\快盘\130425PPT模板与规范\标志-蓝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000" y="6507163"/>
            <a:ext cx="2110317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4433" y="0"/>
            <a:ext cx="11521017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7" name="任意多边形 6"/>
          <p:cNvSpPr/>
          <p:nvPr userDrawn="1"/>
        </p:nvSpPr>
        <p:spPr bwMode="auto">
          <a:xfrm>
            <a:off x="11186584" y="620713"/>
            <a:ext cx="1005416" cy="215900"/>
          </a:xfrm>
          <a:custGeom>
            <a:avLst/>
            <a:gdLst>
              <a:gd name="connsiteX0" fmla="*/ 0 w 7358743"/>
              <a:gd name="connsiteY0" fmla="*/ 377371 h 1872343"/>
              <a:gd name="connsiteX1" fmla="*/ 5109029 w 7358743"/>
              <a:gd name="connsiteY1" fmla="*/ 377371 h 1872343"/>
              <a:gd name="connsiteX2" fmla="*/ 5442858 w 7358743"/>
              <a:gd name="connsiteY2" fmla="*/ 0 h 1872343"/>
              <a:gd name="connsiteX3" fmla="*/ 7358743 w 7358743"/>
              <a:gd name="connsiteY3" fmla="*/ 0 h 1872343"/>
              <a:gd name="connsiteX4" fmla="*/ 7358743 w 7358743"/>
              <a:gd name="connsiteY4" fmla="*/ 1872343 h 1872343"/>
              <a:gd name="connsiteX5" fmla="*/ 261258 w 7358743"/>
              <a:gd name="connsiteY5" fmla="*/ 1872343 h 1872343"/>
              <a:gd name="connsiteX6" fmla="*/ 0 w 7358743"/>
              <a:gd name="connsiteY6" fmla="*/ 377371 h 1872343"/>
              <a:gd name="connsiteX0-1" fmla="*/ 0 w 7358743"/>
              <a:gd name="connsiteY0-2" fmla="*/ 377371 h 1872343"/>
              <a:gd name="connsiteX1-3" fmla="*/ 5109029 w 7358743"/>
              <a:gd name="connsiteY1-4" fmla="*/ 377371 h 1872343"/>
              <a:gd name="connsiteX2-5" fmla="*/ 5442858 w 7358743"/>
              <a:gd name="connsiteY2-6" fmla="*/ 0 h 1872343"/>
              <a:gd name="connsiteX3-7" fmla="*/ 7358743 w 7358743"/>
              <a:gd name="connsiteY3-8" fmla="*/ 0 h 1872343"/>
              <a:gd name="connsiteX4-9" fmla="*/ 7358743 w 7358743"/>
              <a:gd name="connsiteY4-10" fmla="*/ 1872343 h 1872343"/>
              <a:gd name="connsiteX5-11" fmla="*/ 0 w 7358743"/>
              <a:gd name="connsiteY5-12" fmla="*/ 377371 h 1872343"/>
              <a:gd name="connsiteX0-13" fmla="*/ 2249714 w 2249714"/>
              <a:gd name="connsiteY0-14" fmla="*/ 1872343 h 1872343"/>
              <a:gd name="connsiteX1-15" fmla="*/ 0 w 2249714"/>
              <a:gd name="connsiteY1-16" fmla="*/ 377371 h 1872343"/>
              <a:gd name="connsiteX2-17" fmla="*/ 333829 w 2249714"/>
              <a:gd name="connsiteY2-18" fmla="*/ 0 h 1872343"/>
              <a:gd name="connsiteX3-19" fmla="*/ 2249714 w 2249714"/>
              <a:gd name="connsiteY3-20" fmla="*/ 0 h 1872343"/>
              <a:gd name="connsiteX4-21" fmla="*/ 2249714 w 2249714"/>
              <a:gd name="connsiteY4-22" fmla="*/ 1872343 h 1872343"/>
              <a:gd name="connsiteX0-23" fmla="*/ 2249714 w 2249714"/>
              <a:gd name="connsiteY0-24" fmla="*/ 802065 h 802065"/>
              <a:gd name="connsiteX1-25" fmla="*/ 0 w 2249714"/>
              <a:gd name="connsiteY1-26" fmla="*/ 377371 h 802065"/>
              <a:gd name="connsiteX2-27" fmla="*/ 333829 w 2249714"/>
              <a:gd name="connsiteY2-28" fmla="*/ 0 h 802065"/>
              <a:gd name="connsiteX3-29" fmla="*/ 2249714 w 2249714"/>
              <a:gd name="connsiteY3-30" fmla="*/ 0 h 802065"/>
              <a:gd name="connsiteX4-31" fmla="*/ 2249714 w 2249714"/>
              <a:gd name="connsiteY4-32" fmla="*/ 802065 h 802065"/>
              <a:gd name="connsiteX0-33" fmla="*/ 1915885 w 1915885"/>
              <a:gd name="connsiteY0-34" fmla="*/ 802065 h 802069"/>
              <a:gd name="connsiteX1-35" fmla="*/ 1160309 w 1915885"/>
              <a:gd name="connsiteY1-36" fmla="*/ 802069 h 802069"/>
              <a:gd name="connsiteX2-37" fmla="*/ 0 w 1915885"/>
              <a:gd name="connsiteY2-38" fmla="*/ 0 h 802069"/>
              <a:gd name="connsiteX3-39" fmla="*/ 1915885 w 1915885"/>
              <a:gd name="connsiteY3-40" fmla="*/ 0 h 802069"/>
              <a:gd name="connsiteX4-41" fmla="*/ 1915885 w 1915885"/>
              <a:gd name="connsiteY4-42" fmla="*/ 802065 h 802069"/>
              <a:gd name="connsiteX0-43" fmla="*/ 755576 w 755576"/>
              <a:gd name="connsiteY0-44" fmla="*/ 802065 h 802069"/>
              <a:gd name="connsiteX1-45" fmla="*/ 0 w 755576"/>
              <a:gd name="connsiteY1-46" fmla="*/ 802069 h 802069"/>
              <a:gd name="connsiteX2-47" fmla="*/ 144016 w 755576"/>
              <a:gd name="connsiteY2-48" fmla="*/ 0 h 802069"/>
              <a:gd name="connsiteX3-49" fmla="*/ 755576 w 755576"/>
              <a:gd name="connsiteY3-50" fmla="*/ 0 h 802069"/>
              <a:gd name="connsiteX4-51" fmla="*/ 755576 w 755576"/>
              <a:gd name="connsiteY4-52" fmla="*/ 802065 h 802069"/>
              <a:gd name="connsiteX0-53" fmla="*/ 755576 w 755576"/>
              <a:gd name="connsiteY0-54" fmla="*/ 802065 h 802069"/>
              <a:gd name="connsiteX1-55" fmla="*/ 0 w 755576"/>
              <a:gd name="connsiteY1-56" fmla="*/ 802069 h 802069"/>
              <a:gd name="connsiteX2-57" fmla="*/ 215825 w 755576"/>
              <a:gd name="connsiteY2-58" fmla="*/ 0 h 802069"/>
              <a:gd name="connsiteX3-59" fmla="*/ 755576 w 755576"/>
              <a:gd name="connsiteY3-60" fmla="*/ 0 h 802069"/>
              <a:gd name="connsiteX4-61" fmla="*/ 755576 w 755576"/>
              <a:gd name="connsiteY4-62" fmla="*/ 802065 h 802069"/>
              <a:gd name="connsiteX0-63" fmla="*/ 755576 w 1295273"/>
              <a:gd name="connsiteY0-64" fmla="*/ 881313 h 881317"/>
              <a:gd name="connsiteX1-65" fmla="*/ 0 w 1295273"/>
              <a:gd name="connsiteY1-66" fmla="*/ 881317 h 881317"/>
              <a:gd name="connsiteX2-67" fmla="*/ 215825 w 1295273"/>
              <a:gd name="connsiteY2-68" fmla="*/ 79248 h 881317"/>
              <a:gd name="connsiteX3-69" fmla="*/ 1295273 w 1295273"/>
              <a:gd name="connsiteY3-70" fmla="*/ 0 h 881317"/>
              <a:gd name="connsiteX4-71" fmla="*/ 755576 w 1295273"/>
              <a:gd name="connsiteY4-72" fmla="*/ 881313 h 881317"/>
              <a:gd name="connsiteX0-73" fmla="*/ 1295273 w 1295273"/>
              <a:gd name="connsiteY0-74" fmla="*/ 802161 h 881317"/>
              <a:gd name="connsiteX1-75" fmla="*/ 0 w 1295273"/>
              <a:gd name="connsiteY1-76" fmla="*/ 881317 h 881317"/>
              <a:gd name="connsiteX2-77" fmla="*/ 215825 w 1295273"/>
              <a:gd name="connsiteY2-78" fmla="*/ 79248 h 881317"/>
              <a:gd name="connsiteX3-79" fmla="*/ 1295273 w 1295273"/>
              <a:gd name="connsiteY3-80" fmla="*/ 0 h 881317"/>
              <a:gd name="connsiteX4-81" fmla="*/ 1295273 w 1295273"/>
              <a:gd name="connsiteY4-82" fmla="*/ 802161 h 881317"/>
              <a:gd name="connsiteX0-83" fmla="*/ 1331509 w 1331509"/>
              <a:gd name="connsiteY0-84" fmla="*/ 802161 h 802161"/>
              <a:gd name="connsiteX1-85" fmla="*/ 0 w 1331509"/>
              <a:gd name="connsiteY1-86" fmla="*/ 802161 h 802161"/>
              <a:gd name="connsiteX2-87" fmla="*/ 252061 w 1331509"/>
              <a:gd name="connsiteY2-88" fmla="*/ 79248 h 802161"/>
              <a:gd name="connsiteX3-89" fmla="*/ 1331509 w 1331509"/>
              <a:gd name="connsiteY3-90" fmla="*/ 0 h 802161"/>
              <a:gd name="connsiteX4-91" fmla="*/ 1331509 w 1331509"/>
              <a:gd name="connsiteY4-92" fmla="*/ 802161 h 802161"/>
              <a:gd name="connsiteX0-93" fmla="*/ 1331509 w 1331509"/>
              <a:gd name="connsiteY0-94" fmla="*/ 802161 h 802161"/>
              <a:gd name="connsiteX1-95" fmla="*/ 0 w 1331509"/>
              <a:gd name="connsiteY1-96" fmla="*/ 802161 h 802161"/>
              <a:gd name="connsiteX2-97" fmla="*/ 216003 w 1331509"/>
              <a:gd name="connsiteY2-98" fmla="*/ 97 h 802161"/>
              <a:gd name="connsiteX3-99" fmla="*/ 1331509 w 1331509"/>
              <a:gd name="connsiteY3-100" fmla="*/ 0 h 802161"/>
              <a:gd name="connsiteX4-101" fmla="*/ 1331509 w 1331509"/>
              <a:gd name="connsiteY4-102" fmla="*/ 802161 h 802161"/>
              <a:gd name="connsiteX0-103" fmla="*/ 1331509 w 1331509"/>
              <a:gd name="connsiteY0-104" fmla="*/ 802064 h 802064"/>
              <a:gd name="connsiteX1-105" fmla="*/ 0 w 1331509"/>
              <a:gd name="connsiteY1-106" fmla="*/ 802064 h 802064"/>
              <a:gd name="connsiteX2-107" fmla="*/ 216003 w 1331509"/>
              <a:gd name="connsiteY2-108" fmla="*/ 0 h 802064"/>
              <a:gd name="connsiteX3-109" fmla="*/ 1078998 w 1331509"/>
              <a:gd name="connsiteY3-110" fmla="*/ 0 h 802064"/>
              <a:gd name="connsiteX4-111" fmla="*/ 1331509 w 1331509"/>
              <a:gd name="connsiteY4-112" fmla="*/ 802064 h 802064"/>
              <a:gd name="connsiteX0-113" fmla="*/ 1078998 w 1078998"/>
              <a:gd name="connsiteY0-114" fmla="*/ 802435 h 802435"/>
              <a:gd name="connsiteX1-115" fmla="*/ 0 w 1078998"/>
              <a:gd name="connsiteY1-116" fmla="*/ 802064 h 802435"/>
              <a:gd name="connsiteX2-117" fmla="*/ 216003 w 1078998"/>
              <a:gd name="connsiteY2-118" fmla="*/ 0 h 802435"/>
              <a:gd name="connsiteX3-119" fmla="*/ 1078998 w 1078998"/>
              <a:gd name="connsiteY3-120" fmla="*/ 0 h 802435"/>
              <a:gd name="connsiteX4-121" fmla="*/ 1078998 w 1078998"/>
              <a:gd name="connsiteY4-122" fmla="*/ 802435 h 802435"/>
              <a:gd name="connsiteX0-123" fmla="*/ 754486 w 1078998"/>
              <a:gd name="connsiteY0-124" fmla="*/ 802435 h 802435"/>
              <a:gd name="connsiteX1-125" fmla="*/ 0 w 1078998"/>
              <a:gd name="connsiteY1-126" fmla="*/ 802064 h 802435"/>
              <a:gd name="connsiteX2-127" fmla="*/ 216003 w 1078998"/>
              <a:gd name="connsiteY2-128" fmla="*/ 0 h 802435"/>
              <a:gd name="connsiteX3-129" fmla="*/ 1078998 w 1078998"/>
              <a:gd name="connsiteY3-130" fmla="*/ 0 h 802435"/>
              <a:gd name="connsiteX4-131" fmla="*/ 754486 w 1078998"/>
              <a:gd name="connsiteY4-132" fmla="*/ 802435 h 802435"/>
              <a:gd name="connsiteX0-133" fmla="*/ 754486 w 754486"/>
              <a:gd name="connsiteY0-134" fmla="*/ 802435 h 802435"/>
              <a:gd name="connsiteX1-135" fmla="*/ 0 w 754486"/>
              <a:gd name="connsiteY1-136" fmla="*/ 802064 h 802435"/>
              <a:gd name="connsiteX2-137" fmla="*/ 216003 w 754486"/>
              <a:gd name="connsiteY2-138" fmla="*/ 0 h 802435"/>
              <a:gd name="connsiteX3-139" fmla="*/ 754486 w 754486"/>
              <a:gd name="connsiteY3-140" fmla="*/ 0 h 802435"/>
              <a:gd name="connsiteX4-141" fmla="*/ 754486 w 754486"/>
              <a:gd name="connsiteY4-142" fmla="*/ 802435 h 8024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4486" h="802435">
                <a:moveTo>
                  <a:pt x="754486" y="802435"/>
                </a:moveTo>
                <a:lnTo>
                  <a:pt x="0" y="802064"/>
                </a:lnTo>
                <a:lnTo>
                  <a:pt x="216003" y="0"/>
                </a:lnTo>
                <a:lnTo>
                  <a:pt x="754486" y="0"/>
                </a:lnTo>
                <a:lnTo>
                  <a:pt x="754486" y="802435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39999">
                <a:srgbClr val="0062AC"/>
              </a:gs>
            </a:gsLst>
            <a:lin ang="5400000" scaled="0"/>
          </a:gradFill>
          <a:ln w="9525" algn="ctr">
            <a:noFill/>
            <a:miter lim="800000"/>
          </a:ln>
          <a:effectLst/>
        </p:spPr>
        <p:txBody>
          <a:bodyPr wrap="none" lIns="90000" anchor="ctr"/>
          <a:lstStyle/>
          <a:p>
            <a:pPr algn="ctr"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solidFill>
                <a:srgbClr val="000000"/>
              </a:solidFill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9" name="Rectangle 15"/>
          <p:cNvSpPr>
            <a:spLocks noChangeArrowheads="1"/>
          </p:cNvSpPr>
          <p:nvPr userDrawn="1"/>
        </p:nvSpPr>
        <p:spPr bwMode="auto">
          <a:xfrm>
            <a:off x="0" y="836613"/>
            <a:ext cx="12192000" cy="42862"/>
          </a:xfrm>
          <a:prstGeom prst="rect">
            <a:avLst/>
          </a:prstGeom>
          <a:solidFill>
            <a:srgbClr val="0062AC"/>
          </a:solidFill>
          <a:ln w="9525" algn="ctr">
            <a:noFill/>
            <a:miter lim="800000"/>
          </a:ln>
          <a:effectLst/>
        </p:spPr>
        <p:txBody>
          <a:bodyPr wrap="none" lIns="90000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solidFill>
                <a:srgbClr val="000000"/>
              </a:solidFill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11597217" y="628650"/>
            <a:ext cx="624416" cy="279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9pPr>
          </a:lstStyle>
          <a:p>
            <a:pPr eaLnBrk="1" hangingPunct="1"/>
            <a:fld id="{522BCC33-E6A0-4394-A5C7-9D49436D06E5}" type="slidenum">
              <a:rPr lang="en-US" altLang="zh-CN" sz="1400">
                <a:solidFill>
                  <a:schemeClr val="bg1"/>
                </a:solidFill>
                <a:latin typeface="Microsoft YaHei"/>
                <a:ea typeface="微软雅黑"/>
                <a:cs typeface="Microsoft YaHei"/>
              </a:rPr>
              <a:t>‹#›</a:t>
            </a:fld>
            <a:endParaRPr lang="en-US" altLang="zh-CN" sz="1400">
              <a:solidFill>
                <a:schemeClr val="bg1"/>
              </a:solidFill>
              <a:latin typeface="Microsoft YaHei"/>
              <a:ea typeface="微软雅黑"/>
              <a:cs typeface="Microsoft YaHe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9pPr>
    </p:titleStyle>
    <p:bodyStyle>
      <a:lvl1pPr marL="342900" indent="-3429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5"/>
        </a:buBlip>
        <a:defRPr sz="2400">
          <a:solidFill>
            <a:schemeClr val="tx1"/>
          </a:solidFill>
          <a:latin typeface="Microsoft YaHei"/>
          <a:ea typeface="微软雅黑"/>
          <a:cs typeface="Microsoft YaHei"/>
        </a:defRPr>
      </a:lvl1pPr>
      <a:lvl2pPr marL="742950" indent="-28575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Blip>
          <a:blip r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2pPr>
      <a:lvl3pPr marL="11811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3pPr>
      <a:lvl4pPr marL="16383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Blip>
          <a:blip r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4pPr>
      <a:lvl5pPr marL="20955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5pPr>
      <a:lvl6pPr marL="25527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6pPr>
      <a:lvl7pPr marL="30099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7pPr>
      <a:lvl8pPr marL="34671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8pPr>
      <a:lvl9pPr marL="39243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9pPr>
    </p:bodyStyle>
    <p:otherStyle>
      <a:defPPr>
        <a:defRPr lang="zh-CN">
          <a:latin typeface="Microsoft YaHei"/>
          <a:ea typeface="微软雅黑"/>
          <a:cs typeface="Microsoft YaHei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封面标题"/>
          <p:cNvSpPr txBox="1"/>
          <p:nvPr/>
        </p:nvSpPr>
        <p:spPr>
          <a:xfrm>
            <a:off x="768096" y="475488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Git AI 企业化集成与二开实践</a:t>
            </a:r>
            <a:endParaRPr lang="zh-CN" dirty="0">
              <a:solidFill>
                <a:srgbClr val="FFFFFF"/>
              </a:solidFill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3" name="封面副标题"/>
          <p:cNvSpPr txBox="1"/>
          <p:nvPr/>
        </p:nvSpPr>
        <p:spPr>
          <a:xfrm>
            <a:off x="1234440" y="2578608"/>
            <a:ext cx="95554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/>
          <a:lstStyle/>
          <a:p>
            <a:pPr algn="l"/>
            <a:r>
              <a:rPr sz="2300" b="1">
                <a:solidFill>
                  <a:srgbClr val="18345D"/>
                </a:solidFill>
                <a:latin typeface="Microsoft YaHei"/>
              </a:rPr>
              <a:t>上游融合、Kilo v7 适配、存储收敛、提交审计与后台统计闭环</a:t>
            </a:r>
            <a:endParaRPr lang="zh-CN">
              <a:solidFill>
                <a:srgbClr val="0062AC"/>
              </a:solidFill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4" name="封面日期"/>
          <p:cNvSpPr txBox="1"/>
          <p:nvPr/>
        </p:nvSpPr>
        <p:spPr>
          <a:xfrm>
            <a:off x="1243584" y="344728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/>
          <a:lstStyle/>
          <a:p>
            <a:pPr algn="l"/>
            <a:r>
              <a:rPr sz="1450" b="0">
                <a:solidFill>
                  <a:srgbClr val="1F1F1F"/>
                </a:solidFill>
                <a:latin typeface="Microsoft YaHei"/>
              </a:rPr>
              <a:t>内部技术研究 · 2026 年 7 月｜基线：Git AI 1.6.16</a:t>
            </a:r>
            <a:endParaRPr lang="zh-CN">
              <a:solidFill>
                <a:srgbClr val="202020"/>
              </a:solidFill>
              <a:latin typeface="Microsoft YaHei"/>
              <a:ea typeface="微软雅黑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29184" y="155448"/>
            <a:ext cx="9829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8345D"/>
                </a:solidFill>
                <a:latin typeface="Microsoft YaHei"/>
              </a:rPr>
              <a:t>内容目录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08176"/>
            <a:ext cx="585216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0068B5"/>
                </a:solidFill>
                <a:latin typeface="Microsoft YaHe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389888" y="1444752"/>
            <a:ext cx="36576" cy="393192"/>
          </a:xfrm>
          <a:prstGeom prst="rect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64208" y="1399032"/>
            <a:ext cx="3154680" cy="4023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>
                <a:solidFill>
                  <a:srgbClr val="18345D"/>
                </a:solidFill>
                <a:latin typeface="Microsoft YaHei"/>
              </a:rPr>
              <a:t>基础原理与边界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1408176"/>
            <a:ext cx="566928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1F1F1F"/>
                </a:solidFill>
                <a:latin typeface="Microsoft YaHei"/>
              </a:rPr>
              <a:t>CLI、插件、行级来源事实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58568"/>
            <a:ext cx="585216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0068B5"/>
                </a:solidFill>
                <a:latin typeface="Microsoft YaHe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89888" y="2295144"/>
            <a:ext cx="36576" cy="393192"/>
          </a:xfrm>
          <a:prstGeom prst="rect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4208" y="2249424"/>
            <a:ext cx="3154680" cy="4023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>
                <a:solidFill>
                  <a:srgbClr val="18345D"/>
                </a:solidFill>
                <a:latin typeface="Microsoft YaHei"/>
              </a:rPr>
              <a:t>离线部署与使用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258568"/>
            <a:ext cx="566928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1F1F1F"/>
                </a:solidFill>
                <a:latin typeface="Microsoft YaHei"/>
              </a:rPr>
              <a:t>Windows、Linux、IDE 与 FAQ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108960"/>
            <a:ext cx="585216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0068B5"/>
                </a:solidFill>
                <a:latin typeface="Microsoft YaHei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9888" y="3145536"/>
            <a:ext cx="36576" cy="393192"/>
          </a:xfrm>
          <a:prstGeom prst="rect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64208" y="3099816"/>
            <a:ext cx="3154680" cy="4023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>
                <a:solidFill>
                  <a:srgbClr val="18345D"/>
                </a:solidFill>
                <a:latin typeface="Microsoft YaHei"/>
              </a:rPr>
              <a:t>Git AI 二开能力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108960"/>
            <a:ext cx="566928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1F1F1F"/>
                </a:solidFill>
                <a:latin typeface="Microsoft YaHei"/>
              </a:rPr>
              <a:t>企业上报、Kilo v7、生命周期与离线交付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959352"/>
            <a:ext cx="585216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0068B5"/>
                </a:solidFill>
                <a:latin typeface="Microsoft YaHei"/>
              </a:rPr>
              <a:t>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89888" y="3995928"/>
            <a:ext cx="36576" cy="393192"/>
          </a:xfrm>
          <a:prstGeom prst="rect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64208" y="3950208"/>
            <a:ext cx="3154680" cy="4023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>
                <a:solidFill>
                  <a:srgbClr val="18345D"/>
                </a:solidFill>
                <a:latin typeface="Microsoft YaHei"/>
              </a:rPr>
              <a:t>后台适配与统计闭环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959352"/>
            <a:ext cx="566928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1F1F1F"/>
                </a:solidFill>
                <a:latin typeface="Microsoft YaHei"/>
              </a:rPr>
              <a:t>接入、存储收敛、归因、代码审计与留存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09744"/>
            <a:ext cx="585216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0068B5"/>
                </a:solidFill>
                <a:latin typeface="Microsoft YaHei"/>
              </a:rPr>
              <a:t>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89888" y="4846320"/>
            <a:ext cx="36576" cy="393192"/>
          </a:xfrm>
          <a:prstGeom prst="rect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64208" y="4800600"/>
            <a:ext cx="3154680" cy="4023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>
                <a:solidFill>
                  <a:srgbClr val="18345D"/>
                </a:solidFill>
                <a:latin typeface="Microsoft YaHei"/>
              </a:rPr>
              <a:t>验证与上线边界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809744"/>
            <a:ext cx="566928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1F1F1F"/>
                </a:solidFill>
                <a:latin typeface="Microsoft YaHei"/>
              </a:rPr>
              <a:t>完成度、发布门槛与下一步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1874519"/>
            <a:ext cx="11018520" cy="201168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39696"/>
            <a:ext cx="105156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2130552"/>
            <a:ext cx="2743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48840" y="2103120"/>
            <a:ext cx="8138160" cy="6583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基础原理与边界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7128" y="2889504"/>
            <a:ext cx="850392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明确 Git AI 记录什么、插件负责什么，以及 AI / Human / Unknown 的口径。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248075"/>
            <a:ext cx="7567016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zh-CN" sz="2800" b="1" noProof="1">
                <a:solidFill>
                  <a:srgbClr val="0062AC"/>
                </a:solidFill>
                <a:latin typeface="Microsoft YaHei"/>
              </a:rPr>
              <a:t>Git AI CLI 与插件的分工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40052" y="1266024"/>
            <a:ext cx="831189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zh-CN" b="0" noProof="1">
                <a:solidFill>
                  <a:srgbClr val="111111"/>
                </a:solidFill>
                <a:latin typeface="Microsoft YaHei"/>
              </a:rPr>
              <a:t>核心判断：CLI 负责归因统计；已适配 Hook / 插件 / 命令拦截负责把来源事实送进 CLI。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919" y="1945521"/>
            <a:ext cx="3401568" cy="3886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" name="Rectangle 4"/>
          <p:cNvSpPr/>
          <p:nvPr/>
        </p:nvSpPr>
        <p:spPr>
          <a:xfrm>
            <a:off x="621919" y="1945521"/>
            <a:ext cx="3401568" cy="457200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6" name="TextBox 5"/>
          <p:cNvSpPr txBox="1"/>
          <p:nvPr/>
        </p:nvSpPr>
        <p:spPr>
          <a:xfrm>
            <a:off x="786510" y="2055248"/>
            <a:ext cx="3072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500" b="1" noProof="1">
                <a:solidFill>
                  <a:srgbClr val="FFFFFF"/>
                </a:solidFill>
                <a:latin typeface="Microsoft YaHei"/>
              </a:rPr>
              <a:t>Git AI CLI：统计核心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287" y="1945521"/>
            <a:ext cx="3401568" cy="3886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8" name="Rectangle 7"/>
          <p:cNvSpPr/>
          <p:nvPr/>
        </p:nvSpPr>
        <p:spPr>
          <a:xfrm>
            <a:off x="8138287" y="1945521"/>
            <a:ext cx="3401568" cy="457200"/>
          </a:xfrm>
          <a:prstGeom prst="rect">
            <a:avLst/>
          </a:prstGeom>
          <a:solidFill>
            <a:srgbClr val="00518E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9" name="TextBox 8"/>
          <p:cNvSpPr txBox="1"/>
          <p:nvPr/>
        </p:nvSpPr>
        <p:spPr>
          <a:xfrm>
            <a:off x="8302879" y="2055248"/>
            <a:ext cx="3072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500" b="1" noProof="1">
                <a:solidFill>
                  <a:srgbClr val="FFFFFF"/>
                </a:solidFill>
                <a:latin typeface="Microsoft YaHei"/>
              </a:rPr>
              <a:t>插件 / Hook：采集入口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086" y="2622177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250" b="1" noProof="1">
                <a:solidFill>
                  <a:srgbClr val="0062AC"/>
                </a:solidFill>
                <a:latin typeface="Microsoft YaHei"/>
              </a:rPr>
              <a:t>形式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591" y="2613033"/>
            <a:ext cx="2395728" cy="417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200" b="0" noProof="1">
                <a:solidFill>
                  <a:srgbClr val="111111"/>
                </a:solidFill>
                <a:latin typeface="Microsoft YaHei"/>
              </a:rPr>
              <a:t>本机 git-ai 二进制与后台 daemon，全局安装一次。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086" y="3335409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250" b="1" noProof="1">
                <a:solidFill>
                  <a:srgbClr val="0062AC"/>
                </a:solidFill>
                <a:latin typeface="Microsoft YaHei"/>
              </a:rPr>
              <a:t>负责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591" y="3326265"/>
            <a:ext cx="2395728" cy="417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200" b="0" noProof="1">
                <a:solidFill>
                  <a:srgbClr val="111111"/>
                </a:solidFill>
                <a:latin typeface="Microsoft YaHei"/>
              </a:rPr>
              <a:t>记录/迁移行级归因，写入 Git Notes，维护本地状态库。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086" y="4048641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250" b="1" noProof="1">
                <a:solidFill>
                  <a:srgbClr val="0062AC"/>
                </a:solidFill>
                <a:latin typeface="Microsoft YaHei"/>
              </a:rPr>
              <a:t>查询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591" y="4039497"/>
            <a:ext cx="2395728" cy="417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200" b="0" noProof="1">
                <a:solidFill>
                  <a:srgbClr val="111111"/>
                </a:solidFill>
                <a:latin typeface="Microsoft YaHei"/>
              </a:rPr>
              <a:t>提供 status、stats、blame、diff 等命令。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086" y="4761873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10000"/>
          </a:bodyPr>
          <a:lstStyle/>
          <a:p>
            <a:pPr algn="l">
              <a:lnSpc>
                <a:spcPct val="118000"/>
              </a:lnSpc>
              <a:spcAft>
                <a:spcPts val="150"/>
              </a:spcAft>
            </a:pPr>
            <a:r>
              <a:rPr lang="zh-CN" sz="1500" b="1" noProof="1">
                <a:solidFill>
                  <a:srgbClr val="0062AC"/>
                </a:solidFill>
                <a:latin typeface="Microsoft YaHei"/>
              </a:rPr>
              <a:t>产物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591" y="4752729"/>
            <a:ext cx="2395728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lang="zh-CN" sz="1200" b="0" noProof="1">
                <a:solidFill>
                  <a:srgbClr val="111111"/>
                </a:solidFill>
                <a:latin typeface="Microsoft YaHei"/>
              </a:rPr>
              <a:t>提交上的来源事实、Git Notes，以及本地 ~/.git-ai 状态。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455" y="2622177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250" b="1" noProof="1">
                <a:solidFill>
                  <a:srgbClr val="00518E"/>
                </a:solidFill>
                <a:latin typeface="Microsoft YaHei"/>
              </a:rPr>
              <a:t>形式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959" y="2613033"/>
            <a:ext cx="2395728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lang="zh-CN" sz="1200" noProof="1">
                <a:solidFill>
                  <a:srgbClr val="111111"/>
                </a:solidFill>
                <a:latin typeface="Microsoft YaHei"/>
              </a:rPr>
              <a:t>Codex/Cursor hooks；VS Code/JetBrains 扩展；Copilot/AI Tab。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455" y="3335409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250" b="1" noProof="1">
                <a:solidFill>
                  <a:srgbClr val="00518E"/>
                </a:solidFill>
                <a:latin typeface="Microsoft YaHei"/>
              </a:rPr>
              <a:t>负责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959" y="3326265"/>
            <a:ext cx="2395728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lang="zh-CN" sz="1200" b="0" noProof="1">
                <a:solidFill>
                  <a:srgbClr val="111111"/>
                </a:solidFill>
                <a:latin typeface="Microsoft YaHei"/>
              </a:rPr>
              <a:t>在 AI 编辑前后，或 IDE 保存边界发生时触发 checkpoint。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455" y="4048641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250" b="1" noProof="1">
                <a:solidFill>
                  <a:srgbClr val="00518E"/>
                </a:solidFill>
                <a:latin typeface="Microsoft YaHei"/>
              </a:rPr>
              <a:t>输入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959" y="4039497"/>
            <a:ext cx="2395728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lang="zh-CN" sz="1200" b="0" noProof="1">
                <a:solidFill>
                  <a:srgbClr val="111111"/>
                </a:solidFill>
                <a:latin typeface="Microsoft YaHei"/>
              </a:rPr>
              <a:t>把来源、模型、会话、文件路径和编辑前后状态传给 CLI。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455" y="4761873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250" b="1" noProof="1">
                <a:solidFill>
                  <a:srgbClr val="00518E"/>
                </a:solidFill>
                <a:latin typeface="Microsoft YaHei"/>
              </a:rPr>
              <a:t>边界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959" y="4752729"/>
            <a:ext cx="2395728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lang="zh-CN" sz="1200" b="0" noProof="1">
                <a:solidFill>
                  <a:srgbClr val="111111"/>
                </a:solidFill>
                <a:latin typeface="Microsoft YaHei"/>
              </a:rPr>
              <a:t>不通用识别所有 agent；未适配链路会落到 known_human 或 unknown。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247" y="1916832"/>
            <a:ext cx="3328416" cy="3886200"/>
          </a:xfrm>
          <a:prstGeom prst="roundRect">
            <a:avLst/>
          </a:prstGeom>
          <a:solidFill>
            <a:srgbClr val="F2F4F7"/>
          </a:solidFill>
          <a:ln w="13970">
            <a:solidFill>
              <a:srgbClr val="BB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7" name="TextBox 26"/>
          <p:cNvSpPr txBox="1"/>
          <p:nvPr/>
        </p:nvSpPr>
        <p:spPr>
          <a:xfrm>
            <a:off x="4572127" y="2110113"/>
            <a:ext cx="29626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sz="1500" b="1" noProof="1">
                <a:solidFill>
                  <a:srgbClr val="213261"/>
                </a:solidFill>
                <a:latin typeface="Microsoft YaHei"/>
              </a:rPr>
              <a:t>协作链路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90999" y="2585601"/>
            <a:ext cx="2724912" cy="438912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150"/>
              </a:spcAft>
            </a:pPr>
            <a:r>
              <a:rPr lang="zh-CN" sz="1200" b="1" noProof="1">
                <a:solidFill>
                  <a:srgbClr val="213261"/>
                </a:solidFill>
              </a:rPr>
              <a:t>AI 工具 / IDE</a:t>
            </a:r>
          </a:p>
          <a:p>
            <a:pPr algn="ctr">
              <a:spcAft>
                <a:spcPts val="150"/>
              </a:spcAft>
            </a:pPr>
            <a:r>
              <a:rPr lang="zh-CN" sz="1200" b="0" noProof="1">
                <a:solidFill>
                  <a:srgbClr val="111111"/>
                </a:solidFill>
              </a:rPr>
              <a:t>Codex、Copilot、Cursor、Junie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980303" y="3030096"/>
            <a:ext cx="146304" cy="182880"/>
          </a:xfrm>
          <a:prstGeom prst="downArrow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200" noProof="1"/>
          </a:p>
        </p:txBody>
      </p:sp>
      <p:sp>
        <p:nvSpPr>
          <p:cNvPr id="30" name="Rounded Rectangle 29"/>
          <p:cNvSpPr/>
          <p:nvPr/>
        </p:nvSpPr>
        <p:spPr>
          <a:xfrm>
            <a:off x="4690999" y="3207393"/>
            <a:ext cx="2724912" cy="438912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150"/>
              </a:spcAft>
            </a:pPr>
            <a:r>
              <a:rPr lang="zh-CN" sz="1200" b="1" noProof="1">
                <a:solidFill>
                  <a:srgbClr val="213261"/>
                </a:solidFill>
              </a:rPr>
              <a:t>已适配采集层</a:t>
            </a:r>
          </a:p>
          <a:p>
            <a:pPr algn="ctr">
              <a:spcAft>
                <a:spcPts val="150"/>
              </a:spcAft>
            </a:pPr>
            <a:r>
              <a:rPr lang="zh-CN" sz="1200" b="0" noProof="1">
                <a:solidFill>
                  <a:srgbClr val="111111"/>
                </a:solidFill>
              </a:rPr>
              <a:t>Hook / 插件 / 命令拦截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5980303" y="3645024"/>
            <a:ext cx="146304" cy="182880"/>
          </a:xfrm>
          <a:prstGeom prst="downArrow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200" noProof="1"/>
          </a:p>
        </p:txBody>
      </p:sp>
      <p:sp>
        <p:nvSpPr>
          <p:cNvPr id="32" name="Rounded Rectangle 31"/>
          <p:cNvSpPr/>
          <p:nvPr/>
        </p:nvSpPr>
        <p:spPr>
          <a:xfrm>
            <a:off x="4690999" y="3829185"/>
            <a:ext cx="2724912" cy="438912"/>
          </a:xfrm>
          <a:prstGeom prst="roundRect">
            <a:avLst/>
          </a:prstGeom>
          <a:solidFill>
            <a:srgbClr val="BBE0E3"/>
          </a:solidFill>
          <a:ln w="1270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150"/>
              </a:spcAft>
            </a:pPr>
            <a:r>
              <a:rPr lang="zh-CN" sz="1200" b="1" noProof="1">
                <a:solidFill>
                  <a:srgbClr val="213261"/>
                </a:solidFill>
              </a:rPr>
              <a:t>git-ai checkpoint</a:t>
            </a:r>
          </a:p>
          <a:p>
            <a:pPr algn="ctr">
              <a:spcAft>
                <a:spcPts val="150"/>
              </a:spcAft>
            </a:pPr>
            <a:r>
              <a:rPr lang="zh-CN" sz="1200" b="0" noProof="1">
                <a:solidFill>
                  <a:srgbClr val="111111"/>
                </a:solidFill>
              </a:rPr>
              <a:t>记录 AI / known_human 事实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5980303" y="4293096"/>
            <a:ext cx="146304" cy="182880"/>
          </a:xfrm>
          <a:prstGeom prst="downArrow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200" noProof="1"/>
          </a:p>
        </p:txBody>
      </p:sp>
      <p:sp>
        <p:nvSpPr>
          <p:cNvPr id="34" name="Rounded Rectangle 33"/>
          <p:cNvSpPr/>
          <p:nvPr/>
        </p:nvSpPr>
        <p:spPr>
          <a:xfrm>
            <a:off x="4690999" y="4450976"/>
            <a:ext cx="2724912" cy="438912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18288" rtlCol="0" anchor="ctr"/>
          <a:lstStyle/>
          <a:p>
            <a:pPr algn="ctr"/>
            <a:r>
              <a:rPr lang="zh-CN" sz="1200" b="1" noProof="1">
                <a:solidFill>
                  <a:srgbClr val="213261"/>
                </a:solidFill>
              </a:rPr>
              <a:t>Git Notes / 本地库</a:t>
            </a:r>
          </a:p>
          <a:p>
            <a:pPr algn="ctr"/>
            <a:r>
              <a:rPr lang="zh-CN" sz="1200" b="0" noProof="1">
                <a:solidFill>
                  <a:srgbClr val="111111"/>
                </a:solidFill>
              </a:rPr>
              <a:t>随提交保存和查询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5980303" y="4902304"/>
            <a:ext cx="146304" cy="182880"/>
          </a:xfrm>
          <a:prstGeom prst="downArrow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200" noProof="1"/>
          </a:p>
        </p:txBody>
      </p:sp>
      <p:sp>
        <p:nvSpPr>
          <p:cNvPr id="36" name="Rounded Rectangle 35"/>
          <p:cNvSpPr/>
          <p:nvPr/>
        </p:nvSpPr>
        <p:spPr>
          <a:xfrm>
            <a:off x="4690999" y="5072769"/>
            <a:ext cx="2724912" cy="438912"/>
          </a:xfrm>
          <a:prstGeom prst="roundRect">
            <a:avLst/>
          </a:prstGeom>
          <a:solidFill>
            <a:srgbClr val="BBE0E3"/>
          </a:solidFill>
          <a:ln w="1270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18288" rtlCol="0" anchor="ctr"/>
          <a:lstStyle/>
          <a:p>
            <a:pPr algn="ctr"/>
            <a:r>
              <a:rPr lang="zh-CN" sz="1200" b="1" noProof="1">
                <a:solidFill>
                  <a:srgbClr val="213261"/>
                </a:solidFill>
              </a:rPr>
              <a:t>stats / blame</a:t>
            </a:r>
          </a:p>
          <a:p>
            <a:pPr algn="ctr"/>
            <a:r>
              <a:rPr lang="zh-CN" sz="1200" b="0" noProof="1">
                <a:solidFill>
                  <a:srgbClr val="111111"/>
                </a:solidFill>
              </a:rPr>
              <a:t>输出统计和行级来源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20332" y="1387625"/>
            <a:ext cx="894728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zh-CN" sz="1700" b="0" noProof="1">
                <a:solidFill>
                  <a:srgbClr val="111111"/>
                </a:solidFill>
                <a:latin typeface="Microsoft YaHei"/>
              </a:rPr>
              <a:t>Git AI 不做“像不像 AI”的内容判断，而是看每一行有没有可追溯的来源事实。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960" y="2276872"/>
            <a:ext cx="3218688" cy="324612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" name="Rectangle 4"/>
          <p:cNvSpPr/>
          <p:nvPr/>
        </p:nvSpPr>
        <p:spPr>
          <a:xfrm>
            <a:off x="1051960" y="2276872"/>
            <a:ext cx="3218688" cy="438912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6" name="TextBox 5"/>
          <p:cNvSpPr txBox="1"/>
          <p:nvPr/>
        </p:nvSpPr>
        <p:spPr>
          <a:xfrm>
            <a:off x="1198264" y="238660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150"/>
              </a:spcAft>
            </a:pPr>
            <a:r>
              <a:rPr lang="zh-CN" sz="1420" b="1" noProof="1">
                <a:solidFill>
                  <a:srgbClr val="FFFFFF"/>
                </a:solidFill>
                <a:latin typeface="Microsoft YaHei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551" y="2898664"/>
            <a:ext cx="2889504" cy="2496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150"/>
              </a:spcAft>
            </a:pPr>
            <a:r>
              <a:rPr lang="zh-CN" sz="1400" b="0" noProof="1">
                <a:solidFill>
                  <a:srgbClr val="111111"/>
                </a:solidFill>
                <a:latin typeface="Microsoft YaHei"/>
              </a:rPr>
              <a:t>有 AI checkpoint 证据。</a:t>
            </a:r>
          </a:p>
          <a:p>
            <a:pPr algn="l">
              <a:lnSpc>
                <a:spcPct val="150000"/>
              </a:lnSpc>
              <a:spcAft>
                <a:spcPts val="150"/>
              </a:spcAft>
            </a:pPr>
            <a:r>
              <a:rPr lang="zh-CN" sz="1400" b="0" noProof="1">
                <a:solidFill>
                  <a:srgbClr val="111111"/>
                </a:solidFill>
                <a:latin typeface="Microsoft YaHei"/>
              </a:rPr>
              <a:t>可关联工具、模型、会话和文件前后状态。</a:t>
            </a:r>
          </a:p>
          <a:p>
            <a:pPr algn="l">
              <a:lnSpc>
                <a:spcPct val="150000"/>
              </a:lnSpc>
              <a:spcAft>
                <a:spcPts val="150"/>
              </a:spcAft>
            </a:pPr>
            <a:r>
              <a:rPr lang="zh-CN" sz="1400" b="0" noProof="1">
                <a:solidFill>
                  <a:srgbClr val="111111"/>
                </a:solidFill>
                <a:latin typeface="Microsoft YaHei"/>
              </a:rPr>
              <a:t>用于计算 AI 行、AI 占比和提交归因。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81543" y="2276872"/>
            <a:ext cx="3218688" cy="324612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9" name="Rectangle 8"/>
          <p:cNvSpPr/>
          <p:nvPr/>
        </p:nvSpPr>
        <p:spPr>
          <a:xfrm>
            <a:off x="4581543" y="2276872"/>
            <a:ext cx="3218688" cy="438912"/>
          </a:xfrm>
          <a:prstGeom prst="rect">
            <a:avLst/>
          </a:prstGeom>
          <a:solidFill>
            <a:srgbClr val="00518E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0" name="TextBox 9"/>
          <p:cNvSpPr txBox="1"/>
          <p:nvPr/>
        </p:nvSpPr>
        <p:spPr>
          <a:xfrm>
            <a:off x="4727848" y="238660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150"/>
              </a:spcAft>
            </a:pPr>
            <a:r>
              <a:rPr lang="en-US" altLang="zh-CN" sz="1420" b="1" noProof="1">
                <a:solidFill>
                  <a:srgbClr val="FFFFFF"/>
                </a:solidFill>
                <a:latin typeface="Microsoft YaHei"/>
              </a:rPr>
              <a:t>Human</a:t>
            </a:r>
            <a:endParaRPr lang="zh-CN" sz="1420" b="1" noProof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46135" y="2898664"/>
            <a:ext cx="2889504" cy="2496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150"/>
              </a:spcAft>
            </a:pPr>
            <a:r>
              <a:rPr lang="zh-CN" sz="1400" b="0" noProof="1">
                <a:solidFill>
                  <a:srgbClr val="111111"/>
                </a:solidFill>
                <a:latin typeface="Microsoft YaHei"/>
              </a:rPr>
              <a:t>有 known_human checkpoint 证据。</a:t>
            </a:r>
          </a:p>
          <a:p>
            <a:pPr algn="l">
              <a:lnSpc>
                <a:spcPct val="150000"/>
              </a:lnSpc>
              <a:spcAft>
                <a:spcPts val="150"/>
              </a:spcAft>
            </a:pPr>
            <a:r>
              <a:rPr lang="zh-CN" sz="1400" b="0" noProof="1">
                <a:solidFill>
                  <a:srgbClr val="111111"/>
                </a:solidFill>
                <a:latin typeface="Microsoft YaHei"/>
              </a:rPr>
              <a:t>通常来自 IDE 保存事件或手工 checkpoint。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1128" y="2276872"/>
            <a:ext cx="3218688" cy="324612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3" name="Rectangle 12"/>
          <p:cNvSpPr/>
          <p:nvPr/>
        </p:nvSpPr>
        <p:spPr>
          <a:xfrm>
            <a:off x="8111128" y="2276872"/>
            <a:ext cx="3218688" cy="438912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4" name="TextBox 13"/>
          <p:cNvSpPr txBox="1"/>
          <p:nvPr/>
        </p:nvSpPr>
        <p:spPr>
          <a:xfrm>
            <a:off x="8257432" y="238660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150"/>
              </a:spcAft>
            </a:pPr>
            <a:r>
              <a:rPr lang="en-US" altLang="zh-CN" sz="1420" b="1" noProof="1">
                <a:solidFill>
                  <a:srgbClr val="FFFFFF"/>
                </a:solidFill>
                <a:latin typeface="Microsoft YaHei"/>
              </a:rPr>
              <a:t>Unknown</a:t>
            </a:r>
            <a:endParaRPr lang="zh-CN" sz="1420" b="1" noProof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75720" y="2898664"/>
            <a:ext cx="2889504" cy="2496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150"/>
              </a:spcAft>
            </a:pPr>
            <a:r>
              <a:rPr lang="zh-CN" sz="1400" b="0" noProof="1">
                <a:solidFill>
                  <a:srgbClr val="111111"/>
                </a:solidFill>
                <a:latin typeface="Microsoft YaHei"/>
              </a:rPr>
              <a:t>没有 AI 或 known_human 证据。</a:t>
            </a:r>
          </a:p>
          <a:p>
            <a:pPr algn="l">
              <a:lnSpc>
                <a:spcPct val="150000"/>
              </a:lnSpc>
              <a:spcAft>
                <a:spcPts val="150"/>
              </a:spcAft>
            </a:pPr>
            <a:r>
              <a:rPr lang="zh-CN" sz="1400" b="0" noProof="1">
                <a:solidFill>
                  <a:srgbClr val="111111"/>
                </a:solidFill>
                <a:latin typeface="Microsoft YaHei"/>
              </a:rPr>
              <a:t>可能是人写、脚本生成、历史代码或未接入 AI。</a:t>
            </a:r>
          </a:p>
          <a:p>
            <a:pPr algn="l">
              <a:lnSpc>
                <a:spcPct val="150000"/>
              </a:lnSpc>
              <a:spcAft>
                <a:spcPts val="150"/>
              </a:spcAft>
            </a:pPr>
            <a:r>
              <a:rPr lang="zh-CN" sz="1400" b="0" noProof="1">
                <a:solidFill>
                  <a:srgbClr val="111111"/>
                </a:solidFill>
                <a:latin typeface="Microsoft YaHei"/>
              </a:rPr>
              <a:t>不能直接等同为“人类编写”。</a:t>
            </a:r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BAA09417-AF88-C7AB-7178-3A0D9384E8E0}"/>
              </a:ext>
            </a:extLst>
          </p:cNvPr>
          <p:cNvSpPr txBox="1"/>
          <p:nvPr/>
        </p:nvSpPr>
        <p:spPr>
          <a:xfrm>
            <a:off x="329184" y="248075"/>
            <a:ext cx="8287096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>
              <a:spcAft>
                <a:spcPts val="150"/>
              </a:spcAft>
            </a:pPr>
            <a:r>
              <a:rPr lang="zh-CN" altLang="zh-CN" sz="2800" b="1" noProof="1">
                <a:solidFill>
                  <a:srgbClr val="0062AC"/>
                </a:solidFill>
              </a:rPr>
              <a:t>行级归因口径：AI、</a:t>
            </a:r>
            <a:r>
              <a:rPr lang="en-US" altLang="zh-CN" sz="2800" b="1" noProof="1">
                <a:solidFill>
                  <a:srgbClr val="0062AC"/>
                </a:solidFill>
              </a:rPr>
              <a:t>Human</a:t>
            </a:r>
            <a:r>
              <a:rPr lang="zh-CN" altLang="en-US" sz="2800" b="1" noProof="1">
                <a:solidFill>
                  <a:srgbClr val="0062AC"/>
                </a:solidFill>
              </a:rPr>
              <a:t> </a:t>
            </a:r>
            <a:r>
              <a:rPr lang="zh-CN" altLang="zh-CN" sz="2800" b="1" noProof="1">
                <a:solidFill>
                  <a:srgbClr val="0062AC"/>
                </a:solidFill>
              </a:rPr>
              <a:t>与 Unknown</a:t>
            </a:r>
            <a:endParaRPr lang="zh-CN" sz="2800" b="1" noProof="1">
              <a:solidFill>
                <a:srgbClr val="0062AC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1874519"/>
            <a:ext cx="11018520" cy="201168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39696"/>
            <a:ext cx="105156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2130552"/>
            <a:ext cx="2743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48840" y="2103120"/>
            <a:ext cx="8138160" cy="6583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离线部署与使用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7128" y="2889504"/>
            <a:ext cx="850392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面向内网研发环境，统一 Windows、Linux、VS Code 与 JetBrains 的安装路径。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237820"/>
            <a:ext cx="10424160" cy="457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 noProof="1">
                <a:solidFill>
                  <a:srgbClr val="0062AC"/>
                </a:solidFill>
                <a:latin typeface="Microsoft YaHei"/>
              </a:rPr>
              <a:t>Windows 离线安装</a:t>
            </a:r>
            <a:r>
              <a:rPr lang="zh-CN" altLang="en-US" sz="2800" b="1" noProof="1">
                <a:solidFill>
                  <a:srgbClr val="0062AC"/>
                </a:solidFill>
                <a:latin typeface="Microsoft YaHei"/>
              </a:rPr>
              <a:t> </a:t>
            </a:r>
            <a:r>
              <a:rPr lang="en-US" altLang="zh-CN" sz="2800" b="1" noProof="1">
                <a:solidFill>
                  <a:srgbClr val="0062AC"/>
                </a:solidFill>
                <a:latin typeface="Microsoft YaHei"/>
              </a:rPr>
              <a:t>CLI</a:t>
            </a:r>
            <a:endParaRPr lang="zh-CN" sz="2800" b="1" noProof="1">
              <a:solidFill>
                <a:srgbClr val="0062AC"/>
              </a:solidFill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413" y="1081118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 noProof="1">
                <a:solidFill>
                  <a:srgbClr val="202020"/>
                </a:solidFill>
                <a:latin typeface="Microsoft YaHei"/>
              </a:rPr>
              <a:t>面向内网 Windows x64 开发终端，使用普通用户 PowerShell 从离线包安装 CLI。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2716" y="1599190"/>
            <a:ext cx="3337560" cy="56692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" name="TextBox 4"/>
          <p:cNvSpPr txBox="1"/>
          <p:nvPr/>
        </p:nvSpPr>
        <p:spPr>
          <a:xfrm>
            <a:off x="849020" y="1690630"/>
            <a:ext cx="30449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50" b="1" noProof="1">
                <a:solidFill>
                  <a:srgbClr val="0062AC"/>
                </a:solidFill>
                <a:latin typeface="Microsoft YaHei"/>
              </a:rPr>
              <a:t>适用架构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9020" y="1864366"/>
            <a:ext cx="304495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Windows AMD64 / x64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0316" y="1599190"/>
            <a:ext cx="3337560" cy="56692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8" name="TextBox 7"/>
          <p:cNvSpPr txBox="1"/>
          <p:nvPr/>
        </p:nvSpPr>
        <p:spPr>
          <a:xfrm>
            <a:off x="4506620" y="1690630"/>
            <a:ext cx="30449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50" b="1" noProof="1">
                <a:solidFill>
                  <a:srgbClr val="0062AC"/>
                </a:solidFill>
                <a:latin typeface="Microsoft YaHei"/>
              </a:rPr>
              <a:t>包内二进制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6620" y="1864366"/>
            <a:ext cx="304495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windows/git-ai-windows-x64.exe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7916" y="1599190"/>
            <a:ext cx="3337560" cy="56692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1" name="TextBox 10"/>
          <p:cNvSpPr txBox="1"/>
          <p:nvPr/>
        </p:nvSpPr>
        <p:spPr>
          <a:xfrm>
            <a:off x="8164220" y="1690630"/>
            <a:ext cx="30449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50" b="1" noProof="1">
                <a:solidFill>
                  <a:srgbClr val="0062AC"/>
                </a:solidFill>
                <a:latin typeface="Microsoft YaHei"/>
              </a:rPr>
              <a:t>安装目录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4220" y="1864366"/>
            <a:ext cx="304495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%USERPROFILE%\.git-ai\bin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7536" y="2491751"/>
            <a:ext cx="6720840" cy="3639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4" name="Rectangle 13"/>
          <p:cNvSpPr/>
          <p:nvPr/>
        </p:nvSpPr>
        <p:spPr>
          <a:xfrm>
            <a:off x="697536" y="2491751"/>
            <a:ext cx="6720840" cy="393192"/>
          </a:xfrm>
          <a:prstGeom prst="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5" name="TextBox 14"/>
          <p:cNvSpPr txBox="1"/>
          <p:nvPr/>
        </p:nvSpPr>
        <p:spPr>
          <a:xfrm>
            <a:off x="862127" y="2564904"/>
            <a:ext cx="639165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1">
                <a:solidFill>
                  <a:srgbClr val="FFFFFF"/>
                </a:solidFill>
                <a:latin typeface="Microsoft YaHei"/>
              </a:rPr>
              <a:t>执行命令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848" y="3040392"/>
            <a:ext cx="6300216" cy="2816352"/>
          </a:xfrm>
          <a:prstGeom prst="rect">
            <a:avLst/>
          </a:prstGeom>
          <a:solidFill>
            <a:srgbClr val="F2F4F7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7" name="TextBox 16"/>
          <p:cNvSpPr txBox="1"/>
          <p:nvPr/>
        </p:nvSpPr>
        <p:spPr>
          <a:xfrm>
            <a:off x="1072439" y="3168408"/>
            <a:ext cx="5971031" cy="20021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cd C:\path\to\git-ai-offline-v1.6.12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$env:PROCESSOR_ARCHITECTURE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sz="1100" b="0" noProof="1">
              <a:solidFill>
                <a:srgbClr val="202020"/>
              </a:solidFill>
              <a:latin typeface="Menl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$env:GIT_AI_LOCAL_BINARY = (Resolve-Path `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  .\windows\git-ai-windows-x64.exe).Path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sz="1100" b="0" noProof="1">
              <a:solidFill>
                <a:srgbClr val="202020"/>
              </a:solidFill>
              <a:latin typeface="Menl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powershell -NoProfile -ExecutionPolicy Bypass `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  -File .\install.ps1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56120" y="2491751"/>
            <a:ext cx="3840480" cy="3639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Rectangle 18"/>
          <p:cNvSpPr/>
          <p:nvPr/>
        </p:nvSpPr>
        <p:spPr>
          <a:xfrm>
            <a:off x="7656120" y="2491751"/>
            <a:ext cx="3840480" cy="393192"/>
          </a:xfrm>
          <a:prstGeom prst="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0" name="TextBox 19"/>
          <p:cNvSpPr txBox="1"/>
          <p:nvPr/>
        </p:nvSpPr>
        <p:spPr>
          <a:xfrm>
            <a:off x="7820712" y="2564904"/>
            <a:ext cx="35112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1">
                <a:solidFill>
                  <a:srgbClr val="FFFFFF"/>
                </a:solidFill>
                <a:latin typeface="Microsoft YaHei"/>
              </a:rPr>
              <a:t>安装检查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84720" y="3040392"/>
            <a:ext cx="301752" cy="301752"/>
          </a:xfrm>
          <a:prstGeom prst="round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2" name="TextBox 21"/>
          <p:cNvSpPr txBox="1"/>
          <p:nvPr/>
        </p:nvSpPr>
        <p:spPr>
          <a:xfrm>
            <a:off x="7884720" y="3049535"/>
            <a:ext cx="3017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1" noProof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4488" y="3031248"/>
            <a:ext cx="2953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使用普通用户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4488" y="3306693"/>
            <a:ext cx="3048000" cy="1726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1">
                <a:solidFill>
                  <a:srgbClr val="202020"/>
                </a:solidFill>
                <a:latin typeface="Microsoft YaHei"/>
              </a:rPr>
              <a:t>不要使用管理员</a:t>
            </a:r>
            <a:r>
              <a:rPr lang="zh-CN" altLang="en-US" sz="1080" b="0" noProof="1">
                <a:solidFill>
                  <a:srgbClr val="202020"/>
                </a:solidFill>
                <a:latin typeface="Microsoft YaHei"/>
              </a:rPr>
              <a:t>权限</a:t>
            </a:r>
            <a:r>
              <a:rPr lang="zh-CN" sz="1080" b="0" noProof="1">
                <a:solidFill>
                  <a:srgbClr val="202020"/>
                </a:solidFill>
                <a:latin typeface="Microsoft YaHei"/>
              </a:rPr>
              <a:t>，避免生成错误权限文件。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4720" y="3656543"/>
            <a:ext cx="301752" cy="301752"/>
          </a:xfrm>
          <a:prstGeom prst="round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0" name="TextBox 29"/>
          <p:cNvSpPr txBox="1"/>
          <p:nvPr/>
        </p:nvSpPr>
        <p:spPr>
          <a:xfrm>
            <a:off x="7884720" y="3703902"/>
            <a:ext cx="301752" cy="1796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100" b="1" noProof="1">
                <a:solidFill>
                  <a:srgbClr val="FFFFFF"/>
                </a:solidFill>
              </a:rPr>
              <a:t>2</a:t>
            </a:r>
            <a:endParaRPr lang="zh-CN" sz="1100" b="1" noProof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14488" y="3647399"/>
            <a:ext cx="2953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重新打开终端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4488" y="3921640"/>
            <a:ext cx="2953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1">
                <a:solidFill>
                  <a:srgbClr val="202020"/>
                </a:solidFill>
                <a:latin typeface="Microsoft YaHei"/>
              </a:rPr>
              <a:t>安装脚本写入用户 PATH，旧窗口可能暂时找不到命令。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84720" y="4415911"/>
            <a:ext cx="301752" cy="301752"/>
          </a:xfrm>
          <a:prstGeom prst="round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4" name="TextBox 33"/>
          <p:cNvSpPr txBox="1"/>
          <p:nvPr/>
        </p:nvSpPr>
        <p:spPr>
          <a:xfrm>
            <a:off x="7884720" y="4463270"/>
            <a:ext cx="301752" cy="1796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100" b="1" noProof="1">
                <a:solidFill>
                  <a:srgbClr val="FFFFFF"/>
                </a:solidFill>
              </a:rPr>
              <a:t>3</a:t>
            </a:r>
            <a:endParaRPr lang="zh-CN" sz="1100" b="1" noProof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14488" y="4406767"/>
            <a:ext cx="2953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重新执行 Hook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4488" y="4688093"/>
            <a:ext cx="2953512" cy="358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1">
                <a:solidFill>
                  <a:srgbClr val="202020"/>
                </a:solidFill>
                <a:latin typeface="Microsoft YaHei"/>
              </a:rPr>
              <a:t>新增或更换 Agent 后再次运行 </a:t>
            </a:r>
            <a:r>
              <a:rPr lang="en" altLang="zh-CN" sz="1080" noProof="1">
                <a:solidFill>
                  <a:srgbClr val="202020"/>
                </a:solidFill>
              </a:rPr>
              <a:t>git ai install-hooks --verbose</a:t>
            </a:r>
            <a:r>
              <a:rPr lang="zh-CN" sz="1080" b="0" noProof="1">
                <a:solidFill>
                  <a:srgbClr val="202020"/>
                </a:solidFill>
                <a:latin typeface="Microsoft YaHei"/>
              </a:rPr>
              <a:t>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4720" y="5204072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 noProof="1">
                <a:solidFill>
                  <a:srgbClr val="0062AC"/>
                </a:solidFill>
                <a:latin typeface="Microsoft YaHei"/>
              </a:rPr>
              <a:t>验证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84720" y="5463552"/>
            <a:ext cx="3383280" cy="438912"/>
          </a:xfrm>
          <a:prstGeom prst="rect">
            <a:avLst/>
          </a:prstGeom>
          <a:solidFill>
            <a:srgbClr val="F2F4F7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9" name="TextBox 38"/>
          <p:cNvSpPr txBox="1"/>
          <p:nvPr/>
        </p:nvSpPr>
        <p:spPr>
          <a:xfrm>
            <a:off x="8049312" y="5527559"/>
            <a:ext cx="3054096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80" b="0" noProof="1">
                <a:solidFill>
                  <a:srgbClr val="202020"/>
                </a:solidFill>
                <a:latin typeface="Menlo"/>
              </a:rPr>
              <a:t>git ai --version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80" b="0" noProof="1">
                <a:solidFill>
                  <a:srgbClr val="202020"/>
                </a:solidFill>
                <a:latin typeface="Menlo"/>
              </a:rPr>
              <a:t>git ai install-hooks --verbose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237820"/>
            <a:ext cx="10424160" cy="457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 noProof="1">
                <a:solidFill>
                  <a:srgbClr val="0062AC"/>
                </a:solidFill>
                <a:latin typeface="Microsoft YaHei"/>
              </a:rPr>
              <a:t>Linux 离线安装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5400" y="1052736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 noProof="1">
                <a:solidFill>
                  <a:srgbClr val="202020"/>
                </a:solidFill>
                <a:latin typeface="Microsoft YaHei"/>
              </a:rPr>
              <a:t>Linux x64 与 ARM64 共用 install.sh；多人共用研发机时必须隔离 OS 用户与 HOME。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5400" y="1578449"/>
            <a:ext cx="3337560" cy="56692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" name="TextBox 4"/>
          <p:cNvSpPr txBox="1"/>
          <p:nvPr/>
        </p:nvSpPr>
        <p:spPr>
          <a:xfrm>
            <a:off x="841704" y="1669889"/>
            <a:ext cx="30449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50" b="1" noProof="1">
                <a:solidFill>
                  <a:srgbClr val="0062AC"/>
                </a:solidFill>
                <a:latin typeface="Microsoft YaHei"/>
              </a:rPr>
              <a:t>支持架构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704" y="1843625"/>
            <a:ext cx="304495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x86_64 / aarch64 / arm64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3000" y="1578449"/>
            <a:ext cx="3337560" cy="56692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8" name="TextBox 7"/>
          <p:cNvSpPr txBox="1"/>
          <p:nvPr/>
        </p:nvSpPr>
        <p:spPr>
          <a:xfrm>
            <a:off x="4499304" y="1669889"/>
            <a:ext cx="30449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50" b="1" noProof="1">
                <a:solidFill>
                  <a:srgbClr val="0062AC"/>
                </a:solidFill>
                <a:latin typeface="Microsoft YaHei"/>
              </a:rPr>
              <a:t>包内二进制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9304" y="1843625"/>
            <a:ext cx="304495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linux/git-ai-linux-x64 / arm64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600" y="1578449"/>
            <a:ext cx="3337560" cy="56692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1" name="TextBox 10"/>
          <p:cNvSpPr txBox="1"/>
          <p:nvPr/>
        </p:nvSpPr>
        <p:spPr>
          <a:xfrm>
            <a:off x="8156904" y="1669889"/>
            <a:ext cx="30449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50" b="1" noProof="1">
                <a:solidFill>
                  <a:srgbClr val="0062AC"/>
                </a:solidFill>
                <a:latin typeface="Microsoft YaHei"/>
              </a:rPr>
              <a:t>安装目录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904" y="1843625"/>
            <a:ext cx="304495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$HOME/.git-ai/bin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5400" y="2453984"/>
            <a:ext cx="6720840" cy="3639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4" name="Rectangle 13"/>
          <p:cNvSpPr/>
          <p:nvPr/>
        </p:nvSpPr>
        <p:spPr>
          <a:xfrm>
            <a:off x="695400" y="2453984"/>
            <a:ext cx="6720840" cy="393192"/>
          </a:xfrm>
          <a:prstGeom prst="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5" name="TextBox 14"/>
          <p:cNvSpPr txBox="1"/>
          <p:nvPr/>
        </p:nvSpPr>
        <p:spPr>
          <a:xfrm>
            <a:off x="859991" y="2527137"/>
            <a:ext cx="639165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1">
                <a:solidFill>
                  <a:srgbClr val="FFFFFF"/>
                </a:solidFill>
                <a:latin typeface="Microsoft YaHei"/>
              </a:rPr>
              <a:t>执行命令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712" y="3002625"/>
            <a:ext cx="6300216" cy="2816352"/>
          </a:xfrm>
          <a:prstGeom prst="rect">
            <a:avLst/>
          </a:prstGeom>
          <a:solidFill>
            <a:srgbClr val="F2F4F7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7" name="TextBox 16"/>
          <p:cNvSpPr txBox="1"/>
          <p:nvPr/>
        </p:nvSpPr>
        <p:spPr>
          <a:xfrm>
            <a:off x="1070302" y="3028239"/>
            <a:ext cx="5971031" cy="2763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cd /path/to/git-ai-offline-v1.6.12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uname -m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chmod +x install.sh linux/git-ai-linux-*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sz="1100" b="0" noProof="1">
              <a:solidFill>
                <a:srgbClr val="202020"/>
              </a:solidFill>
              <a:latin typeface="Menl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# x86_64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GIT_AI_LOCAL_BINARY="$PWD/linux/git-ai-linux-x64" \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  bash ./install.sh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sz="1100" b="0" noProof="1">
              <a:solidFill>
                <a:srgbClr val="202020"/>
              </a:solidFill>
              <a:latin typeface="Menl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# aarch64 / arm64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GIT_AI_LOCAL_BINARY="$PWD/linux/git-ai-linux-arm64" \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  bash ./install.sh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46016" y="2453984"/>
            <a:ext cx="3840480" cy="3639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Rectangle 18"/>
          <p:cNvSpPr/>
          <p:nvPr/>
        </p:nvSpPr>
        <p:spPr>
          <a:xfrm>
            <a:off x="7653984" y="2453984"/>
            <a:ext cx="3840480" cy="393192"/>
          </a:xfrm>
          <a:prstGeom prst="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0" name="TextBox 19"/>
          <p:cNvSpPr txBox="1"/>
          <p:nvPr/>
        </p:nvSpPr>
        <p:spPr>
          <a:xfrm>
            <a:off x="7818576" y="2527137"/>
            <a:ext cx="35112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1">
                <a:solidFill>
                  <a:srgbClr val="FFFFFF"/>
                </a:solidFill>
                <a:latin typeface="Microsoft YaHei"/>
              </a:rPr>
              <a:t>安装检查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82584" y="3002625"/>
            <a:ext cx="301752" cy="301752"/>
          </a:xfrm>
          <a:prstGeom prst="round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2" name="TextBox 21"/>
          <p:cNvSpPr txBox="1"/>
          <p:nvPr/>
        </p:nvSpPr>
        <p:spPr>
          <a:xfrm>
            <a:off x="7882584" y="3011768"/>
            <a:ext cx="3017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1" noProof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2352" y="2993481"/>
            <a:ext cx="2953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先确认架构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2352" y="3286090"/>
            <a:ext cx="2953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1">
                <a:solidFill>
                  <a:srgbClr val="202020"/>
                </a:solidFill>
                <a:latin typeface="Microsoft YaHei"/>
              </a:rPr>
              <a:t>x86_64 与 ARM64 二进制不能混用。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4072" y="3646157"/>
            <a:ext cx="301752" cy="301752"/>
          </a:xfrm>
          <a:prstGeom prst="round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6" name="TextBox 25"/>
          <p:cNvSpPr txBox="1"/>
          <p:nvPr/>
        </p:nvSpPr>
        <p:spPr>
          <a:xfrm>
            <a:off x="7884072" y="3655301"/>
            <a:ext cx="3017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1" noProof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3840" y="3637013"/>
            <a:ext cx="2953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使用普通用户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2352" y="3958180"/>
            <a:ext cx="2953512" cy="1726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1">
                <a:solidFill>
                  <a:srgbClr val="202020"/>
                </a:solidFill>
                <a:latin typeface="Microsoft YaHei"/>
              </a:rPr>
              <a:t>不</a:t>
            </a:r>
            <a:r>
              <a:rPr lang="zh-CN" altLang="en-US" sz="1080" b="0" noProof="1">
                <a:solidFill>
                  <a:srgbClr val="202020"/>
                </a:solidFill>
                <a:latin typeface="Microsoft YaHei"/>
              </a:rPr>
              <a:t>建议使</a:t>
            </a:r>
            <a:r>
              <a:rPr lang="zh-CN" sz="1080" b="0" noProof="1">
                <a:solidFill>
                  <a:srgbClr val="202020"/>
                </a:solidFill>
                <a:latin typeface="Microsoft YaHei"/>
              </a:rPr>
              <a:t>用 root 或 sudo 执行安装脚本。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584" y="4319360"/>
            <a:ext cx="301752" cy="301752"/>
          </a:xfrm>
          <a:prstGeom prst="round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0" name="TextBox 29"/>
          <p:cNvSpPr txBox="1"/>
          <p:nvPr/>
        </p:nvSpPr>
        <p:spPr>
          <a:xfrm>
            <a:off x="7882584" y="4328504"/>
            <a:ext cx="3017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1" noProof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2352" y="4310216"/>
            <a:ext cx="2953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隔离用户状态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3208" y="4634921"/>
            <a:ext cx="2883410" cy="358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1">
                <a:solidFill>
                  <a:srgbClr val="202020"/>
                </a:solidFill>
                <a:latin typeface="Microsoft YaHei"/>
              </a:rPr>
              <a:t>多人共享服务器时，每人</a:t>
            </a:r>
            <a:r>
              <a:rPr lang="zh-CN" altLang="en-US" sz="1080" b="0" noProof="1">
                <a:solidFill>
                  <a:srgbClr val="202020"/>
                </a:solidFill>
                <a:latin typeface="Microsoft YaHei"/>
              </a:rPr>
              <a:t>使用</a:t>
            </a:r>
            <a:r>
              <a:rPr lang="zh-CN" sz="1080" b="0" noProof="1">
                <a:solidFill>
                  <a:srgbClr val="202020"/>
                </a:solidFill>
                <a:latin typeface="Microsoft YaHei"/>
              </a:rPr>
              <a:t>独立 OS 用户和 HOME。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2584" y="5100053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 noProof="1">
                <a:solidFill>
                  <a:srgbClr val="0062AC"/>
                </a:solidFill>
                <a:latin typeface="Microsoft YaHei"/>
              </a:rPr>
              <a:t>验证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82584" y="5382373"/>
            <a:ext cx="3383280" cy="438912"/>
          </a:xfrm>
          <a:prstGeom prst="rect">
            <a:avLst/>
          </a:prstGeom>
          <a:solidFill>
            <a:srgbClr val="F2F4F7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9" name="TextBox 38"/>
          <p:cNvSpPr txBox="1"/>
          <p:nvPr/>
        </p:nvSpPr>
        <p:spPr>
          <a:xfrm>
            <a:off x="8039208" y="5446380"/>
            <a:ext cx="3054096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80" b="0" noProof="1">
                <a:solidFill>
                  <a:srgbClr val="202020"/>
                </a:solidFill>
                <a:latin typeface="Menlo"/>
              </a:rPr>
              <a:t>git ai --version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80" b="0" noProof="1">
                <a:solidFill>
                  <a:srgbClr val="202020"/>
                </a:solidFill>
                <a:latin typeface="Menlo"/>
              </a:rPr>
              <a:t>git ai install-hooks --verbose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237788"/>
            <a:ext cx="10424160" cy="4571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 noProof="1">
                <a:solidFill>
                  <a:srgbClr val="0062AC"/>
                </a:solidFill>
                <a:latin typeface="Microsoft YaHei"/>
              </a:rPr>
              <a:t>IDE </a:t>
            </a:r>
            <a:r>
              <a:rPr lang="zh-CN" altLang="en-US" sz="2800" b="1" noProof="1">
                <a:solidFill>
                  <a:srgbClr val="0062AC"/>
                </a:solidFill>
                <a:latin typeface="Microsoft YaHei"/>
              </a:rPr>
              <a:t>离线安装</a:t>
            </a:r>
            <a:r>
              <a:rPr lang="zh-CN" sz="2800" b="1" noProof="1">
                <a:solidFill>
                  <a:srgbClr val="0062AC"/>
                </a:solidFill>
                <a:latin typeface="Microsoft YaHei"/>
              </a:rPr>
              <a:t>插件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5400" y="1124744"/>
            <a:ext cx="10561320" cy="261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 noProof="1">
                <a:solidFill>
                  <a:srgbClr val="202020"/>
                </a:solidFill>
                <a:latin typeface="Microsoft YaHei"/>
              </a:rPr>
              <a:t>插件负责编辑器内展示与保存边界采集；Hook 负责把 Codex、Claude、OpenCode 等来源事实送入 CLI。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2172" y="1751826"/>
            <a:ext cx="2542032" cy="1225296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" name="Rounded Rectangle 4"/>
          <p:cNvSpPr/>
          <p:nvPr/>
        </p:nvSpPr>
        <p:spPr>
          <a:xfrm>
            <a:off x="838476" y="1898130"/>
            <a:ext cx="347472" cy="310896"/>
          </a:xfrm>
          <a:prstGeom prst="round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6" name="TextBox 5"/>
          <p:cNvSpPr txBox="1"/>
          <p:nvPr/>
        </p:nvSpPr>
        <p:spPr>
          <a:xfrm>
            <a:off x="838476" y="1907274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1" noProof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3964" y="1898130"/>
            <a:ext cx="17739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noProof="1">
                <a:solidFill>
                  <a:srgbClr val="00518E"/>
                </a:solidFill>
                <a:latin typeface="Microsoft YaHei"/>
              </a:rPr>
              <a:t>先安装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6763" y="235533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20" b="0" noProof="1">
                <a:solidFill>
                  <a:srgbClr val="202020"/>
                </a:solidFill>
                <a:latin typeface="Microsoft YaHei"/>
              </a:rPr>
              <a:t>确认 git ai --version 可用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3660" y="1751826"/>
            <a:ext cx="2542032" cy="1225296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0" name="Rounded Rectangle 9"/>
          <p:cNvSpPr/>
          <p:nvPr/>
        </p:nvSpPr>
        <p:spPr>
          <a:xfrm>
            <a:off x="3599964" y="1898130"/>
            <a:ext cx="347472" cy="310896"/>
          </a:xfrm>
          <a:prstGeom prst="round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1" name="TextBox 10"/>
          <p:cNvSpPr txBox="1"/>
          <p:nvPr/>
        </p:nvSpPr>
        <p:spPr>
          <a:xfrm>
            <a:off x="3599964" y="1907274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1" noProof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5452" y="1898130"/>
            <a:ext cx="17739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noProof="1">
                <a:solidFill>
                  <a:srgbClr val="00518E"/>
                </a:solidFill>
                <a:latin typeface="Microsoft YaHei"/>
              </a:rPr>
              <a:t>配置 Hook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8252" y="235533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20" b="0" noProof="1">
                <a:solidFill>
                  <a:srgbClr val="202020"/>
                </a:solidFill>
                <a:latin typeface="Microsoft YaHei"/>
              </a:rPr>
              <a:t>安装脚本已执行 install-hooks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5148" y="1751826"/>
            <a:ext cx="2542032" cy="1225296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5" name="Rounded Rectangle 14"/>
          <p:cNvSpPr/>
          <p:nvPr/>
        </p:nvSpPr>
        <p:spPr>
          <a:xfrm>
            <a:off x="6361452" y="1898130"/>
            <a:ext cx="347472" cy="310896"/>
          </a:xfrm>
          <a:prstGeom prst="round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6" name="TextBox 15"/>
          <p:cNvSpPr txBox="1"/>
          <p:nvPr/>
        </p:nvSpPr>
        <p:spPr>
          <a:xfrm>
            <a:off x="6361452" y="1907274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1" noProof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6940" y="1898130"/>
            <a:ext cx="17739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noProof="1">
                <a:solidFill>
                  <a:srgbClr val="00518E"/>
                </a:solidFill>
                <a:latin typeface="Microsoft YaHei"/>
              </a:rPr>
              <a:t>离线装插件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9740" y="235533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20" b="0" noProof="1">
                <a:solidFill>
                  <a:srgbClr val="202020"/>
                </a:solidFill>
                <a:latin typeface="Microsoft YaHei"/>
              </a:rPr>
              <a:t>VSIX / ZIP 从本地磁盘安装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6636" y="1751826"/>
            <a:ext cx="2542032" cy="1225296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0" name="Rounded Rectangle 19"/>
          <p:cNvSpPr/>
          <p:nvPr/>
        </p:nvSpPr>
        <p:spPr>
          <a:xfrm>
            <a:off x="9122940" y="1898130"/>
            <a:ext cx="347472" cy="310896"/>
          </a:xfrm>
          <a:prstGeom prst="round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1" name="TextBox 20"/>
          <p:cNvSpPr txBox="1"/>
          <p:nvPr/>
        </p:nvSpPr>
        <p:spPr>
          <a:xfrm>
            <a:off x="9122940" y="1907274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1" noProof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8428" y="1898130"/>
            <a:ext cx="17739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noProof="1">
                <a:solidFill>
                  <a:srgbClr val="00518E"/>
                </a:solidFill>
                <a:latin typeface="Microsoft YaHei"/>
              </a:rPr>
              <a:t>重启进程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1228" y="235533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20" b="0" noProof="1">
                <a:solidFill>
                  <a:srgbClr val="202020"/>
                </a:solidFill>
                <a:latin typeface="Microsoft YaHei"/>
              </a:rPr>
              <a:t>关闭并重开 Agent 与 IDE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726557"/>
              </p:ext>
            </p:extLst>
          </p:nvPr>
        </p:nvGraphicFramePr>
        <p:xfrm>
          <a:off x="1152417" y="3496342"/>
          <a:ext cx="9887166" cy="2270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3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577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 dirty="0">
                          <a:solidFill>
                            <a:srgbClr val="FFFFFF"/>
                          </a:solidFill>
                          <a:latin typeface="Microsoft YaHei"/>
                        </a:rPr>
                        <a:t>IDE</a:t>
                      </a:r>
                    </a:p>
                  </a:txBody>
                  <a:tcPr anchor="ctr">
                    <a:solidFill>
                      <a:srgbClr val="0062A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离线文件</a:t>
                      </a:r>
                      <a:endParaRPr sz="125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0062A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安装方式</a:t>
                      </a:r>
                    </a:p>
                  </a:txBody>
                  <a:tcPr anchor="ctr">
                    <a:solidFill>
                      <a:srgbClr val="0062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207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20" b="0">
                          <a:solidFill>
                            <a:srgbClr val="202020"/>
                          </a:solidFill>
                          <a:latin typeface="Microsoft YaHei"/>
                        </a:rPr>
                        <a:t>VS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20" b="0">
                          <a:solidFill>
                            <a:srgbClr val="202020"/>
                          </a:solidFill>
                          <a:latin typeface="Microsoft YaHei"/>
                        </a:rPr>
                        <a:t>vscode/*.vsix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20" b="0" dirty="0" err="1">
                          <a:solidFill>
                            <a:srgbClr val="202020"/>
                          </a:solidFill>
                          <a:latin typeface="Microsoft YaHei"/>
                        </a:rPr>
                        <a:t>Extensions：Install</a:t>
                      </a:r>
                      <a:r>
                        <a:rPr sz="1120" b="0" dirty="0">
                          <a:solidFill>
                            <a:srgbClr val="202020"/>
                          </a:solidFill>
                          <a:latin typeface="Microsoft YaHei"/>
                        </a:rPr>
                        <a:t> from VSIX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207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20" b="0" dirty="0">
                          <a:solidFill>
                            <a:srgbClr val="202020"/>
                          </a:solidFill>
                          <a:latin typeface="Microsoft YaHei"/>
                        </a:rPr>
                        <a:t>JetBrains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20" b="0">
                          <a:solidFill>
                            <a:srgbClr val="202020"/>
                          </a:solidFill>
                          <a:latin typeface="Microsoft YaHei"/>
                        </a:rPr>
                        <a:t>jetbrains/*.zip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20" b="0" dirty="0" err="1">
                          <a:solidFill>
                            <a:srgbClr val="202020"/>
                          </a:solidFill>
                          <a:latin typeface="Microsoft YaHei"/>
                        </a:rPr>
                        <a:t>Plugins：Install</a:t>
                      </a:r>
                      <a:r>
                        <a:rPr sz="1120" b="0" dirty="0">
                          <a:solidFill>
                            <a:srgbClr val="202020"/>
                          </a:solidFill>
                          <a:latin typeface="Microsoft YaHei"/>
                        </a:rPr>
                        <a:t> Plugin from Disk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228600"/>
            <a:ext cx="11064240" cy="420624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n-US" altLang="zh-CN" sz="2800" b="1" noProof="1">
                <a:solidFill>
                  <a:srgbClr val="0062AC"/>
                </a:solidFill>
                <a:latin typeface="Microsoft YaHei"/>
              </a:rPr>
              <a:t>CLI</a:t>
            </a:r>
            <a:r>
              <a:rPr lang="zh-CN" altLang="en-US" sz="2800" b="1" noProof="1">
                <a:solidFill>
                  <a:srgbClr val="0062AC"/>
                </a:solidFill>
                <a:latin typeface="Microsoft YaHei"/>
              </a:rPr>
              <a:t> 和插件的 </a:t>
            </a:r>
            <a:r>
              <a:rPr lang="zh-CN" sz="2800" b="1" noProof="1">
                <a:solidFill>
                  <a:srgbClr val="0062AC"/>
                </a:solidFill>
                <a:latin typeface="Microsoft YaHei"/>
              </a:rPr>
              <a:t>FAQ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143229"/>
              </p:ext>
            </p:extLst>
          </p:nvPr>
        </p:nvGraphicFramePr>
        <p:xfrm>
          <a:off x="331371" y="1340768"/>
          <a:ext cx="11665296" cy="4608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1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39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66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sz="1200" b="1" noProof="1">
                          <a:solidFill>
                            <a:srgbClr val="FFFFFF"/>
                          </a:solidFill>
                          <a:latin typeface="Microsoft YaHei"/>
                        </a:rPr>
                        <a:t>问题</a:t>
                      </a:r>
                    </a:p>
                  </a:txBody>
                  <a:tcPr anchor="ctr">
                    <a:solidFill>
                      <a:srgbClr val="0062A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sz="1200" b="1" noProof="1">
                          <a:solidFill>
                            <a:srgbClr val="FFFFFF"/>
                          </a:solidFill>
                          <a:latin typeface="Microsoft YaHei"/>
                        </a:rPr>
                        <a:t>判断口径</a:t>
                      </a:r>
                    </a:p>
                  </a:txBody>
                  <a:tcPr anchor="ctr">
                    <a:solidFill>
                      <a:srgbClr val="0062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969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zh-CN" sz="1200" b="1" noProof="1">
                          <a:solidFill>
                            <a:srgbClr val="213261"/>
                          </a:solidFill>
                          <a:latin typeface="Microsoft YaHei"/>
                        </a:rPr>
                        <a:t>VS Code / JetBrains 插件能识别所有 agent 吗？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zh-CN" sz="1200" b="0" noProof="1">
                          <a:solidFill>
                            <a:srgbClr val="111111"/>
                          </a:solidFill>
                          <a:latin typeface="Microsoft YaHei"/>
                        </a:rPr>
                        <a:t>不能。只对已适配链路有效，例如 Copilot、Junie、AI Tab、Cursor hook 等；未适配插件只改文件时不能稳定判成 AI。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969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zh-CN" sz="1200" b="1" noProof="1">
                          <a:solidFill>
                            <a:srgbClr val="213261"/>
                          </a:solidFill>
                          <a:latin typeface="Microsoft YaHei"/>
                        </a:rPr>
                        <a:t>Codex 在 VS Code 中改代码怎么识别？</a:t>
                      </a:r>
                    </a:p>
                  </a:txBody>
                  <a:tcPr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zh-CN" sz="1200" b="0" noProof="1">
                          <a:solidFill>
                            <a:srgbClr val="111111"/>
                          </a:solidFill>
                          <a:latin typeface="Microsoft YaHei"/>
                        </a:rPr>
                        <a:t>关键看是否触发本机 Codex hook。hook 记录工具、模型、会话和文件前后状态；若绕过 hook 直接落盘，只能进入保存边界或 unknown。</a:t>
                      </a:r>
                    </a:p>
                  </a:txBody>
                  <a:tcPr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969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zh-CN" sz="1200" b="1" noProof="1">
                          <a:solidFill>
                            <a:srgbClr val="213261"/>
                          </a:solidFill>
                          <a:latin typeface="Microsoft YaHei"/>
                        </a:rPr>
                        <a:t>Cursor 这类 IDE agent 保存文件会触发 known_human 吗？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zh-CN" sz="1200" b="0" noProof="1">
                          <a:solidFill>
                            <a:srgbClr val="111111"/>
                          </a:solidFill>
                          <a:latin typeface="Microsoft YaHei"/>
                        </a:rPr>
                        <a:t>可能会。保存事件来自编辑器文档管线，不能证明是人手敲；AI 归因仍应优先看 Cursor / Codex hook。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9969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zh-CN" sz="1200" b="1" noProof="1">
                          <a:solidFill>
                            <a:srgbClr val="213261"/>
                          </a:solidFill>
                          <a:latin typeface="Microsoft YaHei"/>
                        </a:rPr>
                        <a:t>known_human 是怎么来的？</a:t>
                      </a:r>
                    </a:p>
                  </a:txBody>
                  <a:tcPr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zh-CN" sz="1200" b="0" noProof="1">
                          <a:solidFill>
                            <a:srgbClr val="111111"/>
                          </a:solidFill>
                          <a:latin typeface="Microsoft YaHei"/>
                        </a:rPr>
                        <a:t>VS Code/Cursor 保存文档时，扩展收到 onDidSaveTextDocument 后打 known_human checkpoint；Auto Save、Save All、格式化保存也可能触发。</a:t>
                      </a:r>
                    </a:p>
                  </a:txBody>
                  <a:tcPr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9969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zh-CN" sz="1200" b="1" noProof="1">
                          <a:solidFill>
                            <a:srgbClr val="213261"/>
                          </a:solidFill>
                          <a:latin typeface="Microsoft YaHei"/>
                        </a:rPr>
                        <a:t>unknown 应该怎么解释？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zh-CN" sz="1200" b="0" noProof="1">
                          <a:solidFill>
                            <a:srgbClr val="111111"/>
                          </a:solidFill>
                          <a:latin typeface="Microsoft YaHei"/>
                        </a:rPr>
                        <a:t>unknown 只是“没有来源证据”，可能是人写、脚本生成、历史代码或未接入 AI；审计口径不要直接并成人类。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1874519"/>
            <a:ext cx="11018520" cy="201168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39696"/>
            <a:ext cx="105156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2130552"/>
            <a:ext cx="2743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48840" y="2103120"/>
            <a:ext cx="8138160" cy="6583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Git AI 二开能力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7128" y="2889504"/>
            <a:ext cx="850392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企业身份、Kilo v7 采集、生命周期可靠性与可重复离线交付。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29184" y="155448"/>
            <a:ext cx="9829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8345D"/>
                </a:solidFill>
                <a:latin typeface="Microsoft YaHei"/>
              </a:rPr>
              <a:t>Git AI 二开工作全景</a:t>
            </a:r>
          </a:p>
        </p:txBody>
      </p:sp>
      <p:sp>
        <p:nvSpPr>
          <p:cNvPr id="3" name="页面导语"/>
          <p:cNvSpPr txBox="1"/>
          <p:nvPr/>
        </p:nvSpPr>
        <p:spPr>
          <a:xfrm>
            <a:off x="384048" y="841248"/>
            <a:ext cx="1065276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8345D"/>
                </a:solidFill>
                <a:latin typeface="Microsoft YaHei"/>
              </a:rPr>
              <a:t>在上游 1.6.16 之上保留自有提交链，按四类能力维护。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371600"/>
            <a:ext cx="5230368" cy="1719072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0352" y="1371600"/>
            <a:ext cx="5230368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1426464"/>
            <a:ext cx="4937759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企业上报身份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938528"/>
            <a:ext cx="4901183" cy="10241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组织架构下拉与缓存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姓名、邮箱、服务地址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VS Code / JetBrains / CLI 共享配置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9904" y="1371600"/>
            <a:ext cx="5230368" cy="1719072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89904" y="1371600"/>
            <a:ext cx="5230368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36208" y="1426464"/>
            <a:ext cx="4937759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Kilo v7 适配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496" y="1938528"/>
            <a:ext cx="4901183" cy="10241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独立 preset 与安装器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编辑、写入、补丁、命令链路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工具、模型、运行时元数据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3410712"/>
            <a:ext cx="5230368" cy="1719072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0352" y="3410712"/>
            <a:ext cx="5230368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" y="3465576"/>
            <a:ext cx="4937759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生命周期可靠性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977639"/>
            <a:ext cx="4901183" cy="10241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checkpoint / commit / rewrite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session_event 内存压缩与 Token 日快照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持久队列、重试与候选替换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9904" y="3410712"/>
            <a:ext cx="5230368" cy="1719072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9904" y="3410712"/>
            <a:ext cx="5230368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6208" y="3465576"/>
            <a:ext cx="4937759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离线交付维护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3977639"/>
            <a:ext cx="4901183" cy="10241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Windows x64、Linux x64 / ARM64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VS Code / JetBrains 插件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上游融合与可复核校验和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413248"/>
            <a:ext cx="992124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>
                <a:solidFill>
                  <a:srgbClr val="18345D"/>
                </a:solidFill>
                <a:latin typeface="Microsoft YaHei"/>
              </a:rPr>
              <a:t>维护原则：尽量复用上游协议与模板，通过独立适配层降低升级冲突；客户端只上报事实，最终入库归因由后台派生。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A985B-E083-0DAC-28DF-585FE68EB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933A9-92C9-3D4D-9C7D-880EFDC28344}"/>
              </a:ext>
            </a:extLst>
          </p:cNvPr>
          <p:cNvSpPr txBox="1"/>
          <p:nvPr/>
        </p:nvSpPr>
        <p:spPr>
          <a:xfrm>
            <a:off x="329184" y="237788"/>
            <a:ext cx="10424160" cy="4571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noProof="1">
                <a:solidFill>
                  <a:srgbClr val="0062AC"/>
                </a:solidFill>
                <a:latin typeface="Microsoft YaHei"/>
              </a:rPr>
              <a:t>Git AI </a:t>
            </a:r>
            <a:r>
              <a:rPr lang="zh-CN" altLang="en-US" sz="2800" b="1" noProof="1">
                <a:solidFill>
                  <a:srgbClr val="0062AC"/>
                </a:solidFill>
                <a:latin typeface="Microsoft YaHei"/>
              </a:rPr>
              <a:t>插件二开个人信息维护功能</a:t>
            </a:r>
            <a:endParaRPr lang="zh-CN" sz="2800" b="1" noProof="1">
              <a:solidFill>
                <a:srgbClr val="0062AC"/>
              </a:solidFill>
              <a:latin typeface="Microsoft YaHei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C7100845-1F44-3C10-92B9-EE2248E83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1628801"/>
            <a:ext cx="5506906" cy="345638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2DAA20F-0A7B-7BBC-BB9B-4EE9F03BA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1628800"/>
            <a:ext cx="5506907" cy="3456385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5A10A286-BAAF-5E2F-61AD-C922D00B0C52}"/>
              </a:ext>
            </a:extLst>
          </p:cNvPr>
          <p:cNvSpPr txBox="1"/>
          <p:nvPr/>
        </p:nvSpPr>
        <p:spPr>
          <a:xfrm>
            <a:off x="2690371" y="5654408"/>
            <a:ext cx="940899" cy="2888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noProof="1">
                <a:solidFill>
                  <a:srgbClr val="202020"/>
                </a:solidFill>
                <a:latin typeface="Microsoft YaHei"/>
              </a:rPr>
              <a:t>JetBrains</a:t>
            </a:r>
            <a:endParaRPr lang="zh-CN" sz="1600" b="0" noProof="1">
              <a:solidFill>
                <a:srgbClr val="202020"/>
              </a:solidFill>
              <a:latin typeface="Microsoft YaHei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1DACBBC6-A59F-E834-812C-42D35F38938A}"/>
              </a:ext>
            </a:extLst>
          </p:cNvPr>
          <p:cNvSpPr txBox="1"/>
          <p:nvPr/>
        </p:nvSpPr>
        <p:spPr>
          <a:xfrm>
            <a:off x="8666345" y="5659045"/>
            <a:ext cx="798264" cy="2888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noProof="1">
                <a:solidFill>
                  <a:srgbClr val="202020"/>
                </a:solidFill>
                <a:latin typeface="Microsoft YaHei"/>
              </a:rPr>
              <a:t>VsCode</a:t>
            </a:r>
            <a:endParaRPr lang="zh-CN" sz="1600" b="0" noProof="1">
              <a:solidFill>
                <a:srgbClr val="202020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148204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29184" y="155448"/>
            <a:ext cx="9829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8345D"/>
                </a:solidFill>
                <a:latin typeface="Microsoft YaHei"/>
              </a:rPr>
              <a:t>Kilo v7：从兼容导入升级为一等采集源</a:t>
            </a:r>
          </a:p>
        </p:txBody>
      </p:sp>
      <p:sp>
        <p:nvSpPr>
          <p:cNvPr id="3" name="页面导语"/>
          <p:cNvSpPr txBox="1"/>
          <p:nvPr/>
        </p:nvSpPr>
        <p:spPr>
          <a:xfrm>
            <a:off x="384048" y="841248"/>
            <a:ext cx="1065276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8345D"/>
                </a:solidFill>
                <a:latin typeface="Microsoft YaHei"/>
              </a:rPr>
              <a:t>不改 Kilo 主流程，通过独立 preset、安装器与事件转换接入 Git AI。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353312"/>
            <a:ext cx="4736592" cy="4160520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4736592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1408176"/>
            <a:ext cx="4443983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适配实现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920240"/>
            <a:ext cx="4407407" cy="34655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70" b="0">
                <a:solidFill>
                  <a:srgbClr val="1F1F1F"/>
                </a:solidFill>
                <a:latin typeface="Microsoft YaHei"/>
              </a:rPr>
              <a:t>• 独立 preset：由 OpenCode 模板严格替换生成，减少上游冲突。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70" b="0">
              <a:solidFill>
                <a:srgbClr val="1F1F1F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70" b="0">
                <a:solidFill>
                  <a:srgbClr val="1F1F1F"/>
                </a:solidFill>
                <a:latin typeface="Microsoft YaHei"/>
              </a:rPr>
              <a:t>• 多入口：覆盖 VS Code、JetBrains 与 CLI 运行时。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70" b="0">
              <a:solidFill>
                <a:srgbClr val="1F1F1F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70" b="0">
                <a:solidFill>
                  <a:srgbClr val="1F1F1F"/>
                </a:solidFill>
                <a:latin typeface="Microsoft YaHei"/>
              </a:rPr>
              <a:t>• 文件变更：识别 edit、write、patch、bash / shell 产生的变更。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70" b="0">
              <a:solidFill>
                <a:srgbClr val="1F1F1F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70" b="0">
                <a:solidFill>
                  <a:srgbClr val="1F1F1F"/>
                </a:solidFill>
                <a:latin typeface="Microsoft YaHei"/>
              </a:rPr>
              <a:t>• 运行元数据：上报 tool=kilo、编辑器、版本、模型、provider 与会话。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70" b="0">
              <a:solidFill>
                <a:srgbClr val="1F1F1F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70" b="0">
                <a:solidFill>
                  <a:srgbClr val="1F1F1F"/>
                </a:solidFill>
                <a:latin typeface="Microsoft YaHei"/>
              </a:rPr>
              <a:t>• 失败边界：工具无法给出文件路径时落 Unknown；不统计 Tab 补全。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50992" y="1554480"/>
            <a:ext cx="516636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800" b="1">
                <a:solidFill>
                  <a:srgbClr val="18345D"/>
                </a:solidFill>
                <a:latin typeface="Microsoft YaHei"/>
              </a:rPr>
              <a:t>统一事件链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50992" y="2084831"/>
            <a:ext cx="51663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15584" y="2130551"/>
            <a:ext cx="157276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004A84"/>
                </a:solidFill>
                <a:latin typeface="Microsoft YaHei"/>
              </a:rPr>
              <a:t>Kilo v7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0648" y="2130551"/>
            <a:ext cx="312724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40" b="0">
                <a:solidFill>
                  <a:srgbClr val="1F1F1F"/>
                </a:solidFill>
                <a:latin typeface="Microsoft YaHei"/>
              </a:rPr>
              <a:t>编辑与工具调用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50992" y="2706624"/>
            <a:ext cx="51663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15584" y="2752344"/>
            <a:ext cx="157276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004A84"/>
                </a:solidFill>
                <a:latin typeface="Microsoft YaHei"/>
              </a:rPr>
              <a:t>Git AI preset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0648" y="2752344"/>
            <a:ext cx="312724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40" b="0">
                <a:solidFill>
                  <a:srgbClr val="1F1F1F"/>
                </a:solidFill>
                <a:latin typeface="Microsoft YaHei"/>
              </a:rPr>
              <a:t>转换来源事实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50992" y="3328415"/>
            <a:ext cx="51663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15584" y="3374135"/>
            <a:ext cx="157276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004A84"/>
                </a:solidFill>
                <a:latin typeface="Microsoft YaHei"/>
              </a:rPr>
              <a:t>checkpoint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0648" y="3374135"/>
            <a:ext cx="312724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40" b="0">
                <a:solidFill>
                  <a:srgbClr val="1F1F1F"/>
                </a:solidFill>
                <a:latin typeface="Microsoft YaHei"/>
              </a:rPr>
              <a:t>记录接受行与上下文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50992" y="3950208"/>
            <a:ext cx="51663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15584" y="3995928"/>
            <a:ext cx="157276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004A84"/>
                </a:solidFill>
                <a:latin typeface="Microsoft YaHei"/>
              </a:rPr>
              <a:t>commit / rewrite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8" y="3995928"/>
            <a:ext cx="312724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40" b="0">
                <a:solidFill>
                  <a:srgbClr val="1F1F1F"/>
                </a:solidFill>
                <a:latin typeface="Microsoft YaHei"/>
              </a:rPr>
              <a:t>生成 Notes 与生命周期事件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50992" y="4572000"/>
            <a:ext cx="51663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15584" y="4617720"/>
            <a:ext cx="157276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004A84"/>
                </a:solidFill>
                <a:latin typeface="Microsoft YaHei"/>
              </a:rPr>
              <a:t>后台统计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4617720"/>
            <a:ext cx="312724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40" b="0">
                <a:solidFill>
                  <a:srgbClr val="1F1F1F"/>
                </a:solidFill>
                <a:latin typeface="Microsoft YaHei"/>
              </a:rPr>
              <a:t>与其他 Agent 进入同一口径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38328" y="0"/>
            <a:ext cx="11521440" cy="8778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Kilo v5 与 Git AI 共存：场景与支持边界</a:t>
            </a:r>
          </a:p>
        </p:txBody>
      </p:sp>
      <p:sp>
        <p:nvSpPr>
          <p:cNvPr id="3" name="页面导语"/>
          <p:cNvSpPr txBox="1"/>
          <p:nvPr/>
        </p:nvSpPr>
        <p:spPr>
          <a:xfrm>
            <a:off x="475488" y="832104"/>
            <a:ext cx="1101852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>
                <a:solidFill>
                  <a:srgbClr val="00518E"/>
                </a:solidFill>
                <a:latin typeface="Microsoft YaHei"/>
                <a:ea typeface="微软雅黑"/>
                <a:cs typeface="Microsoft YaHei"/>
              </a:rPr>
              <a:t>两套链路会独立观察 commit；代码统计是否偏差，取决于双方是否认领同一最终代码行。</a:t>
            </a:r>
          </a:p>
        </p:txBody>
      </p:sp>
      <p:sp>
        <p:nvSpPr>
          <p:cNvPr id="4" name="左侧场景面板"/>
          <p:cNvSpPr/>
          <p:nvPr/>
        </p:nvSpPr>
        <p:spPr>
          <a:xfrm>
            <a:off x="502920" y="1325880"/>
            <a:ext cx="5376672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5" name="左侧蓝色标记"/>
          <p:cNvSpPr/>
          <p:nvPr/>
        </p:nvSpPr>
        <p:spPr>
          <a:xfrm>
            <a:off x="502920" y="1325880"/>
            <a:ext cx="64008" cy="4389120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6" name="左侧标题"/>
          <p:cNvSpPr txBox="1"/>
          <p:nvPr/>
        </p:nvSpPr>
        <p:spPr>
          <a:xfrm>
            <a:off x="685800" y="1444752"/>
            <a:ext cx="504748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50" b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三类提交场景</a:t>
            </a:r>
          </a:p>
        </p:txBody>
      </p:sp>
      <p:sp>
        <p:nvSpPr>
          <p:cNvPr id="7" name="左侧场景内容"/>
          <p:cNvSpPr txBox="1"/>
          <p:nvPr/>
        </p:nvSpPr>
        <p:spPr>
          <a:xfrm>
            <a:off x="685800" y="1856231"/>
            <a:ext cx="5029200" cy="374903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80" b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① 仅 Kilo v5 写入</a:t>
            </a:r>
            <a:r>
              <a:rPr sz="1280" b="1">
                <a:solidFill>
                  <a:srgbClr val="2E7D32"/>
                </a:solidFill>
                <a:latin typeface="Microsoft YaHei"/>
                <a:ea typeface="微软雅黑"/>
                <a:cs typeface="Microsoft YaHei"/>
              </a:rPr>
              <a:t>｜完全支持</a:t>
            </a:r>
          </a:p>
          <a:p>
            <a:pPr algn="l">
              <a:lnSpc>
                <a:spcPct val="125000"/>
              </a:lnSpc>
            </a:pPr>
            <a:r>
              <a:rPr sz="1160">
                <a:solidFill>
                  <a:srgbClr val="111111"/>
                </a:solidFill>
                <a:latin typeface="Microsoft YaHei"/>
                <a:ea typeface="微软雅黑"/>
                <a:cs typeface="Microsoft YaHei"/>
              </a:rPr>
              <a:t>Kilo v5 形成候选与提交事实；Git AI 没有对应 AI 行。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  <a:ea typeface="微软雅黑"/>
                <a:cs typeface="Microsoft YaHei"/>
              </a:rPr>
              <a:t>结果：</a:t>
            </a:r>
            <a:r>
              <a:rPr sz="1160">
                <a:solidFill>
                  <a:srgbClr val="111111"/>
                </a:solidFill>
                <a:latin typeface="Microsoft YaHei"/>
                <a:ea typeface="微软雅黑"/>
                <a:cs typeface="Microsoft YaHei"/>
              </a:rPr>
              <a:t>Token、接受和入库按 v5 链路统计。</a:t>
            </a:r>
          </a:p>
          <a:p>
            <a:pPr algn="l">
              <a:lnSpc>
                <a:spcPct val="125000"/>
              </a:lnSpc>
            </a:pPr>
            <a:r>
              <a:rPr sz="1280" b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② 仅 Git AI 系列 Agent 写入</a:t>
            </a:r>
            <a:r>
              <a:rPr sz="1280" b="1">
                <a:solidFill>
                  <a:srgbClr val="2E7D32"/>
                </a:solidFill>
                <a:latin typeface="Microsoft YaHei"/>
                <a:ea typeface="微软雅黑"/>
                <a:cs typeface="Microsoft YaHei"/>
              </a:rPr>
              <a:t>｜完全支持</a:t>
            </a:r>
          </a:p>
          <a:p>
            <a:pPr algn="l">
              <a:lnSpc>
                <a:spcPct val="125000"/>
              </a:lnSpc>
            </a:pPr>
            <a:r>
              <a:rPr sz="1160">
                <a:solidFill>
                  <a:srgbClr val="111111"/>
                </a:solidFill>
                <a:latin typeface="Microsoft YaHei"/>
                <a:ea typeface="微软雅黑"/>
                <a:cs typeface="Microsoft YaHei"/>
              </a:rPr>
              <a:t>Codex、Claude Code、Kilo v7 等由 Git AI 记录；v5 没有候选行。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  <a:ea typeface="微软雅黑"/>
                <a:cs typeface="Microsoft YaHei"/>
              </a:rPr>
              <a:t>结果：</a:t>
            </a:r>
            <a:r>
              <a:rPr sz="1160">
                <a:solidFill>
                  <a:srgbClr val="111111"/>
                </a:solidFill>
                <a:latin typeface="Microsoft YaHei"/>
                <a:ea typeface="微软雅黑"/>
                <a:cs typeface="Microsoft YaHei"/>
              </a:rPr>
              <a:t>按 Git AI 链路统计，单链路口径准确。</a:t>
            </a:r>
          </a:p>
          <a:p>
            <a:pPr algn="l">
              <a:lnSpc>
                <a:spcPct val="125000"/>
              </a:lnSpc>
            </a:pPr>
            <a:r>
              <a:rPr sz="1280" b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③ Kilo v5 + Git AI 混合写入</a:t>
            </a:r>
            <a:r>
              <a:rPr sz="1280" b="1">
                <a:solidFill>
                  <a:srgbClr val="B26A00"/>
                </a:solidFill>
                <a:latin typeface="Microsoft YaHei"/>
                <a:ea typeface="微软雅黑"/>
                <a:cs typeface="Microsoft YaHei"/>
              </a:rPr>
              <a:t>｜有限支持</a:t>
            </a:r>
          </a:p>
          <a:p>
            <a:pPr algn="l">
              <a:lnSpc>
                <a:spcPct val="125000"/>
              </a:lnSpc>
            </a:pPr>
            <a:r>
              <a:rPr sz="1160">
                <a:solidFill>
                  <a:srgbClr val="111111"/>
                </a:solidFill>
                <a:latin typeface="Microsoft YaHei"/>
                <a:ea typeface="微软雅黑"/>
                <a:cs typeface="Microsoft YaHei"/>
              </a:rPr>
              <a:t>不同最终行分别统计，结果正确。</a:t>
            </a:r>
          </a:p>
          <a:p>
            <a:pPr algn="l">
              <a:lnSpc>
                <a:spcPct val="125000"/>
              </a:lnSpc>
            </a:pPr>
            <a:r>
              <a:rPr sz="1160">
                <a:solidFill>
                  <a:srgbClr val="111111"/>
                </a:solidFill>
                <a:latin typeface="Microsoft YaHei"/>
                <a:ea typeface="微软雅黑"/>
                <a:cs typeface="Microsoft YaHei"/>
              </a:rPr>
              <a:t>同一最终行被双方认领时，入库行数可能重复。</a:t>
            </a:r>
          </a:p>
        </p:txBody>
      </p:sp>
      <p:sp>
        <p:nvSpPr>
          <p:cNvPr id="8" name="右侧口径面板"/>
          <p:cNvSpPr/>
          <p:nvPr/>
        </p:nvSpPr>
        <p:spPr>
          <a:xfrm>
            <a:off x="6108192" y="1325880"/>
            <a:ext cx="5504688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9" name="右侧琥珀标记"/>
          <p:cNvSpPr/>
          <p:nvPr/>
        </p:nvSpPr>
        <p:spPr>
          <a:xfrm>
            <a:off x="6108192" y="1325880"/>
            <a:ext cx="64008" cy="4389120"/>
          </a:xfrm>
          <a:prstGeom prst="rect">
            <a:avLst/>
          </a:prstGeom>
          <a:solidFill>
            <a:srgbClr val="D6B656"/>
          </a:solidFill>
          <a:ln>
            <a:solidFill>
              <a:srgbClr val="D6B656"/>
            </a:solidFill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10" name="右侧标题"/>
          <p:cNvSpPr txBox="1"/>
          <p:nvPr/>
        </p:nvSpPr>
        <p:spPr>
          <a:xfrm>
            <a:off x="6291072" y="1444752"/>
            <a:ext cx="5175503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50" b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过渡期支持口径</a:t>
            </a:r>
          </a:p>
        </p:txBody>
      </p:sp>
      <p:sp>
        <p:nvSpPr>
          <p:cNvPr id="11" name="右侧口径内容"/>
          <p:cNvSpPr txBox="1"/>
          <p:nvPr/>
        </p:nvSpPr>
        <p:spPr>
          <a:xfrm>
            <a:off x="6291072" y="1856231"/>
            <a:ext cx="5157216" cy="374903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60" b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① 主线选择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40">
                <a:solidFill>
                  <a:srgbClr val="111111"/>
                </a:solidFill>
                <a:latin typeface="Microsoft YaHei"/>
                <a:ea typeface="微软雅黑"/>
                <a:cs typeface="Microsoft YaHei"/>
              </a:rPr>
              <a:t>Git AI 作为后续主链路；Kilo v5 逐步退出。</a:t>
            </a:r>
          </a:p>
          <a:p>
            <a:pPr algn="l">
              <a:lnSpc>
                <a:spcPct val="125000"/>
              </a:lnSpc>
            </a:pPr>
            <a:r>
              <a:rPr sz="1260" b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② 去重范围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40">
                <a:solidFill>
                  <a:srgbClr val="111111"/>
                </a:solidFill>
                <a:latin typeface="Microsoft YaHei"/>
                <a:ea typeface="微软雅黑"/>
                <a:cs typeface="Microsoft YaHei"/>
              </a:rPr>
              <a:t>本期不建设跨来源逐行去重，接受低频混合场景的少量偏差。</a:t>
            </a:r>
          </a:p>
          <a:p>
            <a:pPr algn="l">
              <a:lnSpc>
                <a:spcPct val="125000"/>
              </a:lnSpc>
            </a:pPr>
            <a:r>
              <a:rPr sz="1260" b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③ 指标口径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40">
                <a:solidFill>
                  <a:srgbClr val="111111"/>
                </a:solidFill>
                <a:latin typeface="Microsoft YaHei"/>
                <a:ea typeface="微软雅黑"/>
                <a:cs typeface="Microsoft YaHei"/>
              </a:rPr>
              <a:t>Token、生成/接受按实际调用和编辑过程分别统计；仅最终入库行重叠存在偏差。</a:t>
            </a:r>
          </a:p>
          <a:p>
            <a:pPr algn="l">
              <a:lnSpc>
                <a:spcPct val="125000"/>
              </a:lnSpc>
            </a:pPr>
            <a:r>
              <a:rPr sz="1260" b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④ 生命周期底线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40">
                <a:solidFill>
                  <a:srgbClr val="111111"/>
                </a:solidFill>
                <a:latin typeface="Microsoft YaHei"/>
                <a:ea typeface="微软雅黑"/>
                <a:cs typeface="Microsoft YaHei"/>
              </a:rPr>
              <a:t>commit / amend 可保留两条来源明细，但一次业务状态变更只能生效一次。</a:t>
            </a:r>
          </a:p>
          <a:p>
            <a:pPr algn="l">
              <a:lnSpc>
                <a:spcPct val="125000"/>
              </a:lnSpc>
            </a:pPr>
            <a:r>
              <a:rPr sz="1260" b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⑤ 适用边界</a:t>
            </a:r>
          </a:p>
          <a:p>
            <a:pPr algn="l">
              <a:lnSpc>
                <a:spcPct val="125000"/>
              </a:lnSpc>
            </a:pPr>
            <a:r>
              <a:rPr sz="1140">
                <a:solidFill>
                  <a:srgbClr val="111111"/>
                </a:solidFill>
                <a:latin typeface="Microsoft YaHei"/>
                <a:ea typeface="微软雅黑"/>
                <a:cs typeface="Microsoft YaHei"/>
              </a:rPr>
              <a:t>用于趋势与运营观察；不用于要求唯一行精度的结算或强审计。</a:t>
            </a:r>
          </a:p>
        </p:txBody>
      </p:sp>
      <p:sp>
        <p:nvSpPr>
          <p:cNvPr id="12" name="结论条"/>
          <p:cNvSpPr/>
          <p:nvPr/>
        </p:nvSpPr>
        <p:spPr>
          <a:xfrm>
            <a:off x="502920" y="5925312"/>
            <a:ext cx="11109960" cy="384048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8DC5E8"/>
            </a:solidFill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13" name="结论文字"/>
          <p:cNvSpPr txBox="1"/>
          <p:nvPr/>
        </p:nvSpPr>
        <p:spPr>
          <a:xfrm>
            <a:off x="713232" y="5971032"/>
            <a:ext cx="10698480" cy="265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70" b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支持结论：单链路完全支持；混合提交有限支持。当前接受少量重叠偏差，优先保障 Git AI 主链路演进。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18288"/>
            <a:ext cx="6837792" cy="768096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 noProof="1">
                <a:solidFill>
                  <a:srgbClr val="0062AC"/>
                </a:solidFill>
                <a:latin typeface="Microsoft YaHei"/>
                <a:ea typeface="Microsoft YaHei"/>
                <a:cs typeface="Microsoft YaHei"/>
              </a:rPr>
              <a:t>Git 生命周期归因：原生支持与后台闭环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66448"/>
            <a:ext cx="1115568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Git AI 本地支持 </a:t>
            </a:r>
            <a:r>
              <a:rPr lang="en-US" altLang="zh-CN" sz="1350" b="0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Git</a:t>
            </a:r>
            <a:r>
              <a:rPr lang="zh-CN" altLang="en-US" sz="1350" b="0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sz="1350" b="0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Notes 随历史改写迁移；我们补齐生命周期上报、候选替换与目标分支确认。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220952"/>
              </p:ext>
            </p:extLst>
          </p:nvPr>
        </p:nvGraphicFramePr>
        <p:xfrm>
          <a:off x="384048" y="1556792"/>
          <a:ext cx="7818120" cy="4151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1" noProof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生命周期</a:t>
                      </a:r>
                    </a:p>
                  </a:txBody>
                  <a:tcPr marL="82296" marR="73152" marT="36576" marB="36576" anchor="ctr">
                    <a:solidFill>
                      <a:srgbClr val="0062A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1" noProof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AI 本地如何支持</a:t>
                      </a:r>
                    </a:p>
                  </a:txBody>
                  <a:tcPr marL="82296" marR="73152" marT="36576" marB="36576" anchor="ctr">
                    <a:solidFill>
                      <a:srgbClr val="0062A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 noProof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二开上报逻辑</a:t>
                      </a:r>
                      <a:endParaRPr lang="zh-CN" sz="1200" b="1" noProof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2296" marR="73152" marT="36576" marB="36576" anchor="ctr">
                    <a:solidFill>
                      <a:srgbClr val="0062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49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80" b="1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commit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checkpoint 汇总为提交级 </a:t>
                      </a:r>
                      <a:r>
                        <a:rPr lang="en-US" alt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N</a:t>
                      </a:r>
                      <a:r>
                        <a:rPr 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ote</a:t>
                      </a:r>
                      <a:r>
                        <a:rPr lang="en-US" alt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s</a:t>
                      </a:r>
                      <a:r>
                        <a:rPr 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，绑定最终 SHA。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zh-CN" sz="1100" dirty="0"/>
                        <a:t>本地落盘后异步上报提交事实；失败保留队列重试。</a:t>
                      </a:r>
                      <a:endParaRPr lang="zh-CN" sz="1080" b="0" noProof="1">
                        <a:solidFill>
                          <a:srgbClr val="111111"/>
                        </a:solidFill>
                        <a:latin typeface="+mn-lt"/>
                        <a:ea typeface="Microsoft YaHei"/>
                        <a:cs typeface="Microsoft YaHei"/>
                      </a:endParaRP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49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80" b="1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amend</a:t>
                      </a:r>
                    </a:p>
                  </a:txBody>
                  <a:tcPr marL="82296" marR="73152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生成新 SHA，迁移或重建 Notes；最终 </a:t>
                      </a:r>
                      <a:r>
                        <a:rPr lang="en-US" alt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Notes</a:t>
                      </a:r>
                      <a:r>
                        <a:rPr 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 包含追加编辑。</a:t>
                      </a:r>
                    </a:p>
                  </a:txBody>
                  <a:tcPr marL="82296" marR="73152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zh-CN" sz="1100" dirty="0"/>
                        <a:t>上报替换关系，旧候选标记为被替换，新提交成为候选。</a:t>
                      </a:r>
                      <a:endParaRPr lang="zh-CN" sz="1080" b="0" noProof="1">
                        <a:solidFill>
                          <a:srgbClr val="111111"/>
                        </a:solidFill>
                        <a:latin typeface="+mn-lt"/>
                        <a:ea typeface="Microsoft YaHei"/>
                        <a:cs typeface="Microsoft YaHei"/>
                      </a:endParaRPr>
                    </a:p>
                  </a:txBody>
                  <a:tcPr marL="82296" marR="73152" marT="36576" marB="36576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49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80" b="1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rebase /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80" b="1" kern="1200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</a:rPr>
                        <a:t>交互式 </a:t>
                      </a:r>
                      <a:r>
                        <a:rPr lang="en-US" altLang="zh-CN" sz="1080" b="1" kern="1200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</a:rPr>
                        <a:t>squash</a:t>
                      </a:r>
                      <a:endParaRPr lang="zh-CN" altLang="en-US" sz="1080" b="1" kern="1200" noProof="1">
                        <a:solidFill>
                          <a:srgbClr val="213261"/>
                        </a:solidFill>
                        <a:latin typeface="+mn-lt"/>
                        <a:ea typeface="Microsoft YaHei"/>
                      </a:endParaRP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按旧、新提交映射迁移 Notes；旧提交被重写后的提交替代。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zh-CN" sz="1100" dirty="0"/>
                        <a:t>上报替换关系，旧候选标记为被替换，新提交成为候选。</a:t>
                      </a:r>
                      <a:endParaRPr lang="zh-CN" sz="1080" b="1" noProof="1">
                        <a:solidFill>
                          <a:srgbClr val="111111"/>
                        </a:solidFill>
                        <a:latin typeface="+mn-lt"/>
                        <a:ea typeface="Microsoft YaHei"/>
                        <a:cs typeface="Microsoft YaHei"/>
                      </a:endParaRP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49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80" b="1" kern="1200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  <a:cs typeface="+mn-cs"/>
                        </a:rPr>
                        <a:t>cherry-pick / revert /</a:t>
                      </a:r>
                      <a:r>
                        <a:rPr lang="zh-CN" altLang="en-US" sz="1080" b="1" kern="1200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  <a:cs typeface="+mn-cs"/>
                        </a:rPr>
                        <a:t> </a:t>
                      </a:r>
                      <a:r>
                        <a:rPr lang="en-US" altLang="zh-CN" sz="1080" b="1" kern="1200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  <a:cs typeface="+mn-cs"/>
                        </a:rPr>
                        <a:t>squash merge</a:t>
                      </a:r>
                      <a:endParaRPr lang="zh-CN" altLang="en-US" sz="1080" b="1" kern="1200" noProof="1">
                        <a:solidFill>
                          <a:srgbClr val="213261"/>
                        </a:solidFill>
                        <a:latin typeface="+mn-lt"/>
                        <a:ea typeface="Microsoft YaHei"/>
                        <a:cs typeface="+mn-cs"/>
                      </a:endParaRPr>
                    </a:p>
                  </a:txBody>
                  <a:tcPr marL="82296" marR="73152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产生新提交并独立生成归因；源提交仍然有效。</a:t>
                      </a:r>
                    </a:p>
                  </a:txBody>
                  <a:tcPr marL="82296" marR="73152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zh-CN" sz="1100" dirty="0"/>
                        <a:t>只作为新提交上报，不会错误废弃源提交。</a:t>
                      </a:r>
                      <a:endParaRPr lang="zh-CN" sz="1080" b="0" noProof="1">
                        <a:solidFill>
                          <a:srgbClr val="111111"/>
                        </a:solidFill>
                        <a:latin typeface="+mn-lt"/>
                        <a:ea typeface="Microsoft YaHei"/>
                        <a:cs typeface="Microsoft YaHei"/>
                      </a:endParaRPr>
                    </a:p>
                  </a:txBody>
                  <a:tcPr marL="82296" marR="73152" marT="36576" marB="36576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49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80" b="1" kern="1200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  <a:cs typeface="+mn-cs"/>
                        </a:rPr>
                        <a:t>reset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80" b="1" kern="1200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  <a:cs typeface="+mn-cs"/>
                        </a:rPr>
                        <a:t>后退 </a:t>
                      </a:r>
                      <a:r>
                        <a:rPr lang="en-US" altLang="zh-CN" sz="1080" b="1" kern="1200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  <a:cs typeface="+mn-cs"/>
                        </a:rPr>
                        <a:t>/ </a:t>
                      </a:r>
                      <a:r>
                        <a:rPr lang="zh-CN" altLang="en-US" sz="1080" b="1" kern="1200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  <a:cs typeface="+mn-cs"/>
                        </a:rPr>
                        <a:t>恢复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本地状态随分支指针变化保留或重建归因。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zh-CN" sz="1100"/>
                        <a:t>上报指针迁移：回退废弃旧侧未确认候选；前进可恢复此前因 reset 废弃的候选。路径级 reset 不触发。</a:t>
                      </a:r>
                      <a:endParaRPr lang="zh-CN" sz="1080" b="0" noProof="1">
                        <a:solidFill>
                          <a:srgbClr val="111111"/>
                        </a:solidFill>
                        <a:latin typeface="+mn-lt"/>
                        <a:ea typeface="Microsoft YaHei"/>
                        <a:cs typeface="Microsoft YaHei"/>
                      </a:endParaRP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485632" y="1556792"/>
            <a:ext cx="3328416" cy="4151376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noProof="1"/>
          </a:p>
        </p:txBody>
      </p:sp>
      <p:sp>
        <p:nvSpPr>
          <p:cNvPr id="6" name="TextBox 5"/>
          <p:cNvSpPr txBox="1"/>
          <p:nvPr/>
        </p:nvSpPr>
        <p:spPr>
          <a:xfrm>
            <a:off x="8695944" y="1712483"/>
            <a:ext cx="2907792" cy="264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我们接通的统计闭环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2087144"/>
            <a:ext cx="292608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noProof="1"/>
          </a:p>
        </p:txBody>
      </p:sp>
      <p:sp>
        <p:nvSpPr>
          <p:cNvPr id="8" name="Oval 7"/>
          <p:cNvSpPr/>
          <p:nvPr/>
        </p:nvSpPr>
        <p:spPr>
          <a:xfrm>
            <a:off x="8796528" y="2196872"/>
            <a:ext cx="265176" cy="265176"/>
          </a:xfrm>
          <a:prstGeom prst="ellipse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71432" y="2207124"/>
            <a:ext cx="12618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9" y="2221070"/>
            <a:ext cx="1234440" cy="1893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30" b="0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记录编辑事实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2672360"/>
            <a:ext cx="292608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noProof="1"/>
          </a:p>
        </p:txBody>
      </p:sp>
      <p:sp>
        <p:nvSpPr>
          <p:cNvPr id="12" name="Oval 11"/>
          <p:cNvSpPr/>
          <p:nvPr/>
        </p:nvSpPr>
        <p:spPr>
          <a:xfrm>
            <a:off x="8796528" y="2782088"/>
            <a:ext cx="265176" cy="265176"/>
          </a:xfrm>
          <a:prstGeom prst="ellipse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245" y="2653732"/>
            <a:ext cx="1261872" cy="460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commit </a:t>
            </a:r>
            <a:endParaRPr lang="en-US" altLang="zh-CN" sz="1060" b="1" noProof="1">
              <a:solidFill>
                <a:srgbClr val="21326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/ rewrite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9" y="2806287"/>
            <a:ext cx="1234440" cy="1893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30" b="0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生成最终 Notes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3257576"/>
            <a:ext cx="292608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noProof="1"/>
          </a:p>
        </p:txBody>
      </p:sp>
      <p:sp>
        <p:nvSpPr>
          <p:cNvPr id="16" name="Oval 15"/>
          <p:cNvSpPr/>
          <p:nvPr/>
        </p:nvSpPr>
        <p:spPr>
          <a:xfrm>
            <a:off x="8796528" y="3367304"/>
            <a:ext cx="265176" cy="265176"/>
          </a:xfrm>
          <a:prstGeom prst="ellipse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5963" y="3376447"/>
            <a:ext cx="12618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持久上传队列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9" y="3391502"/>
            <a:ext cx="1234440" cy="1893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30" b="0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顺序入队 · 断网补传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3842792"/>
            <a:ext cx="292608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noProof="1"/>
          </a:p>
        </p:txBody>
      </p:sp>
      <p:sp>
        <p:nvSpPr>
          <p:cNvPr id="20" name="Oval 19"/>
          <p:cNvSpPr/>
          <p:nvPr/>
        </p:nvSpPr>
        <p:spPr>
          <a:xfrm>
            <a:off x="8796528" y="3952520"/>
            <a:ext cx="265176" cy="265176"/>
          </a:xfrm>
          <a:prstGeom prst="ellipse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3973120"/>
            <a:ext cx="12618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后台候选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9" y="3869382"/>
            <a:ext cx="1234440" cy="4040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30" b="0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旧候选失效 · 新候选建立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4428008"/>
            <a:ext cx="292608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noProof="1"/>
          </a:p>
        </p:txBody>
      </p:sp>
      <p:sp>
        <p:nvSpPr>
          <p:cNvPr id="24" name="Oval 23"/>
          <p:cNvSpPr/>
          <p:nvPr/>
        </p:nvSpPr>
        <p:spPr>
          <a:xfrm>
            <a:off x="8796528" y="4537736"/>
            <a:ext cx="265176" cy="265176"/>
          </a:xfrm>
          <a:prstGeom prst="ellipse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245" y="4546879"/>
            <a:ext cx="12618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目标分支确认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19" y="4561934"/>
            <a:ext cx="1234440" cy="1893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30" b="0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确认后进入统一统计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5013223"/>
            <a:ext cx="2926080" cy="530352"/>
          </a:xfrm>
          <a:prstGeom prst="roundRect">
            <a:avLst/>
          </a:prstGeom>
          <a:solidFill>
            <a:srgbClr val="E8F5F1"/>
          </a:solidFill>
          <a:ln w="12700">
            <a:solidFill>
              <a:srgbClr val="188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36576" rIns="118872" bIns="36576" rtlCol="0" anchor="ctr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30" b="1" noProof="1">
                <a:solidFill>
                  <a:srgbClr val="18836A"/>
                </a:solidFill>
                <a:latin typeface="Microsoft YaHei"/>
                <a:ea typeface="Microsoft YaHei"/>
                <a:cs typeface="Microsoft YaHei"/>
              </a:rPr>
              <a:t>amend 示例：100 + 50 → 新 SHA 最终 150</a:t>
            </a:r>
            <a:r>
              <a:rPr lang="zh-CN" altLang="en-US" sz="1030" b="1" noProof="1">
                <a:solidFill>
                  <a:srgbClr val="18836A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sz="1030" b="1" noProof="1">
                <a:solidFill>
                  <a:srgbClr val="18836A"/>
                </a:solidFill>
                <a:latin typeface="Microsoft YaHei"/>
                <a:ea typeface="Microsoft YaHei"/>
                <a:cs typeface="Microsoft YaHei"/>
              </a:rPr>
              <a:t>后台计 150，不计 100 + 150 = 250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7442" y="5943600"/>
            <a:ext cx="10570464" cy="438912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zh-CN" sz="1040" noProof="1">
                <a:solidFill>
                  <a:srgbClr val="213261"/>
                </a:solidFill>
                <a:ea typeface="Microsoft YaHei"/>
              </a:rPr>
              <a:t>边界：已确认进入目标分支的旧提交，不由开发者本地 amend / reset 直接反扣；正式修正以服务端目标分支真实历史为准。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29184" y="155448"/>
            <a:ext cx="9829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8345D"/>
                </a:solidFill>
                <a:latin typeface="Microsoft YaHei"/>
              </a:rPr>
              <a:t>离线交付与上游维护：把二开做成可重复发布</a:t>
            </a:r>
          </a:p>
        </p:txBody>
      </p:sp>
      <p:sp>
        <p:nvSpPr>
          <p:cNvPr id="3" name="页面导语"/>
          <p:cNvSpPr txBox="1"/>
          <p:nvPr/>
        </p:nvSpPr>
        <p:spPr>
          <a:xfrm>
            <a:off x="384048" y="841248"/>
            <a:ext cx="1065276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8345D"/>
                </a:solidFill>
                <a:latin typeface="Microsoft YaHei"/>
              </a:rPr>
              <a:t>当前自有分支已融合 upstream/main 1.6.16，并产出可复核离线包。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81328"/>
            <a:ext cx="199339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9224" y="1627632"/>
            <a:ext cx="384048" cy="384048"/>
          </a:xfrm>
          <a:prstGeom prst="ellipse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1655064"/>
            <a:ext cx="38404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600200"/>
            <a:ext cx="1243584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30" b="1">
                <a:solidFill>
                  <a:srgbClr val="18345D"/>
                </a:solidFill>
                <a:latin typeface="Microsoft YaHei"/>
              </a:rPr>
              <a:t>上游基线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03120"/>
            <a:ext cx="1664208" cy="2404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3000"/>
              </a:lnSpc>
              <a:spcAft>
                <a:spcPts val="0"/>
              </a:spcAft>
            </a:pPr>
            <a:r>
              <a:rPr sz="1220" b="0">
                <a:solidFill>
                  <a:srgbClr val="1F1F1F"/>
                </a:solidFill>
                <a:latin typeface="Microsoft YaHei"/>
              </a:rPr>
              <a:t>1.6.16</a:t>
            </a:r>
          </a:p>
          <a:p>
            <a:pPr algn="l">
              <a:lnSpc>
                <a:spcPct val="123000"/>
              </a:lnSpc>
              <a:spcAft>
                <a:spcPts val="0"/>
              </a:spcAft>
            </a:pPr>
            <a:r>
              <a:rPr sz="1220" b="0">
                <a:solidFill>
                  <a:srgbClr val="1F1F1F"/>
                </a:solidFill>
                <a:latin typeface="Microsoft YaHei"/>
              </a:rPr>
              <a:t>融合 53 个上游提交</a:t>
            </a:r>
          </a:p>
        </p:txBody>
      </p:sp>
      <p:sp>
        <p:nvSpPr>
          <p:cNvPr id="9" name="Chevron 8"/>
          <p:cNvSpPr/>
          <p:nvPr/>
        </p:nvSpPr>
        <p:spPr>
          <a:xfrm>
            <a:off x="2523744" y="2907792"/>
            <a:ext cx="246888" cy="301752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70632" y="1481328"/>
            <a:ext cx="199339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916936" y="1627632"/>
            <a:ext cx="384048" cy="384048"/>
          </a:xfrm>
          <a:prstGeom prst="ellipse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16936" y="1655064"/>
            <a:ext cx="38404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424" y="1600200"/>
            <a:ext cx="1243584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30" b="1">
                <a:solidFill>
                  <a:srgbClr val="18345D"/>
                </a:solidFill>
                <a:latin typeface="Microsoft YaHei"/>
              </a:rPr>
              <a:t>冲突融合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2103120"/>
            <a:ext cx="1664208" cy="2404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3000"/>
              </a:lnSpc>
              <a:spcAft>
                <a:spcPts val="0"/>
              </a:spcAft>
            </a:pPr>
            <a:r>
              <a:rPr sz="1220" b="0">
                <a:solidFill>
                  <a:srgbClr val="1F1F1F"/>
                </a:solidFill>
                <a:latin typeface="Microsoft YaHei"/>
              </a:rPr>
              <a:t>rewrite 流式解析</a:t>
            </a:r>
          </a:p>
          <a:p>
            <a:pPr algn="l">
              <a:lnSpc>
                <a:spcPct val="123000"/>
              </a:lnSpc>
              <a:spcAft>
                <a:spcPts val="0"/>
              </a:spcAft>
            </a:pPr>
            <a:r>
              <a:rPr sz="1220" b="0">
                <a:solidFill>
                  <a:srgbClr val="1F1F1F"/>
                </a:solidFill>
                <a:latin typeface="Microsoft YaHei"/>
              </a:rPr>
              <a:t>保留 hunks 采集</a:t>
            </a:r>
          </a:p>
        </p:txBody>
      </p:sp>
      <p:sp>
        <p:nvSpPr>
          <p:cNvPr id="15" name="Chevron 14"/>
          <p:cNvSpPr/>
          <p:nvPr/>
        </p:nvSpPr>
        <p:spPr>
          <a:xfrm>
            <a:off x="4791456" y="2907792"/>
            <a:ext cx="246888" cy="301752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38344" y="1481328"/>
            <a:ext cx="199339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184648" y="1627632"/>
            <a:ext cx="384048" cy="384048"/>
          </a:xfrm>
          <a:prstGeom prst="ellipse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84648" y="1655064"/>
            <a:ext cx="38404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0136" y="1600200"/>
            <a:ext cx="1243584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30" b="1">
                <a:solidFill>
                  <a:srgbClr val="18345D"/>
                </a:solidFill>
                <a:latin typeface="Microsoft YaHei"/>
              </a:rPr>
              <a:t>跨平台构建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2936" y="2103120"/>
            <a:ext cx="1664208" cy="2404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3000"/>
              </a:lnSpc>
              <a:spcAft>
                <a:spcPts val="0"/>
              </a:spcAft>
            </a:pPr>
            <a:r>
              <a:rPr sz="1220" b="0">
                <a:solidFill>
                  <a:srgbClr val="1F1F1F"/>
                </a:solidFill>
                <a:latin typeface="Microsoft YaHei"/>
              </a:rPr>
              <a:t>Windows x64</a:t>
            </a:r>
          </a:p>
          <a:p>
            <a:pPr algn="l">
              <a:lnSpc>
                <a:spcPct val="123000"/>
              </a:lnSpc>
              <a:spcAft>
                <a:spcPts val="0"/>
              </a:spcAft>
            </a:pPr>
            <a:r>
              <a:rPr sz="1220" b="0">
                <a:solidFill>
                  <a:srgbClr val="1F1F1F"/>
                </a:solidFill>
                <a:latin typeface="Microsoft YaHei"/>
              </a:rPr>
              <a:t>Linux x64 / ARM64</a:t>
            </a:r>
          </a:p>
        </p:txBody>
      </p:sp>
      <p:sp>
        <p:nvSpPr>
          <p:cNvPr id="21" name="Chevron 20"/>
          <p:cNvSpPr/>
          <p:nvPr/>
        </p:nvSpPr>
        <p:spPr>
          <a:xfrm>
            <a:off x="7059168" y="2907792"/>
            <a:ext cx="246888" cy="301752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06055" y="1481328"/>
            <a:ext cx="199339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452359" y="1627632"/>
            <a:ext cx="384048" cy="384048"/>
          </a:xfrm>
          <a:prstGeom prst="ellipse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52359" y="1655064"/>
            <a:ext cx="38404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1600200"/>
            <a:ext cx="1243584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30" b="1">
                <a:solidFill>
                  <a:srgbClr val="18345D"/>
                </a:solidFill>
                <a:latin typeface="Microsoft YaHei"/>
              </a:rPr>
              <a:t>插件产物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2103120"/>
            <a:ext cx="1664208" cy="2404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3000"/>
              </a:lnSpc>
              <a:spcAft>
                <a:spcPts val="0"/>
              </a:spcAft>
            </a:pPr>
            <a:r>
              <a:rPr sz="1220" b="0">
                <a:solidFill>
                  <a:srgbClr val="1F1F1F"/>
                </a:solidFill>
                <a:latin typeface="Microsoft YaHei"/>
              </a:rPr>
              <a:t>VS Code VSIX</a:t>
            </a:r>
          </a:p>
          <a:p>
            <a:pPr algn="l">
              <a:lnSpc>
                <a:spcPct val="123000"/>
              </a:lnSpc>
              <a:spcAft>
                <a:spcPts val="0"/>
              </a:spcAft>
            </a:pPr>
            <a:r>
              <a:rPr sz="1220" b="0">
                <a:solidFill>
                  <a:srgbClr val="1F1F1F"/>
                </a:solidFill>
                <a:latin typeface="Microsoft YaHei"/>
              </a:rPr>
              <a:t>JetBrains ZIP</a:t>
            </a:r>
          </a:p>
        </p:txBody>
      </p:sp>
      <p:sp>
        <p:nvSpPr>
          <p:cNvPr id="27" name="Chevron 26"/>
          <p:cNvSpPr/>
          <p:nvPr/>
        </p:nvSpPr>
        <p:spPr>
          <a:xfrm>
            <a:off x="9326880" y="2907792"/>
            <a:ext cx="246888" cy="301752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573768" y="1481328"/>
            <a:ext cx="199339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720072" y="1627632"/>
            <a:ext cx="384048" cy="384048"/>
          </a:xfrm>
          <a:prstGeom prst="ellipse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20072" y="1655064"/>
            <a:ext cx="38404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1600200"/>
            <a:ext cx="1243584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30" b="1">
                <a:solidFill>
                  <a:srgbClr val="18345D"/>
                </a:solidFill>
                <a:latin typeface="Microsoft YaHei"/>
              </a:rPr>
              <a:t>离线校验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2103120"/>
            <a:ext cx="1664208" cy="2404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3000"/>
              </a:lnSpc>
              <a:spcAft>
                <a:spcPts val="0"/>
              </a:spcAft>
            </a:pPr>
            <a:r>
              <a:rPr sz="1220" b="0">
                <a:solidFill>
                  <a:srgbClr val="1F1F1F"/>
                </a:solidFill>
                <a:latin typeface="Microsoft YaHei"/>
              </a:rPr>
              <a:t>根目录 SHA256SUMS</a:t>
            </a:r>
          </a:p>
          <a:p>
            <a:pPr algn="l">
              <a:lnSpc>
                <a:spcPct val="123000"/>
              </a:lnSpc>
              <a:spcAft>
                <a:spcPts val="0"/>
              </a:spcAft>
            </a:pPr>
            <a:r>
              <a:rPr sz="1220" b="0">
                <a:solidFill>
                  <a:srgbClr val="1F1F1F"/>
                </a:solidFill>
                <a:latin typeface="Microsoft YaHei"/>
              </a:rPr>
              <a:t>包内校验和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956048"/>
            <a:ext cx="9966960" cy="640080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9536" y="5084064"/>
            <a:ext cx="9564624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40" b="1">
                <a:solidFill>
                  <a:srgbClr val="18345D"/>
                </a:solidFill>
                <a:latin typeface="Microsoft YaHei"/>
              </a:rPr>
              <a:t>当前结果：离线包校验和已通过。正式发包前仍需完成真实 Windows x64 安装、Hook 与 commit 冒烟。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1874519"/>
            <a:ext cx="11018520" cy="201168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39696"/>
            <a:ext cx="105156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2130552"/>
            <a:ext cx="2743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48840" y="2103120"/>
            <a:ext cx="8138160" cy="6583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后台适配与统计闭环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7128" y="2889504"/>
            <a:ext cx="850392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后台负责幂等接入、轻量投影、最终提交确认、按需代码审计、统一指标和分层留存。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29184" y="155448"/>
            <a:ext cx="9829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8345D"/>
                </a:solidFill>
                <a:latin typeface="Microsoft YaHei"/>
              </a:rPr>
              <a:t>后台适配全链路</a:t>
            </a:r>
          </a:p>
        </p:txBody>
      </p:sp>
      <p:sp>
        <p:nvSpPr>
          <p:cNvPr id="3" name="页面导语"/>
          <p:cNvSpPr txBox="1"/>
          <p:nvPr/>
        </p:nvSpPr>
        <p:spPr>
          <a:xfrm>
            <a:off x="384048" y="841248"/>
            <a:ext cx="1065276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8345D"/>
                </a:solidFill>
                <a:latin typeface="Microsoft YaHei"/>
              </a:rPr>
              <a:t>客户端上报可追溯事实；后台把事实转换为可查询、可确认、可重建的统计结果。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444752"/>
            <a:ext cx="1993392" cy="3529584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1444752"/>
            <a:ext cx="1993392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1499616"/>
            <a:ext cx="170078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70" b="1">
                <a:solidFill>
                  <a:srgbClr val="FFFFFF"/>
                </a:solidFill>
                <a:latin typeface="Microsoft YaHei"/>
              </a:rPr>
              <a:t>Git AI / Kilo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3" y="2011680"/>
            <a:ext cx="1664208" cy="283463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checkpoint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commit / rewrite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Token 日累计快照</a:t>
            </a:r>
          </a:p>
        </p:txBody>
      </p:sp>
      <p:sp>
        <p:nvSpPr>
          <p:cNvPr id="8" name="Chevron 7"/>
          <p:cNvSpPr/>
          <p:nvPr/>
        </p:nvSpPr>
        <p:spPr>
          <a:xfrm>
            <a:off x="2487168" y="2907792"/>
            <a:ext cx="228600" cy="347472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61488" y="1444752"/>
            <a:ext cx="1993392" cy="3529584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61488" y="1444752"/>
            <a:ext cx="1993392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07792" y="1499616"/>
            <a:ext cx="170078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70" b="1">
                <a:solidFill>
                  <a:srgbClr val="FFFFFF"/>
                </a:solidFill>
                <a:latin typeface="Microsoft YaHei"/>
              </a:rPr>
              <a:t>批量接入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011680"/>
            <a:ext cx="1664208" cy="283463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批次与事件幂等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失败可重放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保留处理状态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9744" y="2907792"/>
            <a:ext cx="228600" cy="347472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84064" y="1444752"/>
            <a:ext cx="1993392" cy="3529584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84064" y="1444752"/>
            <a:ext cx="1993392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30368" y="1499616"/>
            <a:ext cx="170078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70" b="1">
                <a:solidFill>
                  <a:srgbClr val="FFFFFF"/>
                </a:solidFill>
                <a:latin typeface="Microsoft YaHei"/>
              </a:rPr>
              <a:t>事件规范化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2011680"/>
            <a:ext cx="1664208" cy="283463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header / payload 分离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组织、用户、仓库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工具、模型、会话</a:t>
            </a:r>
          </a:p>
        </p:txBody>
      </p:sp>
      <p:sp>
        <p:nvSpPr>
          <p:cNvPr id="18" name="Chevron 17"/>
          <p:cNvSpPr/>
          <p:nvPr/>
        </p:nvSpPr>
        <p:spPr>
          <a:xfrm>
            <a:off x="7132320" y="2907792"/>
            <a:ext cx="228600" cy="347472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06640" y="1444752"/>
            <a:ext cx="1993392" cy="3529584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06640" y="1444752"/>
            <a:ext cx="1993392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52944" y="1499616"/>
            <a:ext cx="170078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70" b="1">
                <a:solidFill>
                  <a:srgbClr val="FFFFFF"/>
                </a:solidFill>
                <a:latin typeface="Microsoft YaHei"/>
              </a:rPr>
              <a:t>归因与生命周期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2011680"/>
            <a:ext cx="1664208" cy="283463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候选建立 / 替换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目标分支确认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行级去重</a:t>
            </a:r>
          </a:p>
        </p:txBody>
      </p:sp>
      <p:sp>
        <p:nvSpPr>
          <p:cNvPr id="23" name="Chevron 22"/>
          <p:cNvSpPr/>
          <p:nvPr/>
        </p:nvSpPr>
        <p:spPr>
          <a:xfrm>
            <a:off x="9454896" y="2907792"/>
            <a:ext cx="228600" cy="347472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729216" y="1444752"/>
            <a:ext cx="1993392" cy="3529584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729216" y="1444752"/>
            <a:ext cx="1993392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0" y="1499616"/>
            <a:ext cx="170078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70" b="1">
                <a:solidFill>
                  <a:srgbClr val="FFFFFF"/>
                </a:solidFill>
                <a:latin typeface="Microsoft YaHei"/>
              </a:rPr>
              <a:t>统计与管理端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3808" y="2011680"/>
            <a:ext cx="1664208" cy="283463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日汇总与统一口径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事件明细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提交定位与排障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230368"/>
            <a:ext cx="996696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60" b="1">
                <a:solidFill>
                  <a:srgbClr val="18345D"/>
                </a:solidFill>
                <a:latin typeface="Microsoft YaHei"/>
              </a:rPr>
              <a:t>隐私边界：会话原文只在客户端内存解析，不进入指标库和上传链路；后台仅接收内容无关的 Token 日累计快照，客户端不承担 committed 权威归因。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29184" y="155448"/>
            <a:ext cx="9829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8345D"/>
                </a:solidFill>
                <a:latin typeface="Microsoft YaHei"/>
              </a:rPr>
              <a:t>为了适配 Git AI，后台新增了哪些能力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0352" y="1234440"/>
          <a:ext cx="10789920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26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能力域</a:t>
                      </a:r>
                    </a:p>
                  </a:txBody>
                  <a:tcPr marL="82296" marR="82296" anchor="ctr">
                    <a:solidFill>
                      <a:srgbClr val="0068B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后台适配内容</a:t>
                      </a:r>
                    </a:p>
                  </a:txBody>
                  <a:tcPr marL="82296" marR="82296" anchor="ctr">
                    <a:solidFill>
                      <a:srgbClr val="0068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692"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协议与入库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代码事件继续按事件键幂等并支持失败重放；Token 日累计快照校验后直接写正式日事实。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692"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事件投影</a:t>
                      </a:r>
                    </a:p>
                  </a:txBody>
                  <a:tcPr marL="82296" marR="82296" marT="36576" marB="36576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checkpoint 转接受事实；commit / rewrite 转候选与确认；会话原文不上传，Token 仅投影内容无关的日累计事实。</a:t>
                      </a:r>
                    </a:p>
                  </a:txBody>
                  <a:tcPr marL="82296" marR="82296" marT="36576" marB="36576" anchor="ctr"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692"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统计归因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目标分支最终 commit 确认真实入库；行级去重；生命周期替换；日汇总可由规范账本重建。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692"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现行产品口径</a:t>
                      </a:r>
                    </a:p>
                  </a:txBody>
                  <a:tcPr marL="82296" marR="82296" marT="36576" marB="36576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Git AI 生成行数按接受行数展示，接受率固定为 100%；入库确认仍以目标仓库事实为准。</a:t>
                      </a:r>
                    </a:p>
                  </a:txBody>
                  <a:tcPr marL="82296" marR="82296" marT="36576" marB="36576" anchor="ctr"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692"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管理端页面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左侧拆分“Git AI 明细”和“Kilo 提交明细”；支持用户、模块、事件、状态与 commit 定位。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696"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运维治理</a:t>
                      </a:r>
                    </a:p>
                  </a:txBody>
                  <a:tcPr marL="82296" marR="82296" marT="36576" marB="36576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icrosoft YaHei"/>
                        </a:rPr>
                        <a:t>成功投影 / replay 后清除原始 payload；代码审计仅留 30 天 commit + 内容哈希；Token 正常路径不生成 payload、批次与请求账本。</a:t>
                      </a:r>
                    </a:p>
                  </a:txBody>
                  <a:tcPr marL="82296" marR="82296" marT="36576" marB="36576" anchor="ctr"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29184" y="155448"/>
            <a:ext cx="9829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8345D"/>
                </a:solidFill>
                <a:latin typeface="Microsoft YaHei"/>
              </a:rPr>
              <a:t>事件明细与分层留存策略</a:t>
            </a:r>
          </a:p>
        </p:txBody>
      </p:sp>
      <p:sp>
        <p:nvSpPr>
          <p:cNvPr id="3" name="页面导语"/>
          <p:cNvSpPr txBox="1"/>
          <p:nvPr/>
        </p:nvSpPr>
        <p:spPr>
          <a:xfrm>
            <a:off x="384048" y="841248"/>
            <a:ext cx="1065276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8345D"/>
                </a:solidFill>
                <a:latin typeface="Microsoft YaHei"/>
              </a:rPr>
              <a:t>代码事实长期保留，原始 payload 成功投影后清除；Token 只保留日累计事实，代码审计仅留 30 天轻量哈希证据。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353312"/>
            <a:ext cx="523036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5230368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1408176"/>
            <a:ext cx="4937759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事件明细展示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920240"/>
            <a:ext cx="4901183" cy="35112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80" b="0">
                <a:solidFill>
                  <a:srgbClr val="1F1F1F"/>
                </a:solidFill>
                <a:latin typeface="Microsoft YaHei"/>
              </a:rPr>
              <a:t>• checkpoint：接受行、工具、模型、会话、文件与投影状态。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80" b="0">
              <a:solidFill>
                <a:srgbClr val="1F1F1F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80" b="0">
                <a:solidFill>
                  <a:srgbClr val="1F1F1F"/>
                </a:solidFill>
                <a:latin typeface="Microsoft YaHei"/>
              </a:rPr>
              <a:t>• commit / rewrite：提交、hunk、候选替换、确认与业务状态。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80" b="0">
              <a:solidFill>
                <a:srgbClr val="1F1F1F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80" b="0">
                <a:solidFill>
                  <a:srgbClr val="1F1F1F"/>
                </a:solidFill>
                <a:latin typeface="Microsoft YaHei"/>
              </a:rPr>
              <a:t>• session_event：只在客户端内存解析，不落指标库、不上传原文。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80" b="0">
              <a:solidFill>
                <a:srgbClr val="1F1F1F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80" b="0">
                <a:solidFill>
                  <a:srgbClr val="1F1F1F"/>
                </a:solidFill>
                <a:latin typeface="Microsoft YaHei"/>
              </a:rPr>
              <a:t>• Token：后台只保留按日维度聚合的累计计量，不创建原始 payload。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80" b="0">
              <a:solidFill>
                <a:srgbClr val="1F1F1F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80" b="0">
                <a:solidFill>
                  <a:srgbClr val="1F1F1F"/>
                </a:solidFill>
                <a:latin typeface="Microsoft YaHei"/>
              </a:rPr>
              <a:t>• 两个视图：Git AI 明细与 Kilo 提交明细分别查询。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353312"/>
            <a:ext cx="5230368" cy="4206240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591056"/>
            <a:ext cx="459028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>
                <a:solidFill>
                  <a:srgbClr val="18345D"/>
                </a:solidFill>
                <a:latin typeface="Microsoft YaHei"/>
              </a:rPr>
              <a:t>数据分层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48840"/>
            <a:ext cx="1042415" cy="310896"/>
          </a:xfrm>
          <a:prstGeom prst="roundRect">
            <a:avLst/>
          </a:prstGeom>
          <a:solidFill>
            <a:srgbClr val="267A3E"/>
          </a:solidFill>
          <a:ln w="12700">
            <a:solidFill>
              <a:srgbClr val="26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176272"/>
            <a:ext cx="950975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0–30 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1231" y="2139696"/>
            <a:ext cx="137160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0" b="1">
                <a:solidFill>
                  <a:srgbClr val="18345D"/>
                </a:solidFill>
                <a:latin typeface="Microsoft YaHei"/>
              </a:rPr>
              <a:t>热明细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2121408"/>
            <a:ext cx="1993392" cy="5486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80" b="0">
                <a:solidFill>
                  <a:srgbClr val="1F1F1F"/>
                </a:solidFill>
                <a:latin typeface="Microsoft YaHei"/>
              </a:rPr>
              <a:t>commit hash + 内容 SHA-256 审计证据、异常身份 Token 隔离记录。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081528"/>
            <a:ext cx="1042415" cy="310896"/>
          </a:xfrm>
          <a:prstGeom prst="roundRect">
            <a:avLst/>
          </a:prstGeom>
          <a:solidFill>
            <a:srgbClr val="004A84"/>
          </a:solidFill>
          <a:ln w="12700">
            <a:solidFill>
              <a:srgbClr val="004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950975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&gt;30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3072384"/>
            <a:ext cx="137160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0" b="1">
                <a:solidFill>
                  <a:srgbClr val="18345D"/>
                </a:solidFill>
                <a:latin typeface="Microsoft YaHei"/>
              </a:rPr>
              <a:t>长期规范账本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8" y="3054096"/>
            <a:ext cx="1993392" cy="5486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80" b="0">
                <a:solidFill>
                  <a:srgbClr val="1F1F1F"/>
                </a:solidFill>
                <a:latin typeface="Microsoft YaHei"/>
              </a:rPr>
              <a:t>保留正式代码事实、Git Notes 与 Token 日累计事实。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014216"/>
            <a:ext cx="1042415" cy="310896"/>
          </a:xfrm>
          <a:prstGeom prst="roundRect">
            <a:avLst/>
          </a:prstGeom>
          <a:solidFill>
            <a:srgbClr val="A85B00"/>
          </a:solidFill>
          <a:ln w="12700">
            <a:solidFill>
              <a:srgbClr val="A85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041648"/>
            <a:ext cx="950975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物理清理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1" y="4005072"/>
            <a:ext cx="137160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0" b="1">
                <a:solidFill>
                  <a:srgbClr val="18345D"/>
                </a:solidFill>
                <a:latin typeface="Microsoft YaHei"/>
              </a:rPr>
              <a:t>按类型治理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3986784"/>
            <a:ext cx="1993392" cy="5486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80" b="0">
                <a:solidFill>
                  <a:srgbClr val="1F1F1F"/>
                </a:solidFill>
                <a:latin typeface="Microsoft YaHei"/>
              </a:rPr>
              <a:t>成功投影 / replay 立即清除 payload；旧本地 SQLite 备份后受控缩容。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965192"/>
            <a:ext cx="446227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80" b="1">
                <a:solidFill>
                  <a:srgbClr val="C00000"/>
                </a:solidFill>
                <a:latin typeface="Microsoft YaHei"/>
              </a:rPr>
              <a:t>新架构已停止会话原文新增；审计代码按需从宿主机 Git 读取，既有本地大文件仍需受控 VACUUM INTO。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27432"/>
            <a:ext cx="11521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问题复盘：本地与后台为什么一起涨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2011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10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94592" y="182880"/>
            <a:ext cx="594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667744" y="640080"/>
            <a:ext cx="438912" cy="219456"/>
          </a:xfrm>
          <a:prstGeom prst="rect">
            <a:avLst/>
          </a:prstGeom>
          <a:solidFill>
            <a:srgbClr val="0062AC"/>
          </a:solidFill>
          <a:ln w="12700">
            <a:solidFill>
              <a:srgbClr val="0062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一次“会话原文级采集”，在客户端与服务端被连续放大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1481328" cy="1389888"/>
          </a:xfrm>
          <a:prstGeom prst="roundRect">
            <a:avLst>
              <a:gd name="adj" fmla="val 5263"/>
            </a:avLst>
          </a:prstGeom>
          <a:solidFill>
            <a:srgbClr val="FFF6E8"/>
          </a:solidFill>
          <a:ln w="12700">
            <a:solidFill>
              <a:srgbClr val="F1C4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会话原文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26771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 / 工具调用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流式片段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20824" y="2340864"/>
            <a:ext cx="237744" cy="0"/>
          </a:xfrm>
          <a:prstGeom prst="line">
            <a:avLst/>
          </a:prstGeom>
          <a:noFill/>
          <a:ln w="22860">
            <a:solidFill>
              <a:srgbClr val="F39A3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331720" y="1645920"/>
            <a:ext cx="1481328" cy="1389888"/>
          </a:xfrm>
          <a:prstGeom prst="roundRect">
            <a:avLst>
              <a:gd name="adj" fmla="val 5263"/>
            </a:avLst>
          </a:prstGeom>
          <a:solidFill>
            <a:srgbClr val="FFF6E8"/>
          </a:solidFill>
          <a:ln w="12700">
            <a:solidFill>
              <a:srgbClr val="F1C4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423160" y="18470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SQLite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23160" y="226771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事件表 + 索引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持续追加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9624" y="2340864"/>
            <a:ext cx="237744" cy="0"/>
          </a:xfrm>
          <a:prstGeom prst="line">
            <a:avLst/>
          </a:prstGeom>
          <a:noFill/>
          <a:ln w="22860">
            <a:solidFill>
              <a:srgbClr val="F39A3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160520" y="1645920"/>
            <a:ext cx="1481328" cy="1389888"/>
          </a:xfrm>
          <a:prstGeom prst="roundRect">
            <a:avLst>
              <a:gd name="adj" fmla="val 5263"/>
            </a:avLst>
          </a:prstGeom>
          <a:solidFill>
            <a:srgbClr val="FFF6E8"/>
          </a:solidFill>
          <a:ln w="12700">
            <a:solidFill>
              <a:srgbClr val="F1C4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251960" y="18470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上传队列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51960" y="226771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离线保留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失败重传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78424" y="2340864"/>
            <a:ext cx="237744" cy="0"/>
          </a:xfrm>
          <a:prstGeom prst="line">
            <a:avLst/>
          </a:prstGeom>
          <a:noFill/>
          <a:ln w="22860">
            <a:solidFill>
              <a:srgbClr val="F39A3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989320" y="1645920"/>
            <a:ext cx="1481328" cy="1389888"/>
          </a:xfrm>
          <a:prstGeom prst="roundRect">
            <a:avLst>
              <a:gd name="adj" fmla="val 5263"/>
            </a:avLst>
          </a:prstGeom>
          <a:solidFill>
            <a:srgbClr val="FFF0F0"/>
          </a:solidFill>
          <a:ln w="12700">
            <a:solidFill>
              <a:srgbClr val="F2B5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080760" y="18470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8082 接收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80760" y="226771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 / 请求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解析投影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07224" y="2340864"/>
            <a:ext cx="237744" cy="0"/>
          </a:xfrm>
          <a:prstGeom prst="line">
            <a:avLst/>
          </a:prstGeom>
          <a:noFill/>
          <a:ln w="22860">
            <a:solidFill>
              <a:srgbClr val="F39A3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818120" y="1645920"/>
            <a:ext cx="1481328" cy="1389888"/>
          </a:xfrm>
          <a:prstGeom prst="roundRect">
            <a:avLst>
              <a:gd name="adj" fmla="val 5263"/>
            </a:avLst>
          </a:prstGeom>
          <a:solidFill>
            <a:srgbClr val="FFF0F0"/>
          </a:solidFill>
          <a:ln w="12700">
            <a:solidFill>
              <a:srgbClr val="F2B5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909560" y="18470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后台多层落库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909560" y="226771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 / payload / ledger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再写日事实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336024" y="2340864"/>
            <a:ext cx="237744" cy="0"/>
          </a:xfrm>
          <a:prstGeom prst="line">
            <a:avLst/>
          </a:prstGeom>
          <a:noFill/>
          <a:ln w="22860">
            <a:solidFill>
              <a:srgbClr val="F39A3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646920" y="1645920"/>
            <a:ext cx="1481328" cy="1389888"/>
          </a:xfrm>
          <a:prstGeom prst="roundRect">
            <a:avLst>
              <a:gd name="adj" fmla="val 5263"/>
            </a:avLst>
          </a:prstGeom>
          <a:solidFill>
            <a:srgbClr val="EAF2FF"/>
          </a:solidFill>
          <a:ln w="12700">
            <a:solidFill>
              <a:srgbClr val="AFC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738360" y="18470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长期累计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738360" y="226771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人数 × 天数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线性增长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3429000"/>
            <a:ext cx="7178040" cy="2148840"/>
          </a:xfrm>
          <a:prstGeom prst="roundRect">
            <a:avLst>
              <a:gd name="adj" fmla="val 3404"/>
            </a:avLst>
          </a:prstGeom>
          <a:solidFill>
            <a:srgbClr val="F5F8FC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731520" y="3639312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31520" y="3639312"/>
            <a:ext cx="1005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增长机制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9808" y="4133088"/>
            <a:ext cx="6629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客户端：原始事件逐条追加 + 离线积压 + 重试保留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49808" y="4590288"/>
            <a:ext cx="66294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服务端：同一批数据进入请求、批次、原始 payload、投影事实等多层；即使单条不大，乘以会话频次、员工数和保留时间后仍会持续放大。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973568" y="3429000"/>
            <a:ext cx="33649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193024" y="373075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548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数百 MB / 人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8193024" y="41879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已观察到的本地量级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93024" y="464515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100+ 人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8193024" y="51023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内网使用规模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5989320"/>
            <a:ext cx="10881360" cy="438912"/>
          </a:xfrm>
          <a:prstGeom prst="roundRect">
            <a:avLst>
              <a:gd name="adj" fmla="val 12500"/>
            </a:avLst>
          </a:prstGeom>
          <a:solidFill>
            <a:srgbClr val="213261"/>
          </a:solidFill>
          <a:ln w="12700">
            <a:solidFill>
              <a:srgbClr val="2132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658368" y="6016752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结论：这不是单点故障，而是“采集粒度过重 + 两端重复保存”形成的系统性增长。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27432"/>
            <a:ext cx="11521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根因一：采集粒度选错——把会话原文当统计事实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2011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10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GRAIN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94592" y="182880"/>
            <a:ext cx="594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667744" y="640080"/>
            <a:ext cx="438912" cy="219456"/>
          </a:xfrm>
          <a:prstGeom prst="rect">
            <a:avLst/>
          </a:prstGeom>
          <a:solidFill>
            <a:srgbClr val="0062AC"/>
          </a:solidFill>
          <a:ln w="12700">
            <a:solidFill>
              <a:srgbClr val="0062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5376672" cy="4553712"/>
          </a:xfrm>
          <a:prstGeom prst="roundRect">
            <a:avLst>
              <a:gd name="adj" fmla="val 1606"/>
            </a:avLst>
          </a:prstGeom>
          <a:solidFill>
            <a:srgbClr val="FFF0F0"/>
          </a:solidFill>
          <a:ln w="12700">
            <a:solidFill>
              <a:srgbClr val="F0B9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68096" y="1353312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68096" y="1353312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实际保存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1847088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548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会话原文级事件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59536" y="261518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用户 / 助手消息正文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317296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工具调用参数与结果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" y="373075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流式过程中重复到达的片段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9536" y="428853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重放或恢复时再次出现的事件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5010912"/>
            <a:ext cx="46817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48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体积与“内容长度、流式次数、会话时长”相关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078992"/>
            <a:ext cx="5010912" cy="4553712"/>
          </a:xfrm>
          <a:prstGeom prst="roundRect">
            <a:avLst>
              <a:gd name="adj" fmla="val 1606"/>
            </a:avLst>
          </a:prstGeom>
          <a:solidFill>
            <a:srgbClr val="EAF8F1"/>
          </a:solidFill>
          <a:ln w="12700">
            <a:solidFill>
              <a:srgbClr val="A9DD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583680" y="135331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583680" y="1353312"/>
            <a:ext cx="126187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业务真正需要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1847088"/>
            <a:ext cx="4251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内容无关的统计事实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75120" y="261518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input / output Token 累计值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317296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cache read / write 累计值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75120" y="373075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请求次数与 provider / model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75120" y="428853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日期、用户、机器、项目、IDE / 工具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01968" y="5010912"/>
            <a:ext cx="4251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体积只与“天数 × 统计维度数”相关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07024" y="3346704"/>
            <a:ext cx="365760" cy="0"/>
          </a:xfrm>
          <a:prstGeom prst="line">
            <a:avLst/>
          </a:prstGeom>
          <a:noFill/>
          <a:ln w="2921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57200" y="5989320"/>
            <a:ext cx="10881360" cy="438912"/>
          </a:xfrm>
          <a:prstGeom prst="roundRect">
            <a:avLst>
              <a:gd name="adj" fmla="val 12500"/>
            </a:avLst>
          </a:prstGeom>
          <a:solidFill>
            <a:srgbClr val="213261"/>
          </a:solidFill>
          <a:ln w="12700">
            <a:solidFill>
              <a:srgbClr val="2132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58368" y="6016752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原文是计算统计值的输入，不应成为长期存储和上传的输出。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27432"/>
            <a:ext cx="11521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根因二：离线队列与服务端多层落库叠加放大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2011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10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AMPLIFICATION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94592" y="182880"/>
            <a:ext cx="594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667744" y="640080"/>
            <a:ext cx="438912" cy="219456"/>
          </a:xfrm>
          <a:prstGeom prst="rect">
            <a:avLst/>
          </a:prstGeom>
          <a:solidFill>
            <a:srgbClr val="0062AC"/>
          </a:solidFill>
          <a:ln w="12700">
            <a:solidFill>
              <a:srgbClr val="0062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75488" y="932688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客户端的“可靠不丢”与服务端的“全链路可追溯”组合后，把消息级数据复制了多次。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2103120" cy="1078992"/>
          </a:xfrm>
          <a:prstGeom prst="roundRect">
            <a:avLst>
              <a:gd name="adj" fmla="val 6780"/>
            </a:avLst>
          </a:prstGeom>
          <a:solidFill>
            <a:srgbClr val="FFF6E8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67512" y="1746504"/>
            <a:ext cx="384048" cy="384048"/>
          </a:xfrm>
          <a:prstGeom prst="ellipse">
            <a:avLst/>
          </a:prstGeom>
          <a:solidFill>
            <a:srgbClr val="F39A3E"/>
          </a:solidFill>
          <a:ln w="12700">
            <a:solidFill>
              <a:srgbClr val="F39A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67512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61288" y="17007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逐条追加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61288" y="207568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 session_event 写入 SQLite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88920" y="1572768"/>
            <a:ext cx="2103120" cy="1078992"/>
          </a:xfrm>
          <a:prstGeom prst="roundRect">
            <a:avLst>
              <a:gd name="adj" fmla="val 6780"/>
            </a:avLst>
          </a:prstGeom>
          <a:solidFill>
            <a:srgbClr val="FFF6E8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953512" y="1746504"/>
            <a:ext cx="384048" cy="384048"/>
          </a:xfrm>
          <a:prstGeom prst="ellipse">
            <a:avLst/>
          </a:prstGeom>
          <a:solidFill>
            <a:srgbClr val="F39A3E"/>
          </a:solidFill>
          <a:ln w="12700">
            <a:solidFill>
              <a:srgbClr val="F39A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953512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47288" y="17007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离线保留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47288" y="207568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8082 不通时继续积压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74920" y="1572768"/>
            <a:ext cx="2103120" cy="1078992"/>
          </a:xfrm>
          <a:prstGeom prst="roundRect">
            <a:avLst>
              <a:gd name="adj" fmla="val 6780"/>
            </a:avLst>
          </a:prstGeom>
          <a:solidFill>
            <a:srgbClr val="FFF6E8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239512" y="1746504"/>
            <a:ext cx="384048" cy="384048"/>
          </a:xfrm>
          <a:prstGeom prst="ellipse">
            <a:avLst/>
          </a:prstGeom>
          <a:solidFill>
            <a:srgbClr val="F39A3E"/>
          </a:solidFill>
          <a:ln w="12700">
            <a:solidFill>
              <a:srgbClr val="F39A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239512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33288" y="17007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失败重试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33288" y="207568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旧数据继续占用本地空间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0920" y="1572768"/>
            <a:ext cx="2103120" cy="1078992"/>
          </a:xfrm>
          <a:prstGeom prst="roundRect">
            <a:avLst>
              <a:gd name="adj" fmla="val 6780"/>
            </a:avLst>
          </a:prstGeom>
          <a:solidFill>
            <a:srgbClr val="FFF0F0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525512" y="1746504"/>
            <a:ext cx="384048" cy="38404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525512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19288" y="17007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批次接收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19288" y="207568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请求与批次元数据落库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46920" y="1572768"/>
            <a:ext cx="2103120" cy="1078992"/>
          </a:xfrm>
          <a:prstGeom prst="roundRect">
            <a:avLst>
              <a:gd name="adj" fmla="val 6780"/>
            </a:avLst>
          </a:prstGeom>
          <a:solidFill>
            <a:srgbClr val="FFF0F0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9811512" y="1746504"/>
            <a:ext cx="384048" cy="38404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9811512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05288" y="17007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多层投影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305288" y="207568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payload / ledger / fact 再写一遍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615184" y="2112264"/>
            <a:ext cx="164592" cy="0"/>
          </a:xfrm>
          <a:prstGeom prst="line">
            <a:avLst/>
          </a:prstGeom>
          <a:noFill/>
          <a:ln w="2286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4901184" y="2112264"/>
            <a:ext cx="164592" cy="0"/>
          </a:xfrm>
          <a:prstGeom prst="line">
            <a:avLst/>
          </a:prstGeom>
          <a:noFill/>
          <a:ln w="2286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7187184" y="2112264"/>
            <a:ext cx="164592" cy="0"/>
          </a:xfrm>
          <a:prstGeom prst="line">
            <a:avLst/>
          </a:prstGeom>
          <a:noFill/>
          <a:ln w="2286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73184" y="2112264"/>
            <a:ext cx="164592" cy="0"/>
          </a:xfrm>
          <a:prstGeom prst="line">
            <a:avLst/>
          </a:prstGeom>
          <a:noFill/>
          <a:ln w="2286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502920" y="3182112"/>
            <a:ext cx="5321808" cy="2212848"/>
          </a:xfrm>
          <a:prstGeom prst="roundRect">
            <a:avLst>
              <a:gd name="adj" fmla="val 3306"/>
            </a:avLst>
          </a:prstGeom>
          <a:solidFill>
            <a:srgbClr val="F5F8FC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49808" y="3438144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FFF6E8"/>
          </a:solidFill>
          <a:ln w="12700">
            <a:solidFill>
              <a:srgbClr val="FFF6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749808" y="3438144"/>
            <a:ext cx="1097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客户端放大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9808" y="3913632"/>
            <a:ext cx="4773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事件数持续增加，数据库页与索引同步增长；上传恢复后，已积累的历史数据只是从本地搬到后端，并不会消失。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144768" y="3182112"/>
            <a:ext cx="5193792" cy="2212848"/>
          </a:xfrm>
          <a:prstGeom prst="roundRect">
            <a:avLst>
              <a:gd name="adj" fmla="val 3306"/>
            </a:avLst>
          </a:prstGeom>
          <a:solidFill>
            <a:srgbClr val="F5F8FC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6400800" y="3438144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400800" y="3438144"/>
            <a:ext cx="1097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服务端放大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3913632"/>
            <a:ext cx="4645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每条原始消息会触发多表写入、索引与保留成本；100 多人持续使用时，后台增长速度由“人均数据量 × 使用人数”共同决定。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57200" y="5989320"/>
            <a:ext cx="10881360" cy="438912"/>
          </a:xfrm>
          <a:prstGeom prst="roundRect">
            <a:avLst>
              <a:gd name="adj" fmla="val 12500"/>
            </a:avLst>
          </a:prstGeom>
          <a:solidFill>
            <a:srgbClr val="213261"/>
          </a:solidFill>
          <a:ln w="12700">
            <a:solidFill>
              <a:srgbClr val="2132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658368" y="6016752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可靠性机制本身没有错，错在它保护的是“原始消息”，而不是“紧凑事实”。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27432"/>
            <a:ext cx="11521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为什么恢复 8082、压缩文件或定期清理都不是根治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2011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10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94592" y="182880"/>
            <a:ext cx="594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667744" y="640080"/>
            <a:ext cx="438912" cy="219456"/>
          </a:xfrm>
          <a:prstGeom prst="rect">
            <a:avLst/>
          </a:prstGeom>
          <a:solidFill>
            <a:srgbClr val="0062AC"/>
          </a:solidFill>
          <a:ln w="12700">
            <a:solidFill>
              <a:srgbClr val="0062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0735056" cy="932688"/>
          </a:xfrm>
          <a:prstGeom prst="roundRect">
            <a:avLst>
              <a:gd name="adj" fmla="val 7843"/>
            </a:avLst>
          </a:prstGeom>
          <a:solidFill>
            <a:srgbClr val="FFF6E8"/>
          </a:solidFill>
          <a:ln w="12700">
            <a:solidFill>
              <a:srgbClr val="EFC0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04672" y="1453896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只恢复 8082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834640" y="1426464"/>
            <a:ext cx="5742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本地积压会下降，但历史原文被整体转移到后台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217152" y="1591056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217152" y="1591056"/>
            <a:ext cx="15910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后台更快增长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10735056" cy="932688"/>
          </a:xfrm>
          <a:prstGeom prst="roundRect">
            <a:avLst>
              <a:gd name="adj" fmla="val 7843"/>
            </a:avLst>
          </a:prstGeom>
          <a:solidFill>
            <a:srgbClr val="F5F8FC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04672" y="2642616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只做压缩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34640" y="2615184"/>
            <a:ext cx="5742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降低单条字节数，事件数、索引和重放成本不变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217152" y="2779776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217152" y="2779776"/>
            <a:ext cx="15910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只能延缓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675888"/>
            <a:ext cx="10735056" cy="932688"/>
          </a:xfrm>
          <a:prstGeom prst="roundRect">
            <a:avLst>
              <a:gd name="adj" fmla="val 7843"/>
            </a:avLst>
          </a:prstGeom>
          <a:solidFill>
            <a:srgbClr val="FFF0F0"/>
          </a:solidFill>
          <a:ln w="12700">
            <a:solidFill>
              <a:srgbClr val="F0B9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04672" y="3831336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只做定期清理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834640" y="3803904"/>
            <a:ext cx="5742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不断写、不断删，仍有磁盘峰值、审计和回放风险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217152" y="3968496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217152" y="3968496"/>
            <a:ext cx="15910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治标且复杂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5010912"/>
            <a:ext cx="10735056" cy="749808"/>
          </a:xfrm>
          <a:prstGeom prst="roundRect">
            <a:avLst>
              <a:gd name="adj" fmla="val 9756"/>
            </a:avLst>
          </a:prstGeom>
          <a:solidFill>
            <a:srgbClr val="EAF2FF"/>
          </a:solidFill>
          <a:ln w="12700">
            <a:solidFill>
              <a:srgbClr val="AFC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04672" y="51937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正确方向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84248" y="5138928"/>
            <a:ext cx="8915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在采集源头改变数据粒度：原文只在内存解析，持久化和上传均改为“内容无关、可覆盖、可幂等”的日累计快照。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5989320"/>
            <a:ext cx="10881360" cy="438912"/>
          </a:xfrm>
          <a:prstGeom prst="roundRect">
            <a:avLst>
              <a:gd name="adj" fmla="val 12500"/>
            </a:avLst>
          </a:prstGeom>
          <a:solidFill>
            <a:srgbClr val="213261"/>
          </a:solidFill>
          <a:ln w="12700">
            <a:solidFill>
              <a:srgbClr val="2132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58368" y="6016752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架构问题必须从数据模型解决，运维手段只能作为存量治理与兜底。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27432"/>
            <a:ext cx="11521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最终方案总览：原文止步内存，上传日累计快照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2011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10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 ARCHITECTURE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94592" y="182880"/>
            <a:ext cx="594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667744" y="640080"/>
            <a:ext cx="438912" cy="219456"/>
          </a:xfrm>
          <a:prstGeom prst="rect">
            <a:avLst/>
          </a:prstGeom>
          <a:solidFill>
            <a:srgbClr val="0062AC"/>
          </a:solidFill>
          <a:ln w="12700">
            <a:solidFill>
              <a:srgbClr val="0062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FF6E8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67512" y="1545336"/>
            <a:ext cx="384048" cy="384048"/>
          </a:xfrm>
          <a:prstGeom prst="ellipse">
            <a:avLst/>
          </a:prstGeom>
          <a:solidFill>
            <a:srgbClr val="F39A3E"/>
          </a:solidFill>
          <a:ln w="12700">
            <a:solidFill>
              <a:srgbClr val="F39A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7512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1288" y="149961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61288" y="187452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/ Kilo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04872" y="1920240"/>
            <a:ext cx="246888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697480" y="137160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862072" y="1545336"/>
            <a:ext cx="384048" cy="38404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862072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149961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内存解析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55848" y="187452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 Token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不保存正文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99432" y="1920240"/>
            <a:ext cx="246888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892040" y="137160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056632" y="1545336"/>
            <a:ext cx="384048" cy="38404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056632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50408" y="149961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日维度聚合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50408" y="187452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绝对累计值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按维度归桶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93992" y="1920240"/>
            <a:ext cx="246888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7086600" y="137160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251192" y="1545336"/>
            <a:ext cx="384048" cy="38404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251192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44968" y="149961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可变快照队列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44968" y="187452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同维度仅保留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最新待发快照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988552" y="1920240"/>
            <a:ext cx="246888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281160" y="137160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EAF8F1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45752" y="1545336"/>
            <a:ext cx="384048" cy="384048"/>
          </a:xfrm>
          <a:prstGeom prst="ellipse">
            <a:avLst/>
          </a:prstGeom>
          <a:solidFill>
            <a:srgbClr val="20A66A"/>
          </a:solidFill>
          <a:ln w="12700">
            <a:solidFill>
              <a:srgbClr val="20A6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45752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939528" y="149961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后台日事实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939528" y="187452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新鲜度 upsert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幂等覆盖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2880360"/>
            <a:ext cx="10652760" cy="1005840"/>
          </a:xfrm>
          <a:prstGeom prst="roundRect">
            <a:avLst>
              <a:gd name="adj" fmla="val 7273"/>
            </a:avLst>
          </a:prstGeom>
          <a:solidFill>
            <a:srgbClr val="213261"/>
          </a:solidFill>
          <a:ln w="12700">
            <a:solidFill>
              <a:srgbClr val="2132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49808" y="3081528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日事实主键维度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331720" y="3026664"/>
            <a:ext cx="8394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 × 用户邮箱 × 稳定机器 ID × 项目 × IDE × 编码工具 × Provider × Model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02920" y="4224528"/>
            <a:ext cx="3337560" cy="1243584"/>
          </a:xfrm>
          <a:prstGeom prst="roundRect">
            <a:avLst>
              <a:gd name="adj" fmla="val 5882"/>
            </a:avLst>
          </a:prstGeom>
          <a:solidFill>
            <a:srgbClr val="F5F8FC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731520" y="444398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不含内容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31520" y="482803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不上传消息正文、工具参数、session / trace ID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114800" y="4224528"/>
            <a:ext cx="3337560" cy="1243584"/>
          </a:xfrm>
          <a:prstGeom prst="roundRect">
            <a:avLst>
              <a:gd name="adj" fmla="val 5882"/>
            </a:avLst>
          </a:prstGeom>
          <a:solidFill>
            <a:srgbClr val="F5F8FC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343400" y="444398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抗重复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4343400" y="482803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使用来源绝对累计值，流式重复与重放不会重复加总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726680" y="4224528"/>
            <a:ext cx="3337560" cy="1243584"/>
          </a:xfrm>
          <a:prstGeom prst="roundRect">
            <a:avLst>
              <a:gd name="adj" fmla="val 5882"/>
            </a:avLst>
          </a:prstGeom>
          <a:solidFill>
            <a:srgbClr val="EAF8F1"/>
          </a:solidFill>
          <a:ln w="12700">
            <a:solidFill>
              <a:srgbClr val="A9DD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7955280" y="444398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可幂等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7955280" y="482803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后台仅接受不回退的累计值与不更旧的时间戳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" y="5989320"/>
            <a:ext cx="10881360" cy="438912"/>
          </a:xfrm>
          <a:prstGeom prst="roundRect">
            <a:avLst>
              <a:gd name="adj" fmla="val 12500"/>
            </a:avLst>
          </a:prstGeom>
          <a:solidFill>
            <a:srgbClr val="213261"/>
          </a:solidFill>
          <a:ln w="12700">
            <a:solidFill>
              <a:srgbClr val="2132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58368" y="6016752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数据规模从“消息条数与内容长度”降为“每天有限维度的最新累计值”。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27432"/>
            <a:ext cx="11521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客户端改造：压缩、去重、重试与本地留存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2011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10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94592" y="182880"/>
            <a:ext cx="594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667744" y="640080"/>
            <a:ext cx="438912" cy="219456"/>
          </a:xfrm>
          <a:prstGeom prst="rect">
            <a:avLst/>
          </a:prstGeom>
          <a:solidFill>
            <a:srgbClr val="0062AC"/>
          </a:solidFill>
          <a:ln w="12700">
            <a:solidFill>
              <a:srgbClr val="0062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30352" y="1143000"/>
            <a:ext cx="521208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94944" y="13075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12801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解析三类来源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642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usage、Kilo / OpenCode tokens、Codex 累计 totals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16752" y="1143000"/>
            <a:ext cx="521208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181344" y="13075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858000" y="12801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稳定来源去重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0" y="16642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来源键 + 绝对累计值，重复流与重放不重复计数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" y="2560320"/>
            <a:ext cx="521208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94944" y="27249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71600" y="26974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按日维度归桶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08152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用户、机器、项目、IDE、工具、Provider、Model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16752" y="2560320"/>
            <a:ext cx="521208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181344" y="27249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858000" y="26974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离线合并快照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308152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每个维度仅一个可变待发快照；在途时保留 successor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" y="3977640"/>
            <a:ext cx="521208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94944" y="41422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71600" y="41148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可靠推进水位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4988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紧凑快照持久化成功后才推进 watermark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16752" y="3977640"/>
            <a:ext cx="5212080" cy="1133856"/>
          </a:xfrm>
          <a:prstGeom prst="roundRect">
            <a:avLst>
              <a:gd name="adj" fmla="val 6452"/>
            </a:avLst>
          </a:prstGeom>
          <a:solidFill>
            <a:srgbClr val="EAF8F1"/>
          </a:solidFill>
          <a:ln w="12700">
            <a:solidFill>
              <a:srgbClr val="A9DD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181344" y="41422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0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6858000" y="41148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有界本地保留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58000" y="44988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成功快照立即删除；恢复标记 7 天，统计事实 365 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0352" y="5486400"/>
            <a:ext cx="10698480" cy="475488"/>
          </a:xfrm>
          <a:prstGeom prst="roundRect">
            <a:avLst>
              <a:gd name="adj" fmla="val 15385"/>
            </a:avLst>
          </a:prstGeom>
          <a:solidFill>
            <a:srgbClr val="EAF2FF"/>
          </a:solidFill>
          <a:ln w="12700">
            <a:solidFill>
              <a:srgbClr val="AFC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68096" y="5577840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保持不变：代码归属 checkpoint、Git Notes、commit / rewrite / target branch 处理链路。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5989320"/>
            <a:ext cx="10881360" cy="438912"/>
          </a:xfrm>
          <a:prstGeom prst="roundRect">
            <a:avLst>
              <a:gd name="adj" fmla="val 125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58368" y="6016752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客户端既要“少写”，也要在离线、崩溃和重放场景下保持统计不丢不重。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0"/>
            <a:ext cx="11521440" cy="8778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213261"/>
                </a:solidFill>
                <a:latin typeface="Microsoft YaHei"/>
              </a:rPr>
              <a:t>8081 / 8082 路由与失败重传：入口不同，最终服务相同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32104"/>
            <a:ext cx="1101852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20" b="1">
                <a:solidFill>
                  <a:srgbClr val="00518E"/>
                </a:solidFill>
                <a:latin typeface="Microsoft YaHei"/>
              </a:rPr>
              <a:t>生产插件走前端网关路径，本地联调可直连应用端口；8082 恢复后，普通可重试数据自动续传。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25296"/>
            <a:ext cx="1828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213261"/>
                </a:solidFill>
                <a:latin typeface="Microsoft YaHei"/>
              </a:rPr>
              <a:t>访问链路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64208"/>
            <a:ext cx="1920240" cy="1124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936" y="1801368"/>
            <a:ext cx="1664208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20" b="1">
                <a:solidFill>
                  <a:srgbClr val="0062AC"/>
                </a:solidFill>
                <a:latin typeface="Microsoft YaHei"/>
              </a:rPr>
              <a:t>生产浏览器 / 插件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2176272"/>
            <a:ext cx="1664208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11111"/>
                </a:solidFill>
                <a:latin typeface="Microsoft YaHei"/>
              </a:rPr>
              <a:t>100.7.132.102:8081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11111"/>
                </a:solidFill>
                <a:latin typeface="Microsoft YaHei"/>
              </a:rPr>
              <a:t>/prod-api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664208"/>
            <a:ext cx="1920240" cy="1124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62656" y="1801368"/>
            <a:ext cx="1664208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20" b="1">
                <a:solidFill>
                  <a:srgbClr val="00518E"/>
                </a:solidFill>
                <a:latin typeface="Microsoft YaHei"/>
              </a:rPr>
              <a:t>Nginx / 网关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2176272"/>
            <a:ext cx="1664208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11111"/>
                </a:solidFill>
                <a:latin typeface="Microsoft YaHei"/>
              </a:rPr>
              <a:t>反向代理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11111"/>
                </a:solidFill>
                <a:latin typeface="Microsoft YaHei"/>
              </a:rPr>
              <a:t>统一鉴权与限流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664208"/>
            <a:ext cx="1920240" cy="1124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3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94376" y="1801368"/>
            <a:ext cx="1664208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后台应用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4376" y="2176272"/>
            <a:ext cx="1664208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11111"/>
                </a:solidFill>
                <a:latin typeface="Microsoft YaHei"/>
              </a:rPr>
              <a:t>8082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11111"/>
                </a:solidFill>
                <a:latin typeface="Microsoft YaHei"/>
              </a:rPr>
              <a:t>同一上传接口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59736" y="2231136"/>
            <a:ext cx="301752" cy="0"/>
          </a:xfrm>
          <a:prstGeom prst="line">
            <a:avLst/>
          </a:prstGeom>
          <a:ln w="25400">
            <a:solidFill>
              <a:srgbClr val="8DC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91456" y="2231136"/>
            <a:ext cx="301752" cy="0"/>
          </a:xfrm>
          <a:prstGeom prst="line">
            <a:avLst/>
          </a:prstGeom>
          <a:ln w="25400">
            <a:solidFill>
              <a:srgbClr val="8DC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048256" y="2953512"/>
            <a:ext cx="3474720" cy="310896"/>
          </a:xfrm>
          <a:prstGeom prst="round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84832" y="2980944"/>
            <a:ext cx="3401568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40" b="1">
                <a:solidFill>
                  <a:srgbClr val="111111"/>
                </a:solidFill>
                <a:latin typeface="Microsoft YaHei"/>
              </a:rPr>
              <a:t>本地插件可直接配置 localhost:8082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7" y="1225296"/>
            <a:ext cx="1828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213261"/>
                </a:solidFill>
                <a:latin typeface="Microsoft YaHei"/>
              </a:rPr>
              <a:t>重试分类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664208"/>
            <a:ext cx="42062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06640" y="1664208"/>
            <a:ext cx="64008" cy="123444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19" y="1783080"/>
            <a:ext cx="3877055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持续长退避，数据留在本地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2194560"/>
            <a:ext cx="3858768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70" b="0">
                <a:solidFill>
                  <a:srgbClr val="111111"/>
                </a:solidFill>
                <a:latin typeface="Microsoft YaHei"/>
              </a:rPr>
              <a:t>网络异常、408 / 425 / 429 / 5xx，以及 401 / 403 / 404 / 405 / 409 / 413；最长退避 24 小时。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035808"/>
            <a:ext cx="420624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06640" y="3035808"/>
            <a:ext cx="64008" cy="1124712"/>
          </a:xfrm>
          <a:prstGeom prst="rect">
            <a:avLst/>
          </a:prstGeom>
          <a:solidFill>
            <a:srgbClr val="D93025"/>
          </a:solidFill>
          <a:ln>
            <a:solidFill>
              <a:srgbClr val="D9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19" y="3154679"/>
            <a:ext cx="3877055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停止自动重试，但不删除记录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3566160"/>
            <a:ext cx="3858768" cy="4846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70" b="0">
                <a:solidFill>
                  <a:srgbClr val="111111"/>
                </a:solidFill>
                <a:latin typeface="Microsoft YaHei"/>
              </a:rPr>
              <a:t>400 / 415 / 422，以及服务端 200 响应中的逐条 errors[]；保留用于诊断和人工处理。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977639"/>
            <a:ext cx="21945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213261"/>
                </a:solidFill>
                <a:latin typeface="Microsoft YaHei"/>
              </a:rPr>
              <a:t>批次与容量保护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462272"/>
            <a:ext cx="1463040" cy="98755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6072" y="4626864"/>
            <a:ext cx="1316736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0062AC"/>
                </a:solidFill>
                <a:latin typeface="Microsoft YaHei"/>
              </a:rPr>
              <a:t>≤ 1000 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5029200"/>
            <a:ext cx="1316736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19" b="0">
                <a:solidFill>
                  <a:srgbClr val="111111"/>
                </a:solidFill>
                <a:latin typeface="Microsoft YaHei"/>
              </a:rPr>
              <a:t>单次出队上限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76272" y="4462272"/>
            <a:ext cx="1463040" cy="98755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49424" y="4626864"/>
            <a:ext cx="1316736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0062AC"/>
                </a:solidFill>
                <a:latin typeface="Microsoft YaHei"/>
              </a:rPr>
              <a:t>目标 ≤ 7 MiB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9424" y="5029200"/>
            <a:ext cx="1316736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19" b="0">
                <a:solidFill>
                  <a:srgbClr val="111111"/>
                </a:solidFill>
                <a:latin typeface="Microsoft YaHei"/>
              </a:rPr>
              <a:t>客户端请求正文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9624" y="4462272"/>
            <a:ext cx="1463040" cy="98755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22776" y="4626864"/>
            <a:ext cx="1316736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0062AC"/>
                </a:solidFill>
                <a:latin typeface="Microsoft YaHei"/>
              </a:rPr>
              <a:t>应用 8 MiB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22776" y="5029200"/>
            <a:ext cx="1316736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19" b="0">
                <a:solidFill>
                  <a:srgbClr val="111111"/>
                </a:solidFill>
                <a:latin typeface="Microsoft YaHei"/>
              </a:rPr>
              <a:t>服务端硬限制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22976" y="4462272"/>
            <a:ext cx="1463040" cy="98755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96128" y="4626864"/>
            <a:ext cx="1316736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0062AC"/>
                </a:solidFill>
                <a:latin typeface="Microsoft YaHei"/>
              </a:rPr>
              <a:t>Nginx 10m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96128" y="5029200"/>
            <a:ext cx="1316736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19" b="0">
                <a:solidFill>
                  <a:srgbClr val="111111"/>
                </a:solidFill>
                <a:latin typeface="Microsoft YaHei"/>
              </a:rPr>
              <a:t>worker 路由限制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733288"/>
            <a:ext cx="11109960" cy="530352"/>
          </a:xfrm>
          <a:prstGeom prst="roundRect">
            <a:avLst/>
          </a:prstGeom>
          <a:solidFill>
            <a:srgbClr val="EAF4FB"/>
          </a:solidFill>
          <a:ln w="1143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" y="5815584"/>
            <a:ext cx="10698480" cy="3383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213261"/>
                </a:solidFill>
                <a:latin typeface="Microsoft YaHei"/>
              </a:rPr>
              <a:t>关键结论：8082 故障期间不再无限堆积原始会话；服务恢复后紧凑事实继续上传。恢复上传不会让旧 SQLite 文件立即物理变小，存量空间回收仍需独立维护窗口。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27432"/>
            <a:ext cx="11521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后端改造：从消息级落库改为日事实幂等覆盖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2011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10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94592" y="182880"/>
            <a:ext cx="594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667744" y="640080"/>
            <a:ext cx="438912" cy="219456"/>
          </a:xfrm>
          <a:prstGeom prst="rect">
            <a:avLst/>
          </a:prstGeom>
          <a:solidFill>
            <a:srgbClr val="0062AC"/>
          </a:solidFill>
          <a:ln w="12700">
            <a:solidFill>
              <a:srgbClr val="0062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66928" y="1188720"/>
            <a:ext cx="1847088" cy="548640"/>
          </a:xfrm>
          <a:prstGeom prst="rect">
            <a:avLst/>
          </a:prstGeom>
          <a:solidFill>
            <a:srgbClr val="21326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14016" y="1188720"/>
            <a:ext cx="3959352" cy="548640"/>
          </a:xfrm>
          <a:prstGeom prst="rect">
            <a:avLst/>
          </a:prstGeom>
          <a:solidFill>
            <a:srgbClr val="21326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487168" y="1280160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改造前：消息级路径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73368" y="1188720"/>
            <a:ext cx="3959352" cy="548640"/>
          </a:xfrm>
          <a:prstGeom prst="rect">
            <a:avLst/>
          </a:prstGeom>
          <a:solidFill>
            <a:srgbClr val="2F6B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46520" y="1280160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改造后：Token 日快照路径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1737360"/>
            <a:ext cx="1847088" cy="786384"/>
          </a:xfrm>
          <a:prstGeom prst="rect">
            <a:avLst/>
          </a:prstGeom>
          <a:solidFill>
            <a:srgbClr val="F5F8FC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76656" y="1828800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14016" y="1737360"/>
            <a:ext cx="3959352" cy="786384"/>
          </a:xfrm>
          <a:prstGeom prst="rect">
            <a:avLst/>
          </a:prstGeom>
          <a:solidFill>
            <a:srgbClr val="F5F8FC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523744" y="1828800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/ 批次先落库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73368" y="1737360"/>
            <a:ext cx="3959352" cy="786384"/>
          </a:xfrm>
          <a:prstGeom prst="rect">
            <a:avLst/>
          </a:prstGeom>
          <a:solidFill>
            <a:srgbClr val="EEF9F3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83096" y="1828800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 marker、日期、时区、稳定机器 ID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2523744"/>
            <a:ext cx="1847088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76656" y="2615184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414016" y="2523744"/>
            <a:ext cx="3959352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523744" y="2615184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 header 与 payload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73368" y="2523744"/>
            <a:ext cx="3959352" cy="786384"/>
          </a:xfrm>
          <a:prstGeom prst="rect">
            <a:avLst/>
          </a:prstGeom>
          <a:solidFill>
            <a:srgbClr val="F7FCF9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83096" y="2615184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不创建原始 header、payload、batch、request ledger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3310128"/>
            <a:ext cx="1847088" cy="786384"/>
          </a:xfrm>
          <a:prstGeom prst="rect">
            <a:avLst/>
          </a:prstGeom>
          <a:solidFill>
            <a:srgbClr val="F5F8FC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76656" y="3401568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正式事实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414016" y="3310128"/>
            <a:ext cx="3959352" cy="786384"/>
          </a:xfrm>
          <a:prstGeom prst="rect">
            <a:avLst/>
          </a:prstGeom>
          <a:solidFill>
            <a:srgbClr val="F5F8FC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2523744" y="3401568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解析后再投影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73368" y="3310128"/>
            <a:ext cx="3959352" cy="786384"/>
          </a:xfrm>
          <a:prstGeom prst="rect">
            <a:avLst/>
          </a:prstGeom>
          <a:solidFill>
            <a:srgbClr val="EEF9F3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483096" y="3401568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直接写日事实；batch_id 为空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" y="4096512"/>
            <a:ext cx="1847088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76656" y="4187952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 / 乱序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414016" y="4096512"/>
            <a:ext cx="3959352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2523744" y="4187952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依赖事件级幂等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73368" y="4096512"/>
            <a:ext cx="3959352" cy="786384"/>
          </a:xfrm>
          <a:prstGeom prst="rect">
            <a:avLst/>
          </a:prstGeom>
          <a:solidFill>
            <a:srgbClr val="F7FCF9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483096" y="4187952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只接受不回退累计值与不更旧时间戳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66928" y="4882896"/>
            <a:ext cx="1847088" cy="786384"/>
          </a:xfrm>
          <a:prstGeom prst="rect">
            <a:avLst/>
          </a:prstGeom>
          <a:solidFill>
            <a:srgbClr val="F5F8FC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76656" y="4974336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异常身份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414016" y="4882896"/>
            <a:ext cx="3959352" cy="786384"/>
          </a:xfrm>
          <a:prstGeom prst="rect">
            <a:avLst/>
          </a:prstGeom>
          <a:solidFill>
            <a:srgbClr val="F5F8FC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2523744" y="4974336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原始链路继续占用空间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73368" y="4882896"/>
            <a:ext cx="3959352" cy="786384"/>
          </a:xfrm>
          <a:prstGeom prst="rect">
            <a:avLst/>
          </a:prstGeom>
          <a:solidFill>
            <a:srgbClr val="EEF9F3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6483096" y="4974336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仅写紧凑隔离记录，30 天优先清理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9765792" cy="420624"/>
          </a:xfrm>
          <a:prstGeom prst="roundRect">
            <a:avLst>
              <a:gd name="adj" fmla="val 17391"/>
            </a:avLst>
          </a:prstGeom>
          <a:solidFill>
            <a:srgbClr val="EAF2FF"/>
          </a:solidFill>
          <a:ln w="12700">
            <a:solidFill>
              <a:srgbClr val="AFC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749808" y="5824728"/>
            <a:ext cx="937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 fact_ai_token_daily 不参与 30 天清理；旧 session_event backlog 不再进入后端保留链路。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0"/>
            <a:ext cx="11521440" cy="8778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213261"/>
                </a:solidFill>
                <a:latin typeface="Microsoft YaHei"/>
              </a:rPr>
              <a:t>提交代码审计：数据库留轻量证据，代码从宿主机 Git 按需读取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32104"/>
            <a:ext cx="1101852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20" b="1">
                <a:solidFill>
                  <a:srgbClr val="00518E"/>
                </a:solidFill>
                <a:latin typeface="Microsoft YaHei"/>
              </a:rPr>
              <a:t>用户不能指定任意仓库、commit 或路径；后台沿任务 102 / 103 已确认事实定位，只返回可验证的 AI 新增代码。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399032"/>
            <a:ext cx="1673352" cy="14264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57784" y="1536192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1563624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7" y="1536192"/>
            <a:ext cx="97840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页面发起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029968"/>
            <a:ext cx="138074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80" b="0">
                <a:solidFill>
                  <a:srgbClr val="111111"/>
                </a:solidFill>
                <a:latin typeface="Microsoft YaHei"/>
              </a:rPr>
              <a:t>在可见提交记录上点击“查看代码”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21408" y="2121408"/>
            <a:ext cx="182880" cy="0"/>
          </a:xfrm>
          <a:prstGeom prst="line">
            <a:avLst/>
          </a:prstGeom>
          <a:ln w="21590">
            <a:solidFill>
              <a:srgbClr val="8DC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59152" y="1399032"/>
            <a:ext cx="1673352" cy="14264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478024" y="1536192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78024" y="1563624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1536192"/>
            <a:ext cx="97840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权限与范围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2029968"/>
            <a:ext cx="138074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80" b="0">
                <a:solidFill>
                  <a:srgbClr val="111111"/>
                </a:solidFill>
                <a:latin typeface="Microsoft YaHei"/>
              </a:rPr>
              <a:t>先校验 ai:stats:code:audit 与事件可见性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41648" y="2121408"/>
            <a:ext cx="182880" cy="0"/>
          </a:xfrm>
          <a:prstGeom prst="line">
            <a:avLst/>
          </a:prstGeom>
          <a:ln w="21590">
            <a:solidFill>
              <a:srgbClr val="8DC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79392" y="1399032"/>
            <a:ext cx="1673352" cy="14264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98264" y="1536192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98264" y="1563624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1536192"/>
            <a:ext cx="97840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定位仓库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2029968"/>
            <a:ext cx="138074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80" b="0">
                <a:solidFill>
                  <a:srgbClr val="111111"/>
                </a:solidFill>
                <a:latin typeface="Microsoft YaHei"/>
              </a:rPr>
              <a:t>用任务 102 扫描事实定位宿主机仓库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61888" y="2121408"/>
            <a:ext cx="182880" cy="0"/>
          </a:xfrm>
          <a:prstGeom prst="line">
            <a:avLst/>
          </a:prstGeom>
          <a:ln w="21590">
            <a:solidFill>
              <a:srgbClr val="8DC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99632" y="1399032"/>
            <a:ext cx="1673352" cy="14264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18504" y="1536192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18504" y="1563624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1536192"/>
            <a:ext cx="97840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锁定提交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2029968"/>
            <a:ext cx="138074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80" b="0">
                <a:solidFill>
                  <a:srgbClr val="111111"/>
                </a:solidFill>
                <a:latin typeface="Microsoft YaHei"/>
              </a:rPr>
              <a:t>用任务 103 已确认目标 commit 作为唯一入口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82128" y="2121408"/>
            <a:ext cx="182880" cy="0"/>
          </a:xfrm>
          <a:prstGeom prst="line">
            <a:avLst/>
          </a:prstGeom>
          <a:ln w="21590">
            <a:solidFill>
              <a:srgbClr val="8DC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19872" y="1399032"/>
            <a:ext cx="1673352" cy="14264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238744" y="1536192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38744" y="1563624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9368" y="1536192"/>
            <a:ext cx="97840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只读取证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2029968"/>
            <a:ext cx="138074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80" b="0">
                <a:solidFill>
                  <a:srgbClr val="111111"/>
                </a:solidFill>
                <a:latin typeface="Microsoft YaHei"/>
              </a:rPr>
              <a:t>固定 git 命令，无 fetch，校验路径与内容哈希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802368" y="2121408"/>
            <a:ext cx="182880" cy="0"/>
          </a:xfrm>
          <a:prstGeom prst="line">
            <a:avLst/>
          </a:prstGeom>
          <a:ln w="21590">
            <a:solidFill>
              <a:srgbClr val="8DC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040112" y="1399032"/>
            <a:ext cx="1673352" cy="14264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158984" y="1536192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158984" y="1563624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79608" y="1536192"/>
            <a:ext cx="97840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最小展示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6416" y="2029968"/>
            <a:ext cx="138074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80" b="0">
                <a:solidFill>
                  <a:srgbClr val="111111"/>
                </a:solidFill>
                <a:latin typeface="Microsoft YaHei"/>
              </a:rPr>
              <a:t>仅同哈希 AI 新增行 + 前后 3 行上下文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3246120"/>
            <a:ext cx="3493008" cy="1938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2920" y="3246120"/>
            <a:ext cx="64008" cy="1938528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5800" y="3364991"/>
            <a:ext cx="316382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数据库保存什么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3776472"/>
            <a:ext cx="3145536" cy="1298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70" b="0">
                <a:solidFill>
                  <a:srgbClr val="111111"/>
                </a:solidFill>
                <a:latin typeface="Microsoft YaHei"/>
              </a:rPr>
              <a:t>• 二进制 commit hash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70" b="0">
                <a:solidFill>
                  <a:srgbClr val="111111"/>
                </a:solidFill>
                <a:latin typeface="Microsoft YaHei"/>
              </a:rPr>
              <a:t>• 内容 SHA-256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70" b="0">
                <a:solidFill>
                  <a:srgbClr val="111111"/>
                </a:solidFill>
                <a:latin typeface="Microsoft YaHei"/>
              </a:rPr>
              <a:t>• 与既有确认记录的关联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70" b="0">
                <a:solidFill>
                  <a:srgbClr val="111111"/>
                </a:solidFill>
                <a:latin typeface="Microsoft YaHei"/>
              </a:rPr>
              <a:t>• 审计证据保留 30 天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17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70" b="0">
                <a:solidFill>
                  <a:srgbClr val="111111"/>
                </a:solidFill>
                <a:latin typeface="Microsoft YaHei"/>
              </a:rPr>
              <a:t>不保存代码正文、完整 diff、prompt 或工具输出。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69663" y="3246120"/>
            <a:ext cx="3493008" cy="1938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69663" y="3246120"/>
            <a:ext cx="64008" cy="1938528"/>
          </a:xfrm>
          <a:prstGeom prst="rect">
            <a:avLst/>
          </a:prstGeom>
          <a:solidFill>
            <a:srgbClr val="00518E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52544" y="3364991"/>
            <a:ext cx="316382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宿主机执行什么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52544" y="3776472"/>
            <a:ext cx="3145536" cy="1298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70" b="0">
                <a:solidFill>
                  <a:srgbClr val="111111"/>
                </a:solidFill>
                <a:latin typeface="Microsoft YaHei"/>
              </a:rPr>
              <a:t>只执行固定参数的只读 Git 查询，不接受用户拼接命令；不 fetch、不改仓库。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17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70" b="0">
                <a:solidFill>
                  <a:srgbClr val="111111"/>
                </a:solidFill>
                <a:latin typeface="Microsoft YaHei"/>
              </a:rPr>
              <a:t>并限制超时、并发、输出字节、文件数和行数，避免拖垮任务仓库。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36408" y="3246120"/>
            <a:ext cx="3776472" cy="1938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836408" y="3246120"/>
            <a:ext cx="64008" cy="1938528"/>
          </a:xfrm>
          <a:prstGeom prst="rect">
            <a:avLst/>
          </a:prstGeom>
          <a:solidFill>
            <a:srgbClr val="D6B656"/>
          </a:solidFill>
          <a:ln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19288" y="3364991"/>
            <a:ext cx="344728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哪些情况明确不可用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19288" y="3776472"/>
            <a:ext cx="3429000" cy="1298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merge / rewrite / squash 无法证明同一来源、删除行、哈希不一致、仓库或对象不存在、输出超限时，页面显示“暂不可审计”。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16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系统不猜测、不回退到相似代码。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5522976"/>
            <a:ext cx="11109960" cy="658368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5614416"/>
            <a:ext cx="10643616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80" b="1">
                <a:solidFill>
                  <a:srgbClr val="213261"/>
                </a:solidFill>
                <a:latin typeface="Microsoft YaHei"/>
              </a:rPr>
              <a:t>审计口径：统计事实长期保留；原始 payload 在成功投影或 replay 后清除；查看代码时由浏览器临时接收最小片段，并返回 no-store。侧车取证失败使用独立 savepoint，不影响核心提交确认与正式统计。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0"/>
            <a:ext cx="11521440" cy="8778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213261"/>
                </a:solidFill>
                <a:latin typeface="Microsoft YaHei"/>
              </a:rPr>
              <a:t>实施验证：存储收敛、重传、归因与代码审计均有专项证据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32104"/>
            <a:ext cx="1101852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20" b="1">
                <a:solidFill>
                  <a:srgbClr val="00518E"/>
                </a:solidFill>
                <a:latin typeface="Microsoft YaHei"/>
              </a:rPr>
              <a:t>验证覆盖客户端迁移与上传、后端投影与审计、管理端页面；完整库中仅保留 2 个与本机企业配置相关的既有环境敏感失败。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828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213261"/>
                </a:solidFill>
                <a:latin typeface="Microsoft YaHei"/>
              </a:rPr>
              <a:t>客户端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64208"/>
            <a:ext cx="1847088" cy="82296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1664208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0062AC"/>
                </a:solidFill>
                <a:latin typeface="Microsoft YaHei"/>
              </a:rPr>
              <a:t>52 / 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12264"/>
            <a:ext cx="1664208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11111"/>
                </a:solidFill>
                <a:latin typeface="Microsoft YaHei"/>
              </a:rPr>
              <a:t>数据库、v7 迁移、触发器、批次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32888" y="1664208"/>
            <a:ext cx="1847088" cy="82296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24328" y="1783080"/>
            <a:ext cx="1664208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0062AC"/>
                </a:solidFill>
                <a:latin typeface="Microsoft YaHei"/>
              </a:rPr>
              <a:t>22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2112264"/>
            <a:ext cx="1664208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11111"/>
                </a:solidFill>
                <a:latin typeface="Microsoft YaHei"/>
              </a:rPr>
              <a:t>上传与错误分类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62856" y="1664208"/>
            <a:ext cx="1847088" cy="82296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54296" y="1783080"/>
            <a:ext cx="1664208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0062AC"/>
                </a:solidFill>
                <a:latin typeface="Microsoft YaHei"/>
              </a:rPr>
              <a:t>8 /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112264"/>
            <a:ext cx="1664208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11111"/>
                </a:solidFill>
                <a:latin typeface="Microsoft YaHei"/>
              </a:rPr>
              <a:t>HTTP 状态分类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51760"/>
            <a:ext cx="1847088" cy="82296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770632"/>
            <a:ext cx="1664208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0062AC"/>
                </a:solidFill>
                <a:latin typeface="Microsoft YaHei"/>
              </a:rPr>
              <a:t>14 / 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99816"/>
            <a:ext cx="1664208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11111"/>
                </a:solidFill>
                <a:latin typeface="Microsoft YaHei"/>
              </a:rPr>
              <a:t>归因恢复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32888" y="2651760"/>
            <a:ext cx="1847088" cy="82296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24328" y="2770632"/>
            <a:ext cx="1664208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0062AC"/>
                </a:solidFill>
                <a:latin typeface="Microsoft YaHei"/>
              </a:rPr>
              <a:t>4 /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4328" y="3099816"/>
            <a:ext cx="1664208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11111"/>
                </a:solidFill>
                <a:latin typeface="Microsoft YaHei"/>
              </a:rPr>
              <a:t>session 压缩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62856" y="2651760"/>
            <a:ext cx="1847088" cy="82296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54296" y="2770632"/>
            <a:ext cx="1664208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0062AC"/>
                </a:solidFill>
                <a:latin typeface="Microsoft YaHei"/>
              </a:rPr>
              <a:t>1 /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3099816"/>
            <a:ext cx="1664208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11111"/>
                </a:solidFill>
                <a:latin typeface="Microsoft YaHei"/>
              </a:rPr>
              <a:t>watermark 精确推进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1243584"/>
            <a:ext cx="21031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213261"/>
                </a:solidFill>
                <a:latin typeface="Microsoft YaHei"/>
              </a:rPr>
              <a:t>后端与管理端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1664208"/>
            <a:ext cx="2139696" cy="82296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3720" y="1783080"/>
            <a:ext cx="1956816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2E7D32"/>
                </a:solidFill>
                <a:latin typeface="Microsoft YaHei"/>
              </a:rPr>
              <a:t>63 / 63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112264"/>
            <a:ext cx="1956816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80" b="0">
                <a:solidFill>
                  <a:srgbClr val="111111"/>
                </a:solidFill>
                <a:latin typeface="Microsoft YaHei"/>
              </a:rPr>
              <a:t>后端 system 专项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53144" y="1664208"/>
            <a:ext cx="2139696" cy="82296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44584" y="1783080"/>
            <a:ext cx="1956816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2E7D32"/>
                </a:solidFill>
                <a:latin typeface="Microsoft YaHei"/>
              </a:rPr>
              <a:t>11 / 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2112264"/>
            <a:ext cx="1956816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80" b="0">
                <a:solidFill>
                  <a:srgbClr val="111111"/>
                </a:solidFill>
                <a:latin typeface="Microsoft YaHei"/>
              </a:rPr>
              <a:t>管理端 admin 专项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2651760"/>
            <a:ext cx="2139696" cy="82296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03720" y="2770632"/>
            <a:ext cx="1956816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2E7D32"/>
                </a:solidFill>
                <a:latin typeface="Microsoft YaHei"/>
              </a:rPr>
              <a:t>通过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099816"/>
            <a:ext cx="1956816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80" b="0">
                <a:solidFill>
                  <a:srgbClr val="111111"/>
                </a:solidFill>
                <a:latin typeface="Microsoft YaHei"/>
              </a:rPr>
              <a:t>前端 ai-stats 测试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53144" y="2651760"/>
            <a:ext cx="2139696" cy="82296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44584" y="2770632"/>
            <a:ext cx="1956816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2E7D32"/>
                </a:solidFill>
                <a:latin typeface="Microsoft YaHei"/>
              </a:rPr>
              <a:t>通过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4584" y="3099816"/>
            <a:ext cx="1956816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80" b="0">
                <a:solidFill>
                  <a:srgbClr val="111111"/>
                </a:solidFill>
                <a:latin typeface="Microsoft YaHei"/>
              </a:rPr>
              <a:t>前端生产构建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3867912"/>
            <a:ext cx="3730752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2920" y="3867912"/>
            <a:ext cx="64008" cy="1353312"/>
          </a:xfrm>
          <a:prstGeom prst="rect">
            <a:avLst/>
          </a:prstGeom>
          <a:solidFill>
            <a:srgbClr val="D6B656"/>
          </a:solidFill>
          <a:ln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3986784"/>
            <a:ext cx="340156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完整客户端回归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398264"/>
            <a:ext cx="3383280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40" b="0">
                <a:solidFill>
                  <a:srgbClr val="111111"/>
                </a:solidFill>
                <a:latin typeface="Microsoft YaHei"/>
              </a:rPr>
              <a:t>2141 项中 2139 通过；2 个 whoami 失败来自本机真实 metrics_api_base_url 配置，隔离复测确认与本次改动无关。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07408" y="3867912"/>
            <a:ext cx="3310128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407408" y="3867912"/>
            <a:ext cx="64008" cy="135331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90288" y="3986784"/>
            <a:ext cx="298094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静态与构建检查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90288" y="4398264"/>
            <a:ext cx="2962656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cargo check --all-targets、cargo fmt --check、前后端 git diff --check 全部通过。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91272" y="3867912"/>
            <a:ext cx="3721608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891272" y="3867912"/>
            <a:ext cx="64008" cy="1353312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74152" y="3986784"/>
            <a:ext cx="339242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准确性不变量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74152" y="4398264"/>
            <a:ext cx="3374136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40" b="0">
                <a:solidFill>
                  <a:srgbClr val="111111"/>
                </a:solidFill>
                <a:latin typeface="Microsoft YaHei"/>
              </a:rPr>
              <a:t>紧凑事实持久化成功后才推进 watermark；checkpoint、Git Notes、commit / rewrite、目标分支确认主链路保持不变。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5559552"/>
            <a:ext cx="11109960" cy="621792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1520" y="5660136"/>
            <a:ext cx="10643616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10" b="1">
                <a:solidFill>
                  <a:srgbClr val="213261"/>
                </a:solidFill>
                <a:latin typeface="Microsoft YaHei"/>
              </a:rPr>
              <a:t>结论：这次改造减少的是重复、敏感且不可控的原始会话，不是代码归属证据；Token 使用绝对累计值与新鲜度规则，代码审计再用目标 commit + 内容哈希独立校验。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0"/>
            <a:ext cx="11521440" cy="8778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213261"/>
                </a:solidFill>
                <a:latin typeface="Microsoft YaHei"/>
              </a:rPr>
              <a:t>上线与存量治理：先阻断新增原文，再在维护窗口回收旧文件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32104"/>
            <a:ext cx="1101852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20" b="1">
                <a:solidFill>
                  <a:srgbClr val="00518E"/>
                </a:solidFill>
                <a:latin typeface="Microsoft YaHei"/>
              </a:rPr>
              <a:t>v7 会逻辑删除旧 session_event 原文并复用空闲页，但 legacy SQLite 默认 auto_vacuum=NONE，文件不会自动缩小。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53312"/>
            <a:ext cx="3493008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64008" cy="135331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72184"/>
            <a:ext cx="316382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上线后新增已受控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83664"/>
            <a:ext cx="3145536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80" b="0">
                <a:solidFill>
                  <a:srgbClr val="111111"/>
                </a:solidFill>
                <a:latin typeface="Microsoft YaHei"/>
              </a:rPr>
              <a:t>原文不落 SQLite、不上传；Token 只保留日累计事实；成功投影和 replay 后清除后台原始 payload。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9663" y="1353312"/>
            <a:ext cx="3493008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9663" y="1353312"/>
            <a:ext cx="64008" cy="1353312"/>
          </a:xfrm>
          <a:prstGeom prst="rect">
            <a:avLst/>
          </a:prstGeom>
          <a:solidFill>
            <a:srgbClr val="D6B656"/>
          </a:solidFill>
          <a:ln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52544" y="1472184"/>
            <a:ext cx="316382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旧文件不会瞬间变小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2544" y="1883664"/>
            <a:ext cx="3145536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逻辑删除只增加 freelist。守护进程启动时自动 VACUUM 会带来长锁、临时磁盘翻倍和多进程分裂风险，因此未启用。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36408" y="1353312"/>
            <a:ext cx="3776472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36408" y="1353312"/>
            <a:ext cx="64008" cy="1353312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9288" y="1472184"/>
            <a:ext cx="344728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审计上线前置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9288" y="1883664"/>
            <a:ext cx="3429000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配置 102 / 103 仓库事实，授予 ai:stats:code:audit 权限，并验证宿主机仓库可读、对象存在和 no-store 响应。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90672"/>
            <a:ext cx="27432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213261"/>
                </a:solidFill>
                <a:latin typeface="Microsoft YaHei"/>
              </a:rPr>
              <a:t>受控物理缩容步骤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84448"/>
            <a:ext cx="198424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1792" y="3721608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3749039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" y="3721608"/>
            <a:ext cx="129844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13261"/>
                </a:solidFill>
                <a:latin typeface="Microsoft YaHei"/>
              </a:rPr>
              <a:t>停进程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4215384"/>
            <a:ext cx="1691640" cy="7040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60" b="0">
                <a:solidFill>
                  <a:srgbClr val="111111"/>
                </a:solidFill>
                <a:latin typeface="Microsoft YaHei"/>
              </a:rPr>
              <a:t>停止 daemon 与所有可能打开数据库的进程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24912" y="3584448"/>
            <a:ext cx="198424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843784" y="3721608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43784" y="3749039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4408" y="3721608"/>
            <a:ext cx="129844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13261"/>
                </a:solidFill>
                <a:latin typeface="Microsoft YaHei"/>
              </a:rPr>
              <a:t>备份核验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71216" y="4215384"/>
            <a:ext cx="1691640" cy="7040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60" b="0">
                <a:solidFill>
                  <a:srgbClr val="111111"/>
                </a:solidFill>
                <a:latin typeface="Microsoft YaHei"/>
              </a:rPr>
              <a:t>记录原库哈希、schema、关键计数与可用空间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46904" y="3584448"/>
            <a:ext cx="198424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065776" y="3721608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65776" y="3749039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721608"/>
            <a:ext cx="129844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13261"/>
                </a:solidFill>
                <a:latin typeface="Microsoft YaHei"/>
              </a:rPr>
              <a:t>VACUUM INTO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3208" y="4215384"/>
            <a:ext cx="1691640" cy="7040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60" b="0">
                <a:solidFill>
                  <a:srgbClr val="111111"/>
                </a:solidFill>
                <a:latin typeface="Microsoft YaHei"/>
              </a:rPr>
              <a:t>写入新文件，保留原库作为可回滚副本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68896" y="3584448"/>
            <a:ext cx="198424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287768" y="3721608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87768" y="3749039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08392" y="3721608"/>
            <a:ext cx="129844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13261"/>
                </a:solidFill>
                <a:latin typeface="Microsoft YaHei"/>
              </a:rPr>
              <a:t>完整性检查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215384"/>
            <a:ext cx="1691640" cy="7040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60" b="0">
                <a:solidFill>
                  <a:srgbClr val="111111"/>
                </a:solidFill>
                <a:latin typeface="Microsoft YaHei"/>
              </a:rPr>
              <a:t>校验 integrity、schema、队列和统计事实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90888" y="3584448"/>
            <a:ext cx="198424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509760" y="3721608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509760" y="3749039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30384" y="3721608"/>
            <a:ext cx="129844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13261"/>
                </a:solidFill>
                <a:latin typeface="Microsoft YaHei"/>
              </a:rPr>
              <a:t>原子替换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37192" y="4215384"/>
            <a:ext cx="1691640" cy="7040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60" b="0">
                <a:solidFill>
                  <a:srgbClr val="111111"/>
                </a:solidFill>
                <a:latin typeface="Microsoft YaHei"/>
              </a:rPr>
              <a:t>替换后重启，确认上传和归因继续正常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532120"/>
            <a:ext cx="11109960" cy="658368"/>
          </a:xfrm>
          <a:prstGeom prst="roundRect">
            <a:avLst/>
          </a:prstGeom>
          <a:solidFill>
            <a:srgbClr val="FCECEC"/>
          </a:solidFill>
          <a:ln w="10160">
            <a:solidFill>
              <a:srgbClr val="E7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5641848"/>
            <a:ext cx="10643616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D93025"/>
                </a:solidFill>
                <a:latin typeface="Microsoft YaHei"/>
              </a:rPr>
              <a:t>当前边界：代码与测试已完成，但尚未生产部署、未执行任何生产迁移或存量清理。物理缩容必须单独审批维护窗口，不能伴随 daemon 自动升级静默执行。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29184" y="155448"/>
            <a:ext cx="9829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8345D"/>
                </a:solidFill>
                <a:latin typeface="Microsoft YaHei"/>
              </a:rPr>
              <a:t>技术问题：本地 commit 不等于最终入库事实</a:t>
            </a:r>
          </a:p>
        </p:txBody>
      </p:sp>
      <p:sp>
        <p:nvSpPr>
          <p:cNvPr id="3" name="页面导语"/>
          <p:cNvSpPr txBox="1"/>
          <p:nvPr/>
        </p:nvSpPr>
        <p:spPr>
          <a:xfrm>
            <a:off x="384048" y="841248"/>
            <a:ext cx="1065276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8345D"/>
                </a:solidFill>
                <a:latin typeface="Microsoft YaHei"/>
              </a:rPr>
              <a:t>旧口径从本地动作或本地 commit 出发，无法确认代码是否、何时、以哪个最终 commit 进入目标仓库。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53312"/>
            <a:ext cx="5349240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5349240" cy="4572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1426464"/>
            <a:ext cx="493776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场景一｜本地分支最终未入库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57400"/>
            <a:ext cx="1243584" cy="310896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084831"/>
            <a:ext cx="1152144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004A84"/>
                </a:solidFill>
                <a:latin typeface="Microsoft YaHei"/>
              </a:rPr>
              <a:t>7 月 1 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039112"/>
            <a:ext cx="324612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AI 生成 100 行，开发者接受 60 行</a:t>
            </a:r>
          </a:p>
        </p:txBody>
      </p:sp>
      <p:sp>
        <p:nvSpPr>
          <p:cNvPr id="10" name="Chevron 9"/>
          <p:cNvSpPr/>
          <p:nvPr/>
        </p:nvSpPr>
        <p:spPr>
          <a:xfrm>
            <a:off x="3063240" y="2578608"/>
            <a:ext cx="310896" cy="219456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9808" y="2907792"/>
            <a:ext cx="1243584" cy="310896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2935224"/>
            <a:ext cx="1152144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004A84"/>
                </a:solidFill>
                <a:latin typeface="Microsoft YaHei"/>
              </a:rPr>
              <a:t>本地 commit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889504"/>
            <a:ext cx="324612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只保留在个人分支，随后被放弃</a:t>
            </a:r>
          </a:p>
        </p:txBody>
      </p:sp>
      <p:sp>
        <p:nvSpPr>
          <p:cNvPr id="14" name="Chevron 13"/>
          <p:cNvSpPr/>
          <p:nvPr/>
        </p:nvSpPr>
        <p:spPr>
          <a:xfrm>
            <a:off x="3063240" y="3429000"/>
            <a:ext cx="310896" cy="219456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9808" y="3758184"/>
            <a:ext cx="1243584" cy="310896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785616"/>
            <a:ext cx="1152144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004A84"/>
                </a:solidFill>
                <a:latin typeface="Microsoft YaHei"/>
              </a:rPr>
              <a:t>目标仓库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739896"/>
            <a:ext cx="324612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最终入库 0 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4590288"/>
            <a:ext cx="4791456" cy="448056"/>
          </a:xfrm>
          <a:prstGeom prst="roundRect">
            <a:avLst/>
          </a:prstGeom>
          <a:solidFill>
            <a:srgbClr val="FCECEC"/>
          </a:solidFill>
          <a:ln w="12700">
            <a:solidFill>
              <a:srgbClr val="E7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654296"/>
            <a:ext cx="4443984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Microsoft YaHei"/>
              </a:rPr>
              <a:t>把未入库代码误计为入库，使入库分子虚增 60 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353312"/>
            <a:ext cx="5166360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44768" y="1353312"/>
            <a:ext cx="5166360" cy="4572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27648" y="1426464"/>
            <a:ext cx="4773168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场景二｜commit 数天后才入库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2512" y="2057400"/>
            <a:ext cx="1243584" cy="310896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2084831"/>
            <a:ext cx="1152144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004A84"/>
                </a:solidFill>
                <a:latin typeface="Microsoft YaHei"/>
              </a:rPr>
              <a:t>7 月 1 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9831" y="2039112"/>
            <a:ext cx="3127248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70" b="0">
                <a:solidFill>
                  <a:srgbClr val="1F1F1F"/>
                </a:solidFill>
                <a:latin typeface="Microsoft YaHei"/>
              </a:rPr>
              <a:t>接受 60 行并形成本地 commit B</a:t>
            </a:r>
          </a:p>
        </p:txBody>
      </p:sp>
      <p:sp>
        <p:nvSpPr>
          <p:cNvPr id="26" name="Chevron 25"/>
          <p:cNvSpPr/>
          <p:nvPr/>
        </p:nvSpPr>
        <p:spPr>
          <a:xfrm>
            <a:off x="8641080" y="2578608"/>
            <a:ext cx="310896" cy="219456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82512" y="2907792"/>
            <a:ext cx="1243584" cy="310896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2935224"/>
            <a:ext cx="1152144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004A84"/>
                </a:solidFill>
                <a:latin typeface="Microsoft YaHei"/>
              </a:rPr>
              <a:t>7 月 10 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9831" y="2889504"/>
            <a:ext cx="3127248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70" b="0">
                <a:solidFill>
                  <a:srgbClr val="1F1F1F"/>
                </a:solidFill>
                <a:latin typeface="Microsoft YaHei"/>
              </a:rPr>
              <a:t>最终 commit T 入库，其中保留 AI 代码 40 行</a:t>
            </a:r>
          </a:p>
        </p:txBody>
      </p:sp>
      <p:sp>
        <p:nvSpPr>
          <p:cNvPr id="30" name="Chevron 29"/>
          <p:cNvSpPr/>
          <p:nvPr/>
        </p:nvSpPr>
        <p:spPr>
          <a:xfrm>
            <a:off x="8641080" y="3429000"/>
            <a:ext cx="310896" cy="219456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3739896"/>
            <a:ext cx="4389120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70" b="0">
                <a:solidFill>
                  <a:srgbClr val="1F1F1F"/>
                </a:solidFill>
                <a:latin typeface="Microsoft YaHei"/>
              </a:rPr>
              <a:t>动作日与入库日不同，不能按同一天的数据直接相除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82512" y="4590288"/>
            <a:ext cx="4617720" cy="448056"/>
          </a:xfrm>
          <a:prstGeom prst="roundRect">
            <a:avLst/>
          </a:prstGeom>
          <a:solidFill>
            <a:srgbClr val="FCECEC"/>
          </a:solidFill>
          <a:ln w="12700">
            <a:solidFill>
              <a:srgbClr val="E7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4654296"/>
            <a:ext cx="438912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Microsoft YaHei"/>
              </a:rPr>
              <a:t>结果是时间批次错配：分子、分母不是同一批代码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458968"/>
            <a:ext cx="9966960" cy="457200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6384" y="5532120"/>
            <a:ext cx="9582912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18345D"/>
                </a:solidFill>
                <a:latin typeface="Microsoft YaHei"/>
              </a:rPr>
              <a:t>根因：统计起点选错。必须由目标仓库的最终 commit 确认真实入库，再反推其 AI 来源；不能把本地 commit 当作最终入库事实。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18288"/>
            <a:ext cx="9052560" cy="768096"/>
          </a:xfrm>
        </p:spPr>
        <p:txBody>
          <a:bodyPr anchor="ctr"/>
          <a:lstStyle/>
          <a:p>
            <a:r>
              <a:rPr lang="zh-CN" sz="2800" noProof="1">
                <a:solidFill>
                  <a:srgbClr val="1C2E5A"/>
                </a:solidFill>
              </a:rPr>
              <a:t>解决</a:t>
            </a:r>
            <a:r>
              <a:rPr lang="zh-CN" sz="2800" b="1" noProof="1">
                <a:solidFill>
                  <a:srgbClr val="1C2E5A"/>
                </a:solidFill>
                <a:latin typeface="Microsoft YaHei"/>
              </a:rPr>
              <a:t>方案：从目标仓库 commit 反推同一批代码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87552"/>
            <a:ext cx="11109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sz="1400" b="0" noProof="1">
                <a:solidFill>
                  <a:srgbClr val="1C2E5A"/>
                </a:solidFill>
                <a:latin typeface="Microsoft YaHei"/>
              </a:rPr>
              <a:t>以已进入目标分支的 commit 为统计批次，沿来源链路反推入库、接受与生成事实，三项比例即可直接计算。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664208"/>
            <a:ext cx="23317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" name="TextBox 4"/>
          <p:cNvSpPr txBox="1"/>
          <p:nvPr/>
        </p:nvSpPr>
        <p:spPr>
          <a:xfrm>
            <a:off x="557784" y="1856231"/>
            <a:ext cx="20939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420" b="1" noProof="1">
                <a:solidFill>
                  <a:srgbClr val="1C2E5A"/>
                </a:solidFill>
                <a:latin typeface="Microsoft YaHei"/>
              </a:rPr>
              <a:t>目标仓库 commit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58568"/>
            <a:ext cx="2075688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lang="zh-CN" sz="1150" b="0" noProof="1">
                <a:solidFill>
                  <a:srgbClr val="1A1A1A"/>
                </a:solidFill>
                <a:latin typeface="Microsoft YaHei"/>
              </a:rPr>
              <a:t>确认已进入目标分支
仓库新增 200 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3552" y="1664208"/>
            <a:ext cx="23317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8" name="TextBox 7"/>
          <p:cNvSpPr txBox="1"/>
          <p:nvPr/>
        </p:nvSpPr>
        <p:spPr>
          <a:xfrm>
            <a:off x="3392424" y="1856231"/>
            <a:ext cx="20939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420" b="1" noProof="1">
                <a:solidFill>
                  <a:srgbClr val="1C2E5A"/>
                </a:solidFill>
                <a:latin typeface="Microsoft YaHei"/>
              </a:rPr>
              <a:t>确认 AI 入库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2258568"/>
            <a:ext cx="2075688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lang="zh-CN" sz="1150" b="0" noProof="1">
                <a:solidFill>
                  <a:srgbClr val="1A1A1A"/>
                </a:solidFill>
                <a:latin typeface="Microsoft YaHei"/>
              </a:rPr>
              <a:t>去重后保留 40 行
同一来源行只计一次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2" y="1664208"/>
            <a:ext cx="23317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1" name="TextBox 10"/>
          <p:cNvSpPr txBox="1"/>
          <p:nvPr/>
        </p:nvSpPr>
        <p:spPr>
          <a:xfrm>
            <a:off x="6227064" y="1856231"/>
            <a:ext cx="20939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420" b="1" noProof="1">
                <a:solidFill>
                  <a:srgbClr val="1C2E5A"/>
                </a:solidFill>
                <a:latin typeface="Microsoft YaHei"/>
              </a:rPr>
              <a:t>反推接受来源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7" y="2258568"/>
            <a:ext cx="2075688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lang="zh-CN" sz="1150" b="0" noProof="1">
                <a:solidFill>
                  <a:srgbClr val="1A1A1A"/>
                </a:solidFill>
                <a:latin typeface="Microsoft YaHei"/>
              </a:rPr>
              <a:t>关联到当时接受 60 行
不受实际发生日期影响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2832" y="1664208"/>
            <a:ext cx="23317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4" name="TextBox 13"/>
          <p:cNvSpPr txBox="1"/>
          <p:nvPr/>
        </p:nvSpPr>
        <p:spPr>
          <a:xfrm>
            <a:off x="9061704" y="1856231"/>
            <a:ext cx="20939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420" b="1" noProof="1">
                <a:solidFill>
                  <a:srgbClr val="1C2E5A"/>
                </a:solidFill>
                <a:latin typeface="Microsoft YaHei"/>
              </a:rPr>
              <a:t>反推生成来源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2258568"/>
            <a:ext cx="2075688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lang="zh-CN" sz="1150" b="0" noProof="1">
                <a:solidFill>
                  <a:srgbClr val="1A1A1A"/>
                </a:solidFill>
                <a:latin typeface="Microsoft YaHei"/>
              </a:rPr>
              <a:t>关联到当时生成 100 行
形成完整来源链</a:t>
            </a:r>
          </a:p>
        </p:txBody>
      </p:sp>
      <p:sp>
        <p:nvSpPr>
          <p:cNvPr id="16" name="Chevron 15"/>
          <p:cNvSpPr/>
          <p:nvPr/>
        </p:nvSpPr>
        <p:spPr>
          <a:xfrm>
            <a:off x="2862072" y="2276856"/>
            <a:ext cx="347471" cy="201168"/>
          </a:xfrm>
          <a:prstGeom prst="chevron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7" name="Chevron 16"/>
          <p:cNvSpPr/>
          <p:nvPr/>
        </p:nvSpPr>
        <p:spPr>
          <a:xfrm>
            <a:off x="5696712" y="2276856"/>
            <a:ext cx="347471" cy="201168"/>
          </a:xfrm>
          <a:prstGeom prst="chevron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8" name="Chevron 17"/>
          <p:cNvSpPr/>
          <p:nvPr/>
        </p:nvSpPr>
        <p:spPr>
          <a:xfrm>
            <a:off x="8531352" y="2276856"/>
            <a:ext cx="347472" cy="201168"/>
          </a:xfrm>
          <a:prstGeom prst="chevron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TextBox 18"/>
          <p:cNvSpPr txBox="1"/>
          <p:nvPr/>
        </p:nvSpPr>
        <p:spPr>
          <a:xfrm>
            <a:off x="475488" y="3246120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sz="1400" b="1" noProof="1">
                <a:solidFill>
                  <a:srgbClr val="1C2E5A"/>
                </a:solidFill>
                <a:latin typeface="Microsoft YaHei"/>
              </a:rPr>
              <a:t>统一口径后的指标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3675887"/>
            <a:ext cx="2971800" cy="120700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C8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1" name="TextBox 20"/>
          <p:cNvSpPr txBox="1"/>
          <p:nvPr/>
        </p:nvSpPr>
        <p:spPr>
          <a:xfrm>
            <a:off x="585216" y="3813048"/>
            <a:ext cx="26791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400" b="1" noProof="1">
                <a:solidFill>
                  <a:srgbClr val="1C2E5A"/>
                </a:solidFill>
                <a:latin typeface="Microsoft YaHei"/>
              </a:rPr>
              <a:t>AI 贡献率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4114800"/>
            <a:ext cx="26791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080" b="0" noProof="1">
                <a:solidFill>
                  <a:srgbClr val="1A1A1A"/>
                </a:solidFill>
                <a:latin typeface="Microsoft YaHei"/>
              </a:rPr>
              <a:t>确认 AI 入库 ÷ 仓库新增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4416552"/>
            <a:ext cx="26791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750" b="1" noProof="1">
                <a:solidFill>
                  <a:srgbClr val="0062AC"/>
                </a:solidFill>
                <a:latin typeface="Microsoft YaHei"/>
              </a:rPr>
              <a:t>40 ÷ 200 = 20%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30752" y="3675887"/>
            <a:ext cx="2971800" cy="120700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C8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5" name="TextBox 24"/>
          <p:cNvSpPr txBox="1"/>
          <p:nvPr/>
        </p:nvSpPr>
        <p:spPr>
          <a:xfrm>
            <a:off x="3877056" y="3813048"/>
            <a:ext cx="26791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400" b="1" noProof="1">
                <a:solidFill>
                  <a:srgbClr val="1C2E5A"/>
                </a:solidFill>
                <a:latin typeface="Microsoft YaHei"/>
              </a:rPr>
              <a:t>入库率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77056" y="4114800"/>
            <a:ext cx="26791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080" b="0" noProof="1">
                <a:solidFill>
                  <a:srgbClr val="1A1A1A"/>
                </a:solidFill>
                <a:latin typeface="Microsoft YaHei"/>
              </a:rPr>
              <a:t>确认 AI 入库 ÷ 同批接受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77056" y="4416552"/>
            <a:ext cx="26791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750" b="1" noProof="1">
                <a:solidFill>
                  <a:srgbClr val="007F68"/>
                </a:solidFill>
                <a:latin typeface="Microsoft YaHei"/>
              </a:rPr>
              <a:t>40 ÷ 60 = 66.7%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22592" y="3675887"/>
            <a:ext cx="2971800" cy="120700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C8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9" name="TextBox 28"/>
          <p:cNvSpPr txBox="1"/>
          <p:nvPr/>
        </p:nvSpPr>
        <p:spPr>
          <a:xfrm>
            <a:off x="7168896" y="3813048"/>
            <a:ext cx="26791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400" b="1" noProof="1">
                <a:solidFill>
                  <a:srgbClr val="1C2E5A"/>
                </a:solidFill>
                <a:latin typeface="Microsoft YaHei"/>
              </a:rPr>
              <a:t>接受率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8896" y="4114800"/>
            <a:ext cx="26791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080" b="0" noProof="1">
                <a:solidFill>
                  <a:srgbClr val="1A1A1A"/>
                </a:solidFill>
                <a:latin typeface="Microsoft YaHei"/>
              </a:rPr>
              <a:t>同批接受 ÷ 同批生成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896" y="4416552"/>
            <a:ext cx="26791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750" b="1" noProof="1">
                <a:solidFill>
                  <a:srgbClr val="0062AC"/>
                </a:solidFill>
                <a:latin typeface="Microsoft YaHei"/>
              </a:rPr>
              <a:t>60 ÷ 100 = 60%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68128" y="3840480"/>
            <a:ext cx="10058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350" b="1" noProof="1">
                <a:solidFill>
                  <a:srgbClr val="007F68"/>
                </a:solidFill>
                <a:latin typeface="Microsoft YaHei"/>
              </a:rPr>
              <a:t>三项指标
≤ 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230368"/>
            <a:ext cx="10469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sz="1180" b="1" noProof="1">
                <a:solidFill>
                  <a:srgbClr val="1C2E5A"/>
                </a:solidFill>
                <a:latin typeface="Microsoft YaHei"/>
              </a:rPr>
              <a:t>保障机制：目标 commit 作为唯一入口｜来源行级去重｜延迟入库归入最终 commit 批次｜本地 rewrite 只替换未确认候选。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650992"/>
            <a:ext cx="96926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sz="960" b="0" noProof="1">
                <a:solidFill>
                  <a:srgbClr val="1A1A1A"/>
                </a:solidFill>
                <a:latin typeface="Microsoft YaHei"/>
              </a:rPr>
              <a:t>Git AI 产品口径：未独立采集生成量时，生成行数按接受行数计；入库确认仍以目标仓库 commit 为准。</a:t>
            </a:r>
          </a:p>
        </p:txBody>
      </p:sp>
      <p:sp>
        <p:nvSpPr>
          <p:cNvPr id="35" name="TextBox 33">
            <a:extLst>
              <a:ext uri="{FF2B5EF4-FFF2-40B4-BE49-F238E27FC236}">
                <a16:creationId xmlns:a16="http://schemas.microsoft.com/office/drawing/2014/main" id="{1B7A46F6-7A5E-9D86-0D07-587E31F33148}"/>
              </a:ext>
            </a:extLst>
          </p:cNvPr>
          <p:cNvSpPr txBox="1"/>
          <p:nvPr/>
        </p:nvSpPr>
        <p:spPr>
          <a:xfrm>
            <a:off x="457200" y="5926539"/>
            <a:ext cx="8280920" cy="3395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960" b="0" noProof="1">
                <a:solidFill>
                  <a:srgbClr val="1A1A1A"/>
                </a:solidFill>
                <a:latin typeface="Microsoft YaHei"/>
              </a:rPr>
              <a:t>项目个人体会：功能开发完毕之后，可能只完成了整体工作量的 </a:t>
            </a:r>
            <a:r>
              <a:rPr lang="en-US" altLang="zh-CN" sz="960" b="0" noProof="1">
                <a:solidFill>
                  <a:srgbClr val="1A1A1A"/>
                </a:solidFill>
                <a:latin typeface="Microsoft YaHei"/>
              </a:rPr>
              <a:t>30%</a:t>
            </a:r>
            <a:r>
              <a:rPr lang="zh-CN" altLang="en-US" sz="960" noProof="1">
                <a:solidFill>
                  <a:srgbClr val="1A1A1A"/>
                </a:solidFill>
              </a:rPr>
              <a:t>、</a:t>
            </a:r>
            <a:r>
              <a:rPr lang="en-US" altLang="zh-CN" sz="960" noProof="1">
                <a:solidFill>
                  <a:srgbClr val="1A1A1A"/>
                </a:solidFill>
              </a:rPr>
              <a:t>40%</a:t>
            </a:r>
            <a:r>
              <a:rPr lang="zh-CN" altLang="en-US" sz="960" b="0" noProof="1">
                <a:solidFill>
                  <a:srgbClr val="1A1A1A"/>
                </a:solidFill>
                <a:latin typeface="Microsoft YaHei"/>
              </a:rPr>
              <a:t>。</a:t>
            </a:r>
            <a:r>
              <a:rPr lang="zh-CN" altLang="en-US" sz="960" noProof="1">
                <a:solidFill>
                  <a:srgbClr val="1A1A1A"/>
                </a:solidFill>
              </a:rPr>
              <a:t>真实上线后产生大量数据以及使用场景之后，可能还需要 </a:t>
            </a:r>
            <a:r>
              <a:rPr lang="en-US" altLang="zh-CN" sz="960" noProof="1">
                <a:solidFill>
                  <a:srgbClr val="1A1A1A"/>
                </a:solidFill>
              </a:rPr>
              <a:t>60%</a:t>
            </a:r>
            <a:r>
              <a:rPr lang="zh-CN" altLang="en-US" sz="960" noProof="1">
                <a:solidFill>
                  <a:srgbClr val="1A1A1A"/>
                </a:solidFill>
              </a:rPr>
              <a:t>、</a:t>
            </a:r>
            <a:r>
              <a:rPr lang="en-US" altLang="zh-CN" sz="960" noProof="1">
                <a:solidFill>
                  <a:srgbClr val="1A1A1A"/>
                </a:solidFill>
              </a:rPr>
              <a:t>70%</a:t>
            </a:r>
            <a:r>
              <a:rPr lang="zh-CN" altLang="en-US" sz="960" noProof="1">
                <a:solidFill>
                  <a:srgbClr val="1A1A1A"/>
                </a:solidFill>
              </a:rPr>
              <a:t> 的工作量，用于解决这些场景问题、更新功能、修复</a:t>
            </a:r>
            <a:r>
              <a:rPr lang="en-US" altLang="zh-CN" sz="960" noProof="1">
                <a:solidFill>
                  <a:srgbClr val="1A1A1A"/>
                </a:solidFill>
              </a:rPr>
              <a:t>bug</a:t>
            </a:r>
            <a:r>
              <a:rPr lang="zh-CN" altLang="en-US" sz="960" noProof="1">
                <a:solidFill>
                  <a:srgbClr val="1A1A1A"/>
                </a:solidFill>
              </a:rPr>
              <a:t>。</a:t>
            </a:r>
            <a:endParaRPr lang="zh-CN" sz="960" b="0" noProof="1">
              <a:solidFill>
                <a:srgbClr val="1A1A1A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38328" y="0"/>
            <a:ext cx="1152144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213261"/>
                </a:solidFill>
                <a:latin typeface="Microsoft YaHei"/>
              </a:rPr>
              <a:t>问题一：巨量导入抬高分母，AI 贡献率被稀释</a:t>
            </a:r>
          </a:p>
        </p:txBody>
      </p:sp>
      <p:sp>
        <p:nvSpPr>
          <p:cNvPr id="3" name="页面导语"/>
          <p:cNvSpPr txBox="1"/>
          <p:nvPr/>
        </p:nvSpPr>
        <p:spPr>
          <a:xfrm>
            <a:off x="484632" y="932688"/>
            <a:ext cx="10835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20" b="0">
                <a:solidFill>
                  <a:srgbClr val="213261"/>
                </a:solidFill>
                <a:latin typeface="Microsoft YaHei"/>
              </a:rPr>
              <a:t>当前分母混入日常开发、整体迁移、模板基线和开源导入，项目间 AI 贡献率暂不宜直接横向比较。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6565392" cy="43342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58191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20" b="1">
                <a:solidFill>
                  <a:srgbClr val="213261"/>
                </a:solidFill>
                <a:latin typeface="Microsoft YaHei"/>
              </a:rPr>
              <a:t>本地 6—7 月去重样本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20240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C00000"/>
                </a:solidFill>
                <a:latin typeface="Microsoft YaHei"/>
              </a:rPr>
              <a:t>442.9 万行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07792" y="2029968"/>
            <a:ext cx="204825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单次最大提交（新增 + 删除）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2029968"/>
            <a:ext cx="1490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518E"/>
                </a:solidFill>
                <a:latin typeface="Microsoft YaHei"/>
              </a:rPr>
              <a:t>icfs · 2026-07-08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33472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40" b="1">
                <a:solidFill>
                  <a:srgbClr val="111111"/>
                </a:solidFill>
                <a:latin typeface="Microsoft YaHei"/>
              </a:rPr>
              <a:t>15 万行以上的异常候选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63347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40" b="1">
                <a:solidFill>
                  <a:srgbClr val="C00000"/>
                </a:solidFill>
                <a:latin typeface="Microsoft YaHei"/>
              </a:rPr>
              <a:t>8 次提交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633472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Microsoft YaHei"/>
              </a:rPr>
              <a:t>占总提交行数 79.4%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962656"/>
            <a:ext cx="5815584" cy="320040"/>
          </a:xfrm>
          <a:prstGeom prst="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9808" y="2962656"/>
            <a:ext cx="4617720" cy="32004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971800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90" b="1">
                <a:solidFill>
                  <a:srgbClr val="FFFFFF"/>
                </a:solidFill>
                <a:latin typeface="Microsoft YaHei"/>
              </a:rPr>
              <a:t>异常候选 1,278.9 万行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2044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13261"/>
                </a:solidFill>
                <a:latin typeface="Microsoft YaHei"/>
              </a:rPr>
              <a:t>最大四次提交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84048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11111"/>
                </a:solidFill>
                <a:latin typeface="Microsoft YaHei"/>
              </a:rPr>
              <a:t>icfs · 07-08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87168" y="3886200"/>
            <a:ext cx="2926080" cy="182880"/>
          </a:xfrm>
          <a:prstGeom prst="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487168" y="3886200"/>
            <a:ext cx="2926080" cy="1828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04688" y="3840480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C00000"/>
                </a:solidFill>
                <a:latin typeface="Microsoft YaHei"/>
              </a:rPr>
              <a:t>442.9 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215384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11111"/>
                </a:solidFill>
                <a:latin typeface="Microsoft YaHei"/>
              </a:rPr>
              <a:t>icfs · 06-04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7168" y="4261104"/>
            <a:ext cx="2926080" cy="182880"/>
          </a:xfrm>
          <a:prstGeom prst="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87168" y="4261104"/>
            <a:ext cx="2925091" cy="1828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04688" y="4215384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C00000"/>
                </a:solidFill>
                <a:latin typeface="Microsoft YaHei"/>
              </a:rPr>
              <a:t>442.7 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590288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11111"/>
                </a:solidFill>
                <a:latin typeface="Microsoft YaHei"/>
              </a:rPr>
              <a:t>iagent · 07-20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7168" y="4636007"/>
            <a:ext cx="2926080" cy="182880"/>
          </a:xfrm>
          <a:prstGeom prst="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487168" y="4636007"/>
            <a:ext cx="636363" cy="182880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04688" y="4590288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0062AC"/>
                </a:solidFill>
                <a:latin typeface="Microsoft YaHei"/>
              </a:rPr>
              <a:t>96.3 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96519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11111"/>
                </a:solidFill>
                <a:latin typeface="Microsoft YaHei"/>
              </a:rPr>
              <a:t>iagent · 06-10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7168" y="5010912"/>
            <a:ext cx="2926080" cy="182880"/>
          </a:xfrm>
          <a:prstGeom prst="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487168" y="5010912"/>
            <a:ext cx="595241" cy="182880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04688" y="4965192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0062AC"/>
                </a:solidFill>
                <a:latin typeface="Microsoft YaHei"/>
              </a:rPr>
              <a:t>90.1 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340096"/>
            <a:ext cx="58064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9" b="0">
                <a:solidFill>
                  <a:srgbClr val="111111"/>
                </a:solidFill>
                <a:latin typeface="Microsoft YaHei"/>
              </a:rPr>
              <a:t>口径：本地库 2026-06-01—07-21；按规范仓库 + commit 去重；提交行数 = 新增 + 删除。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33488" y="1371600"/>
            <a:ext cx="3931920" cy="8046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333488" y="1371600"/>
            <a:ext cx="73152" cy="8046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34656" y="1490472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C00000"/>
                </a:solidFill>
                <a:latin typeface="Microsoft YaHei"/>
              </a:rPr>
              <a:t>问题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1463040"/>
            <a:ext cx="270662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少数超大提交决定了绝大部分分母，掩盖日常开发中的 AI 使用。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33488" y="2304288"/>
            <a:ext cx="3931920" cy="12252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333488" y="2304288"/>
            <a:ext cx="73152" cy="1225296"/>
          </a:xfrm>
          <a:prstGeom prst="rect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34656" y="2423160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062AC"/>
                </a:solidFill>
                <a:latin typeface="Microsoft YaHei"/>
              </a:rPr>
              <a:t>已知来源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7616" y="2395728"/>
            <a:ext cx="2706624" cy="1042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iagent：外网开发后整体导入内网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openspec-ai：模板 / 基线代码复制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开源项目整体引入：项目待确认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33488" y="3657600"/>
            <a:ext cx="3931920" cy="93268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333488" y="3657600"/>
            <a:ext cx="73152" cy="932688"/>
          </a:xfrm>
          <a:prstGeom prst="rect">
            <a:avLst/>
          </a:prstGeom>
          <a:solidFill>
            <a:srgbClr val="005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34656" y="3776472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0518E"/>
                </a:solidFill>
                <a:latin typeface="Microsoft YaHei"/>
              </a:rPr>
              <a:t>现状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7616" y="3749039"/>
            <a:ext cx="2706624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“扣减标注”已可临时修正首页，但仍依赖管理员填写固定行数，尚未形成来源识别与统一调整口径。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33488" y="4718304"/>
            <a:ext cx="3931920" cy="9875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333488" y="4718304"/>
            <a:ext cx="73152" cy="987552"/>
          </a:xfrm>
          <a:prstGeom prst="rect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534656" y="4837176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062AC"/>
                </a:solidFill>
                <a:latin typeface="Microsoft YaHei"/>
              </a:rPr>
              <a:t>建议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7616" y="4809744"/>
            <a:ext cx="2706624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系统识别异常候选 → 仓库维护人确认来源 / 排除范围 → 原始口径与调整口径并列展示。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5833872"/>
            <a:ext cx="9582912" cy="512064"/>
          </a:xfrm>
          <a:prstGeom prst="roundRect">
            <a:avLst/>
          </a:prstGeom>
          <a:solidFill>
            <a:srgbClr val="EAF4FB"/>
          </a:solidFill>
          <a:ln w="1143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3232" y="5897880"/>
            <a:ext cx="91622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20" b="1">
                <a:solidFill>
                  <a:srgbClr val="213261"/>
                </a:solidFill>
                <a:latin typeface="Microsoft YaHei"/>
              </a:rPr>
              <a:t>另一因素是分子漏采：Codex、Claude Code、Kilo v7、OpenCode 等历史生成事实尚未完整进入统计；Git AI 上线后需单独观测。本页只聚焦分母问题。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1874519"/>
            <a:ext cx="11018520" cy="201168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39696"/>
            <a:ext cx="105156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2130552"/>
            <a:ext cx="2743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48840" y="2103120"/>
            <a:ext cx="8138160" cy="6583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验证与上线边界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7128" y="2889504"/>
            <a:ext cx="850392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完成度以可验证证据为准：合并、构建、回归、真实运行与数据清理分别设门槛。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0"/>
            <a:ext cx="11521440" cy="8778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213261"/>
                </a:solidFill>
                <a:latin typeface="Microsoft YaHei"/>
              </a:rPr>
              <a:t>当前完成度与正式上线清单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32104"/>
            <a:ext cx="1101852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20" b="1">
                <a:solidFill>
                  <a:srgbClr val="00518E"/>
                </a:solidFill>
                <a:latin typeface="Microsoft YaHei"/>
              </a:rPr>
              <a:t>实现和专项验证已经收口；生产落地仍需按配置、权限、真实仓库和存量缩容四条线验收。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376672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64008" cy="43891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44752"/>
            <a:ext cx="504748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已经完成并可复核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56231"/>
            <a:ext cx="5029200" cy="374903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1. 客户端原始会话只在内存解析，不写 SQLite、不上传。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0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2. v7 迁移、跨进程锁、旧原文阻断触发器、批次限额与 fail-closed 已实现。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0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3. 8082 长故障重试、恢复续传与不可投递分类已实现。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0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4. 后端 Token 日事实直写、原始 payload 清除与轻量审计 sidecar 已实现。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0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5. “查看代码”已接通宿主机只读 Git 取证，权限、范围、哈希和资源限制已加固。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0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6. 客户端、后端、管理端专项回归和构建检查通过。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1325880"/>
            <a:ext cx="5504688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08192" y="1325880"/>
            <a:ext cx="64008" cy="4389120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1072" y="1444752"/>
            <a:ext cx="5175503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正式上线前必须收口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1856231"/>
            <a:ext cx="5157216" cy="374903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1. 备份并灰度升级 v7，监控 SQLite 增长、freelist、上传队列和 8082 请求体。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0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2. 核对 8081 /prod-api 到 8082 的生产代理、Nginx 10m 与应用 8 MiB 限制。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0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3. 为审计角色授予 ai:stats:code:audit，验证 102 / 103 仓库映射及宿主机只读权限。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0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4. 用真实 commit 覆盖正常、rewrite / squash、删除、超限、仓库缺失等审计结果。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0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5. 在独立维护窗口执行旧库 VACUUM INTO / 原子替换，并保留原库回滚。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0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6. 重新生成正式离线包，完成真实 Windows、VS Code、JetBrains、Kilo 端到端冒烟。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925312"/>
            <a:ext cx="11109960" cy="384048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5971032"/>
            <a:ext cx="10698480" cy="265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70" b="1">
                <a:solidFill>
                  <a:srgbClr val="213261"/>
                </a:solidFill>
                <a:latin typeface="Microsoft YaHei"/>
              </a:rPr>
              <a:t>最终状态：新增数据规模已从“会话内容 × 消息数”收敛为“日期 × 有限统计维度”；代码准确性由既有归因链路与按需 Git 审计共同保障。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JjY2QyYWI3ZDU4MTE5ZTVkYmU2NzZhYWIzNDg1ODA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Microsoft YaHei"/>
        <a:ea typeface="微软雅黑"/>
        <a:cs typeface="Microsoft YaHei"/>
      </a:majorFont>
      <a:minorFont>
        <a:latin typeface="Microsoft YaHei"/>
        <a:ea typeface="微软雅黑"/>
        <a:cs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Microsoft YaHei"/>
        <a:ea typeface="微软雅黑"/>
        <a:cs typeface="Microsoft YaHei"/>
      </a:majorFont>
      <a:minorFont>
        <a:latin typeface="Microsoft YaHei"/>
        <a:ea typeface="微软雅黑"/>
        <a:cs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Microsoft YaHei"/>
        <a:ea typeface="微软雅黑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Microsoft YaHei"/>
        <a:ea typeface="微软雅黑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3123</TotalTime>
  <Words>3895</Words>
  <Application>Microsoft Macintosh PowerPoint</Application>
  <PresentationFormat>宽屏</PresentationFormat>
  <Paragraphs>748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42" baseType="lpstr">
      <vt:lpstr>Microsoft YaHei</vt:lpstr>
      <vt:lpstr>Arial</vt:lpstr>
      <vt:lpstr>Menlo</vt:lpstr>
      <vt:lpstr>默认设计模板</vt:lpstr>
      <vt:lpstr>6_默认设计模板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CLI 和插件的 FAQ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Git 生命周期归因：原生支持与后台闭环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解决方案：从目标仓库 commit 反推同一批代码</vt:lpstr>
      <vt:lpstr>PowerPoint 演示文稿</vt:lpstr>
      <vt:lpstr>PowerPoint 演示文稿</vt:lpstr>
      <vt:lpstr>PowerPoint 演示文稿</vt:lpstr>
    </vt:vector>
  </TitlesOfParts>
  <Company>Inspur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张卫国</dc:creator>
  <cp:lastModifiedBy>. Mark</cp:lastModifiedBy>
  <cp:revision>3159</cp:revision>
  <dcterms:created xsi:type="dcterms:W3CDTF">2005-10-07T03:09:00Z</dcterms:created>
  <dcterms:modified xsi:type="dcterms:W3CDTF">2026-07-23T08:37:11Z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9B353613D99F44938252A41606CB88A7_13</vt:lpwstr>
  </property>
  <property fmtid="{D5CDD505-2E9C-101B-9397-08002B2CF9AE}" pid="3" name="KSOProductBuildVer">
    <vt:lpwstr>2052-12.1.0.25865</vt:lpwstr>
  </property>
</Properties>
</file>