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handoutMasterIdLst>
    <p:handoutMasterId r:id="rId40"/>
  </p:handoutMasterIdLst>
  <p:sldIdLst>
    <p:sldId id="272" r:id="rId3"/>
    <p:sldId id="276" r:id="rId4"/>
    <p:sldId id="277" r:id="rId5"/>
    <p:sldId id="262" r:id="rId6"/>
    <p:sldId id="263" r:id="rId7"/>
    <p:sldId id="278" r:id="rId8"/>
    <p:sldId id="266" r:id="rId9"/>
    <p:sldId id="267" r:id="rId10"/>
    <p:sldId id="269" r:id="rId11"/>
    <p:sldId id="264" r:id="rId12"/>
    <p:sldId id="279" r:id="rId13"/>
    <p:sldId id="280" r:id="rId14"/>
    <p:sldId id="271" r:id="rId15"/>
    <p:sldId id="281" r:id="rId16"/>
    <p:sldId id="301" r:id="rId17"/>
    <p:sldId id="273" r:id="rId18"/>
    <p:sldId id="282" r:id="rId19"/>
    <p:sldId id="283" r:id="rId20"/>
    <p:sldId id="304" r:id="rId49"/>
    <p:sldId id="284" r:id="rId21"/>
    <p:sldId id="285" r:id="rId22"/>
    <p:sldId id="286" r:id="rId23"/>
    <p:sldId id="290" r:id="rId24"/>
    <p:sldId id="291" r:id="rId25"/>
    <p:sldId id="292" r:id="rId26"/>
    <p:sldId id="293" r:id="rId27"/>
    <p:sldId id="294" r:id="rId28"/>
    <p:sldId id="295" r:id="rId29"/>
    <p:sldId id="299" r:id="rId30"/>
    <p:sldId id="296" r:id="rId31"/>
    <p:sldId id="300" r:id="rId32"/>
    <p:sldId id="297" r:id="rId33"/>
    <p:sldId id="298" r:id="rId34"/>
    <p:sldId id="274" r:id="rId35"/>
    <p:sldId id="275" r:id="rId36"/>
    <p:sldId id="289" r:id="rId37"/>
    <p:sldId id="287" r:id="rId38"/>
    <p:sldId id="288" r:id="rId39"/>
    <p:sldId id="302" r:id="rId47"/>
    <p:sldId id="303" r:id="rId48"/>
  </p:sldIdLst>
  <p:sldSz cx="12192000" cy="6858000"/>
  <p:notesSz cx="6858000" cy="9144000"/>
  <p:custDataLst>
    <p:tags r:id="rId41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orient="horz" pos="929" userDrawn="1">
          <p15:clr>
            <a:srgbClr val="A4A3A4"/>
          </p15:clr>
        </p15:guide>
        <p15:guide id="3" orient="horz" pos="2889" userDrawn="1">
          <p15:clr>
            <a:srgbClr val="A4A3A4"/>
          </p15:clr>
        </p15:guide>
        <p15:guide id="4" pos="1884" userDrawn="1">
          <p15:clr>
            <a:srgbClr val="A4A3A4"/>
          </p15:clr>
        </p15:guide>
        <p15:guide id="5" pos="2463" userDrawn="1">
          <p15:clr>
            <a:srgbClr val="A4A3A4"/>
          </p15:clr>
        </p15:guide>
        <p15:guide id="6" pos="34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AC"/>
    <a:srgbClr val="0033CC"/>
    <a:srgbClr val="00518E"/>
    <a:srgbClr val="003399"/>
    <a:srgbClr val="213261"/>
    <a:srgbClr val="000000"/>
    <a:srgbClr val="FF9999"/>
    <a:srgbClr val="FF7C80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20" autoAdjust="0"/>
    <p:restoredTop sz="88296" autoAdjust="0"/>
  </p:normalViewPr>
  <p:slideViewPr>
    <p:cSldViewPr showGuides="1">
      <p:cViewPr varScale="1">
        <p:scale>
          <a:sx n="128" d="100"/>
          <a:sy n="128" d="100"/>
        </p:scale>
        <p:origin x="704" y="176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handoutMaster" Target="handoutMasters/handoutMaster1.xml"/><Relationship Id="rId41" Type="http://schemas.openxmlformats.org/officeDocument/2006/relationships/tags" Target="tags/tag1.xml"/><Relationship Id="rId42" Type="http://schemas.openxmlformats.org/officeDocument/2006/relationships/commentAuthors" Target="commentAuthors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2026/7/23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8" y="1584325"/>
            <a:ext cx="12194118" cy="36448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AutoShape 10"/>
          <p:cNvSpPr>
            <a:spLocks noChangeArrowheads="1"/>
          </p:cNvSpPr>
          <p:nvPr userDrawn="1"/>
        </p:nvSpPr>
        <p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7" name="Rectangle 11"/>
          <p:cNvSpPr>
            <a:spLocks noChangeArrowheads="1"/>
          </p:cNvSpPr>
          <p:nvPr userDrawn="1"/>
        </p:nvSpPr>
        <p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封面标题"/>
          <p:cNvSpPr txBox="1"/>
          <p:nvPr/>
        </p:nvSpPr>
        <p:spPr>
          <a:xfrm>
            <a:off x="768096" y="475488"/>
            <a:ext cx="8412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</a:rPr>
              <a:t>Git AI 企业化集成与二开实践</a:t>
            </a:r>
            <a:endParaRPr lang="zh-CN" dirty="0">
              <a:solidFill>
                <a:srgbClr val="FFFFFF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3" name="封面副标题"/>
          <p:cNvSpPr txBox="1"/>
          <p:nvPr/>
        </p:nvSpPr>
        <p:spPr>
          <a:xfrm>
            <a:off x="1234440" y="2578608"/>
            <a:ext cx="9555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2300" b="1">
                <a:solidFill>
                  <a:srgbClr val="18345D"/>
                </a:solidFill>
                <a:latin typeface="Microsoft YaHei"/>
              </a:rPr>
              <a:t>上游融合、Kilo v7 适配、存储收敛、提交审计与后台统计闭环</a:t>
            </a:r>
            <a:endParaRPr lang="zh-CN">
              <a:solidFill>
                <a:srgbClr val="0062AC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封面日期"/>
          <p:cNvSpPr txBox="1"/>
          <p:nvPr/>
        </p:nvSpPr>
        <p:spPr>
          <a:xfrm>
            <a:off x="1243584" y="3447288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1450" b="0">
                <a:solidFill>
                  <a:srgbClr val="1F1F1F"/>
                </a:solidFill>
                <a:latin typeface="Microsoft YaHei"/>
              </a:rPr>
              <a:t>内部技术研究 · 2026 年 7 月｜基线：Git AI 1.6.16</a:t>
            </a:r>
            <a:endParaRPr lang="zh-CN">
              <a:solidFill>
                <a:srgbClr val="202020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内容目录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08176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444752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64208" y="1399032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08176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CLI、插件、行级来源事实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58568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9888" y="2295144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4208" y="2249424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58568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Windows、Linux、IDE 与 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9888" y="3145536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64208" y="3099816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企业上报、Kilo v7、生命周期与离线交付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959352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89888" y="3995928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64208" y="3950208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959352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接入、存储收敛、归因、代码审计与留存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09744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89888" y="4846320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64208" y="4800600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809744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完成度、发布门槛与下一步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明确 Git AI 记录什么、插件负责什么，以及 AI / Human / Unknown 的口径。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48075"/>
            <a:ext cx="756701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Git AI CLI 与插件的分工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0052" y="1266024"/>
            <a:ext cx="8311896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b="0" noProof="1">
                <a:solidFill>
                  <a:srgbClr val="111111"/>
                </a:solidFill>
                <a:latin typeface="Microsoft YaHei"/>
              </a:rPr>
              <a:t>核心判断：CLI 负责归因统计；已适配 Hook / 插件 / 命令拦截负责把来源事实送进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919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621919" y="1945521"/>
            <a:ext cx="3401568" cy="45720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786510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Git AI CLI：统计核心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287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Rectangle 7"/>
          <p:cNvSpPr/>
          <p:nvPr/>
        </p:nvSpPr>
        <p:spPr>
          <a:xfrm>
            <a:off x="8138287" y="1945521"/>
            <a:ext cx="3401568" cy="457200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TextBox 8"/>
          <p:cNvSpPr txBox="1"/>
          <p:nvPr/>
        </p:nvSpPr>
        <p:spPr>
          <a:xfrm>
            <a:off x="8302879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插件 / Hook：采集入口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086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591" y="2613033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本机 git-ai 二进制与后台 daemon，全局安装一次。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086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负责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591" y="3326265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记录/迁移行级归因，写入 Git Notes，维护本地状态库。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086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查询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6591" y="4039497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提供 status、stats、blame、diff 等命令。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086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lang="zh-CN" sz="1500" b="1" noProof="1">
                <a:solidFill>
                  <a:srgbClr val="0062AC"/>
                </a:solidFill>
                <a:latin typeface="Microsoft YaHei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591" y="4752729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提交上的来源事实、Git Notes，以及本地 ~/.git-ai 状态。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455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形式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959" y="2613033"/>
            <a:ext cx="23957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50"/>
              </a:spcAft>
            </a:pPr>
            <a:r>
              <a:rPr lang="zh-CN" sz="1200" noProof="1">
                <a:solidFill>
                  <a:srgbClr val="111111"/>
                </a:solidFill>
                <a:latin typeface="Microsoft YaHei"/>
              </a:rPr>
              <a:t>Codex/Cursor hooks；VS Code/JetBrains 扩展；Copilot/AI Tab。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455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负责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959" y="3326265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在 AI 编辑前后，或 IDE 保存边界发生时触发 checkpoint。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455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输入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959" y="4039497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把来源、模型、会话、文件路径和编辑前后状态传给 CLI。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455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边界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959" y="4752729"/>
            <a:ext cx="2395728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不通用识别所有 agent；未适配链路会落到 known_human 或 unknown。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247" y="1916832"/>
            <a:ext cx="3328416" cy="3886200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BBE0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7" name="TextBox 26"/>
          <p:cNvSpPr txBox="1"/>
          <p:nvPr/>
        </p:nvSpPr>
        <p:spPr>
          <a:xfrm>
            <a:off x="4572127" y="2110113"/>
            <a:ext cx="296265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sz="1500" b="1" noProof="1">
                <a:solidFill>
                  <a:srgbClr val="213261"/>
                </a:solidFill>
                <a:latin typeface="Microsoft YaHei"/>
              </a:rPr>
              <a:t>协作链路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90999" y="2585601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AI 工具 / IDE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Codex、Copilot、Cursor、Junie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0303" y="3030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0" name="Rounded Rectangle 29"/>
          <p:cNvSpPr/>
          <p:nvPr/>
        </p:nvSpPr>
        <p:spPr>
          <a:xfrm>
            <a:off x="4690999" y="3207393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已适配采集层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Hook / 插件 / 命令拦截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80303" y="364502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2" name="Rounded Rectangle 31"/>
          <p:cNvSpPr/>
          <p:nvPr/>
        </p:nvSpPr>
        <p:spPr>
          <a:xfrm>
            <a:off x="4690999" y="3829185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git-ai checkpoint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记录 AI / known_human 事实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80303" y="4293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4" name="Rounded Rectangle 33"/>
          <p:cNvSpPr/>
          <p:nvPr/>
        </p:nvSpPr>
        <p:spPr>
          <a:xfrm>
            <a:off x="4690999" y="4450976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Git Notes / 本地库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随提交保存和查询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5980303" y="490230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6" name="Rounded Rectangle 35"/>
          <p:cNvSpPr/>
          <p:nvPr/>
        </p:nvSpPr>
        <p:spPr>
          <a:xfrm>
            <a:off x="4690999" y="5072769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stats / blame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输出统计和行级来源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20332" y="1387625"/>
            <a:ext cx="894728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1700" b="0" noProof="1">
                <a:solidFill>
                  <a:srgbClr val="111111"/>
                </a:solidFill>
                <a:latin typeface="Microsoft YaHei"/>
              </a:rPr>
              <a:t>Git AI 不做“像不像 AI”的内容判断，而是看每一行有没有可追溯的来源事实。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960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1051960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1198264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zh-CN" sz="1420" b="1" noProof="1">
                <a:solidFill>
                  <a:srgbClr val="FFFFFF"/>
                </a:solidFill>
                <a:latin typeface="Microsoft YaHei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551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AI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可关联工具、模型、会话和文件前后状态。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用于计算 AI 行、AI 占比和提交归因。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81543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Rectangle 8"/>
          <p:cNvSpPr/>
          <p:nvPr/>
        </p:nvSpPr>
        <p:spPr>
          <a:xfrm>
            <a:off x="4581543" y="2276872"/>
            <a:ext cx="3218688" cy="438912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TextBox 9"/>
          <p:cNvSpPr txBox="1"/>
          <p:nvPr/>
        </p:nvSpPr>
        <p:spPr>
          <a:xfrm>
            <a:off x="4727848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Human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46135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known_human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通常来自 IDE 保存事件或手工 checkpoint。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1128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3" name="Rectangle 12"/>
          <p:cNvSpPr/>
          <p:nvPr/>
        </p:nvSpPr>
        <p:spPr>
          <a:xfrm>
            <a:off x="8111128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8257432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Unknown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75720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没有 AI 或 known_human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可能是人写、脚本生成、历史代码或未接入 AI。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不能直接等同为“人类编写”。</a:t>
            </a:r>
          </a:p>
        </p:txBody>
      </p:sp>
      <p:sp>
        <p:nvSpPr>
          <p:cNvPr id="19" name="TextBox 1">
            <a:extLst>
              <a:ext uri="{FF2B5EF4-FFF2-40B4-BE49-F238E27FC236}">
                <a16:creationId xmlns:a16="http://schemas.microsoft.com/office/drawing/2014/main" id="{BAA09417-AF88-C7AB-7178-3A0D9384E8E0}"/>
              </a:ext>
            </a:extLst>
          </p:cNvPr>
          <p:cNvSpPr txBox="1"/>
          <p:nvPr/>
        </p:nvSpPr>
        <p:spPr>
          <a:xfrm>
            <a:off x="329184" y="248075"/>
            <a:ext cx="828709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>
              <a:spcAft>
                <a:spcPts val="150"/>
              </a:spcAft>
            </a:pPr>
            <a:r>
              <a:rPr lang="zh-CN" altLang="zh-CN" sz="2800" b="1" noProof="1">
                <a:solidFill>
                  <a:srgbClr val="0062AC"/>
                </a:solidFill>
              </a:rPr>
              <a:t>行级归因口径：AI、</a:t>
            </a:r>
            <a:r>
              <a:rPr lang="en-US" altLang="zh-CN" sz="2800" b="1" noProof="1">
                <a:solidFill>
                  <a:srgbClr val="0062AC"/>
                </a:solidFill>
              </a:rPr>
              <a:t>Human</a:t>
            </a:r>
            <a:r>
              <a:rPr lang="zh-CN" altLang="en-US" sz="2800" b="1" noProof="1">
                <a:solidFill>
                  <a:srgbClr val="0062AC"/>
                </a:solidFill>
              </a:rPr>
              <a:t> </a:t>
            </a:r>
            <a:r>
              <a:rPr lang="zh-CN" altLang="zh-CN" sz="2800" b="1" noProof="1">
                <a:solidFill>
                  <a:srgbClr val="0062AC"/>
                </a:solidFill>
              </a:rPr>
              <a:t>与 Unknown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面向内网研发环境，统一 Windows、Linux、VS Code 与 JetBrains 的安装路径。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Windows 离线安装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</a:t>
            </a: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1413" y="1081118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面向内网 Windows x64 开发终端，使用普通用户 PowerShell 从离线包安装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27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90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适用架构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0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 AMD64 / x64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03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5066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66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windows/git-ai-windows-x64.exe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9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642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42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%USERPROFILE%\.git-ai\bin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536" y="2491751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7536" y="2491751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62127" y="2564904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7848" y="3040392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2439" y="3168408"/>
            <a:ext cx="5971031" cy="20021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C:\path\to\git-ai-offline-v1.6.12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$env:PROCESSOR_ARCHITECTURE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$env:GIT_AI_LOCAL_BINARY = (Resolve-Path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.\windows\git-ai-windows-x64.exe).Path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powershell -NoProfile -ExecutionPolicy Bypass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-File .\install.ps1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56120" y="2491751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6120" y="2491751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20712" y="2564904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4720" y="3040392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4720" y="3049535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488" y="3031248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488" y="3306693"/>
            <a:ext cx="3048000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不要使用管理员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权限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，避免生成错误权限文件。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4720" y="3656543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4720" y="3703902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2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14488" y="3647399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重新打开终端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488" y="392164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安装脚本写入用户 PATH，旧窗口可能暂时找不到命令。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84720" y="4415911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4" name="TextBox 33"/>
          <p:cNvSpPr txBox="1"/>
          <p:nvPr/>
        </p:nvSpPr>
        <p:spPr>
          <a:xfrm>
            <a:off x="7884720" y="4463270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3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314488" y="4406767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重新执行 Hook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4488" y="4688093"/>
            <a:ext cx="2953512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新增或更换 Agent 后再次运行 </a:t>
            </a:r>
            <a:r>
              <a:rPr lang="en" altLang="zh-CN" sz="1080" noProof="1">
                <a:solidFill>
                  <a:srgbClr val="202020"/>
                </a:solidFill>
              </a:rPr>
              <a:t>git ai install-hooks --verbose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4720" y="5204072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4720" y="5463552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49312" y="5527559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Linux 离线安装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052736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Linux x64 与 ARM64 共用 install.sh；多人共用研发机时必须隔离 OS 用户与 HOME。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54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17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支持架构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7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x86_64 / aarch64 / arm64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30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4993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93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linux/git-ai-linux-x64 / arm64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6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569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9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$HOME/.git-ai/bin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400" y="2453984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5400" y="2453984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59991" y="2527137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712" y="3002625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0302" y="3028239"/>
            <a:ext cx="5971031" cy="2763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/path/to/git-ai-offline-v1.6.12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uname -m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chmod +x install.sh linux/git-ai-linux-*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x86_64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GIT_AI_LOCAL_BINARY="$PWD/linux/git-ai-linux-x64"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aarch64 / arm64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GIT_AI_LOCAL_BINARY="$PWD/linux/git-ai-linux-arm64"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46016" y="2453984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3984" y="2453984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18576" y="252713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2584" y="3002625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2584" y="3011768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352" y="2993481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先确认架构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2352" y="328609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x86_64 与 ARM64 二进制不能混用。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84072" y="3646157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6" name="TextBox 25"/>
          <p:cNvSpPr txBox="1"/>
          <p:nvPr/>
        </p:nvSpPr>
        <p:spPr>
          <a:xfrm>
            <a:off x="7884072" y="3655301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3840" y="3637013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2352" y="3958180"/>
            <a:ext cx="2953512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建议使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用 root 或 sudo 执行安装脚本。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584" y="4319360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2584" y="4328504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2352" y="4310216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隔离用户状态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3208" y="4634921"/>
            <a:ext cx="2883410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多人共享服务器时，每人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使用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独立 OS 用户和 HOME。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2584" y="5100053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584" y="5382373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39208" y="5446380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IDE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离线安装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插件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124744"/>
            <a:ext cx="10561320" cy="2617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插件负责编辑器内展示与保存边界采集；Hook 负责把 Codex、Claude、OpenCode 等来源事实送入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2172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ounded Rectangle 4"/>
          <p:cNvSpPr/>
          <p:nvPr/>
        </p:nvSpPr>
        <p:spPr>
          <a:xfrm>
            <a:off x="838476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38476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3964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先安装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63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确认 git ai --version 可用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3660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Rounded Rectangle 9"/>
          <p:cNvSpPr/>
          <p:nvPr/>
        </p:nvSpPr>
        <p:spPr>
          <a:xfrm>
            <a:off x="3599964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3599964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5452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配置 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8252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安装脚本已执行 install-hooks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5148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Rounded Rectangle 14"/>
          <p:cNvSpPr/>
          <p:nvPr/>
        </p:nvSpPr>
        <p:spPr>
          <a:xfrm>
            <a:off x="6361452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6" name="TextBox 15"/>
          <p:cNvSpPr txBox="1"/>
          <p:nvPr/>
        </p:nvSpPr>
        <p:spPr>
          <a:xfrm>
            <a:off x="6361452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6940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离线装插件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9740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VSIX / ZIP 从本地磁盘安装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6636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Rounded Rectangle 19"/>
          <p:cNvSpPr/>
          <p:nvPr/>
        </p:nvSpPr>
        <p:spPr>
          <a:xfrm>
            <a:off x="9122940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9122940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8428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重启进程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1228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关闭并重开 Agent 与 IDE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726557"/>
              </p:ext>
            </p:extLst>
          </p:nvPr>
        </p:nvGraphicFramePr>
        <p:xfrm>
          <a:off x="1152417" y="3496342"/>
          <a:ext cx="9887166" cy="2270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31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657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>
                          <a:solidFill>
                            <a:srgbClr val="FFFFFF"/>
                          </a:solidFill>
                          <a:latin typeface="Microsoft YaHei"/>
                        </a:rPr>
                        <a:t>IDE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 err="1">
                          <a:solidFill>
                            <a:srgbClr val="FFFFFF"/>
                          </a:solidFill>
                          <a:latin typeface="Microsoft YaHei"/>
                        </a:rPr>
                        <a:t>离线文件</a:t>
                      </a:r>
                      <a:endParaRPr sz="125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安装方式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vscode/*.vsix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Extensions：Install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from 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JetBrains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jetbrains/*.zip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Plugins：Install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Plugin from Disk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60" y="228600"/>
            <a:ext cx="11064240" cy="420624"/>
          </a:xfr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和插件的 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FAQ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143229"/>
              </p:ext>
            </p:extLst>
          </p:nvPr>
        </p:nvGraphicFramePr>
        <p:xfrm>
          <a:off x="331371" y="1340768"/>
          <a:ext cx="11665296" cy="4608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13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66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问题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判断口径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VS Code / JetBrains 插件能识别所有 agent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不能。只对已适配链路有效，例如 Copilot、Junie、AI Tab、Cursor hook 等；未适配插件只改文件时不能稳定判成 AI。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Codex 在 VS Code 中改代码怎么识别？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关键看是否触发本机 Codex hook。hook 记录工具、模型、会话和文件前后状态；若绕过 hook 直接落盘，只能进入保存边界或 unknown。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Cursor 这类 IDE agent 保存文件会触发 known_human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可能会。保存事件来自编辑器文档管线，不能证明是人手敲；AI 归因仍应优先看 Cursor / Codex hook。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known_human 是怎么来的？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VS Code/Cursor 保存文档时，扩展收到 onDidSaveTextDocument 后打 known_human checkpoint；Auto Save、Save All、格式化保存也可能触发。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unknown 应该怎么解释？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unknown 只是“没有来源证据”，可能是人写、脚本生成、历史代码或未接入 AI；审计口径不要直接并成人类。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企业身份、Kilo v7 采集、生命周期可靠性与可重复离线交付。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Git AI 二开工作全景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在上游 1.6.16 之上保留自有提交链，按四类能力维护。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企业上报身份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组织架构下拉与缓存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姓名、邮箱、服务地址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/ CLI 共享配置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9904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89904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Kilo v7 适配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4496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独立 preset 与安装器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编辑、写入、补丁、命令链路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工具、模型、运行时元数据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0352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生命周期可靠性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checkpoint / 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session_event 内存压缩与 Token 日快照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持久队列、重试与候选替换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89904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6208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离线交付维护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Windows x64、Linux x64 / ARM64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插件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上游融合与可复核校验和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13248"/>
            <a:ext cx="992124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18345D"/>
                </a:solidFill>
                <a:latin typeface="Microsoft YaHei"/>
              </a:rPr>
              <a:t>维护原则：尽量复用上游协议与模板，通过独立适配层降低升级冲突；客户端只上报事实，最终入库归因由后台派生。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985B-E083-0DAC-28DF-585FE68E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9933A9-92C9-3D4D-9C7D-880EFDC28344}"/>
              </a:ext>
            </a:extLst>
          </p:cNvPr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Git AI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插件二开个人信息维护功能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C7100845-1F44-3C10-92B9-EE2248E83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1628801"/>
            <a:ext cx="5506906" cy="3456384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2DAA20F-0A7B-7BBC-BB9B-4EE9F03BA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024" y="1628800"/>
            <a:ext cx="5506907" cy="3456385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5A10A286-BAAF-5E2F-61AD-C922D00B0C52}"/>
              </a:ext>
            </a:extLst>
          </p:cNvPr>
          <p:cNvSpPr txBox="1"/>
          <p:nvPr/>
        </p:nvSpPr>
        <p:spPr>
          <a:xfrm>
            <a:off x="2690371" y="5654408"/>
            <a:ext cx="940899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JetBrains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1DACBBC6-A59F-E834-812C-42D35F38938A}"/>
              </a:ext>
            </a:extLst>
          </p:cNvPr>
          <p:cNvSpPr txBox="1"/>
          <p:nvPr/>
        </p:nvSpPr>
        <p:spPr>
          <a:xfrm>
            <a:off x="8666345" y="5659045"/>
            <a:ext cx="798264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VsCode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148204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Kilo v7：从兼容导入升级为一等采集源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不改 Kilo 主流程，通过独立 preset、安装器与事件转换接入 Git AI。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4736592" cy="416052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47365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44398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适配实现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407407" cy="34655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独立 preset：由 OpenCode 模板严格替换生成，减少上游冲突。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多入口：覆盖 VS Code、JetBrains 与 CLI 运行时。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文件变更：识别 edit、write、patch、bash / shell 产生的变更。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运行元数据：上报 tool=kilo、编辑器、版本、模型、provider 与会话。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失败边界：工具无法给出文件路径时落 Unknown；不统计 Tab 补全。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50992" y="1554480"/>
            <a:ext cx="516636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统一事件链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50992" y="2084831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2130551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Kilo v7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0648" y="2130551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编辑与工具调用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2706624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15584" y="2752344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Git AI preset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0648" y="2752344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转换来源事实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992" y="3328415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4" y="3374135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3374135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记录接受行与上下文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50992" y="3950208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15584" y="3995928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commit / rewrite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995928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生成 Notes 与生命周期事件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4572000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15584" y="4617720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后台统计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4617720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与其他 Agent 进入同一口径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Kilo v5 与 Git AI 共存：场景与支持边界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>
                <a:solidFill>
                  <a:srgbClr val="00518E"/>
                </a:solidFill>
                <a:latin typeface="Microsoft YaHei"/>
                <a:ea typeface="微软雅黑"/>
                <a:cs typeface="Microsoft YaHei"/>
              </a:rPr>
              <a:t>两套链路会独立观察 commit；代码统计是否偏差，取决于双方是否认领同一最终代码行。</a:t>
            </a:r>
          </a:p>
        </p:txBody>
      </p:sp>
      <p:sp>
        <p:nvSpPr>
          <p:cNvPr id="4" name="左侧场景面板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5" name="左侧蓝色标记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6" name="左侧标题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55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三类提交场景</a:t>
            </a:r>
          </a:p>
        </p:txBody>
      </p:sp>
      <p:sp>
        <p:nvSpPr>
          <p:cNvPr id="7" name="左侧场景内容"/>
          <p:cNvSpPr txBox="1"/>
          <p:nvPr/>
        </p:nvSpPr>
        <p:spPr>
          <a:xfrm>
            <a:off x="685800" y="1856231"/>
            <a:ext cx="5029200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8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仅 Kilo v5 写入</a:t>
            </a:r>
            <a:r>
              <a:rPr sz="1280" b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sz="116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Kilo v5 形成候选与提交事实；Git AI 没有对应 AI 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60" b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sz="116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Token、接受和入库按 v5 链路统计。</a:t>
            </a:r>
          </a:p>
          <a:p>
            <a:pPr algn="l">
              <a:lnSpc>
                <a:spcPct val="125000"/>
              </a:lnSpc>
            </a:pPr>
            <a:r>
              <a:rPr sz="128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仅 Git AI 系列 Agent 写入</a:t>
            </a:r>
            <a:r>
              <a:rPr sz="1280" b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sz="116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Codex、Claude Code、Kilo v7 等由 Git AI 记录；v5 没有候选行。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60" b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sz="116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按 Git AI 链路统计，单链路口径准确。</a:t>
            </a:r>
          </a:p>
          <a:p>
            <a:pPr algn="l">
              <a:lnSpc>
                <a:spcPct val="125000"/>
              </a:lnSpc>
            </a:pPr>
            <a:r>
              <a:rPr sz="128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Kilo v5 + Git AI 混合写入</a:t>
            </a:r>
            <a:r>
              <a:rPr sz="1280" b="1">
                <a:solidFill>
                  <a:srgbClr val="B26A00"/>
                </a:solidFill>
                <a:latin typeface="Microsoft YaHei"/>
                <a:ea typeface="微软雅黑"/>
                <a:cs typeface="Microsoft YaHei"/>
              </a:rPr>
              <a:t>｜有限支持</a:t>
            </a:r>
          </a:p>
          <a:p>
            <a:pPr algn="l">
              <a:lnSpc>
                <a:spcPct val="125000"/>
              </a:lnSpc>
            </a:pPr>
            <a:r>
              <a:rPr sz="116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不同最终行分别统计，结果正确。</a:t>
            </a:r>
          </a:p>
          <a:p>
            <a:pPr algn="l">
              <a:lnSpc>
                <a:spcPct val="125000"/>
              </a:lnSpc>
            </a:pPr>
            <a:r>
              <a:rPr sz="116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同一最终行被双方认领时，入库行数可能重复。</a:t>
            </a:r>
          </a:p>
        </p:txBody>
      </p:sp>
      <p:sp>
        <p:nvSpPr>
          <p:cNvPr id="8" name="右侧口径面板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9" name="右侧琥珀标记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10" name="右侧标题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55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过渡期支持口径</a:t>
            </a:r>
          </a:p>
        </p:txBody>
      </p:sp>
      <p:sp>
        <p:nvSpPr>
          <p:cNvPr id="11" name="右侧口径内容"/>
          <p:cNvSpPr txBox="1"/>
          <p:nvPr/>
        </p:nvSpPr>
        <p:spPr>
          <a:xfrm>
            <a:off x="6291072" y="1856231"/>
            <a:ext cx="5157216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6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主线选择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4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Git AI 作为后续主链路；Kilo v5 逐步退出。</a:t>
            </a:r>
          </a:p>
          <a:p>
            <a:pPr algn="l">
              <a:lnSpc>
                <a:spcPct val="125000"/>
              </a:lnSpc>
            </a:pPr>
            <a:r>
              <a:rPr sz="126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去重范围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4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本期不建设跨来源逐行去重，接受低频混合场景的少量偏差。</a:t>
            </a:r>
          </a:p>
          <a:p>
            <a:pPr algn="l">
              <a:lnSpc>
                <a:spcPct val="125000"/>
              </a:lnSpc>
            </a:pPr>
            <a:r>
              <a:rPr sz="126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指标口径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4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Token、生成/接受按实际调用和编辑过程分别统计；仅最终入库行重叠存在偏差。</a:t>
            </a:r>
          </a:p>
          <a:p>
            <a:pPr algn="l">
              <a:lnSpc>
                <a:spcPct val="125000"/>
              </a:lnSpc>
            </a:pPr>
            <a:r>
              <a:rPr sz="126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④ 生命周期底线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4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commit / amend 可保留两条来源明细，但一次业务状态变更只能生效一次。</a:t>
            </a:r>
          </a:p>
          <a:p>
            <a:pPr algn="l">
              <a:lnSpc>
                <a:spcPct val="125000"/>
              </a:lnSpc>
            </a:pPr>
            <a:r>
              <a:rPr sz="126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⑤ 适用边界</a:t>
            </a:r>
          </a:p>
          <a:p>
            <a:pPr algn="l">
              <a:lnSpc>
                <a:spcPct val="125000"/>
              </a:lnSpc>
            </a:pPr>
            <a:r>
              <a:rPr sz="1140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用于趋势与运营观察；不用于要求唯一行精度的结算或强审计。</a:t>
            </a:r>
          </a:p>
        </p:txBody>
      </p:sp>
      <p:sp>
        <p:nvSpPr>
          <p:cNvPr id="12" name="结论条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13" name="结论文字"/>
          <p:cNvSpPr txBox="1"/>
          <p:nvPr/>
        </p:nvSpPr>
        <p:spPr>
          <a:xfrm>
            <a:off x="713232" y="5971032"/>
            <a:ext cx="10698480" cy="2651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70" b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支持结论：单链路完全支持；混合提交有限支持。当前接受少量重叠偏差，优先保障 Git AI 主链路演进。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6837792" cy="768096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  <a:ea typeface="Microsoft YaHei"/>
                <a:cs typeface="Microsoft YaHei"/>
              </a:rPr>
              <a:t>Git 生命周期归因：原生支持与后台闭环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66448"/>
            <a:ext cx="1115568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 AI 本地支持 </a:t>
            </a:r>
            <a:r>
              <a:rPr lang="en-US" alt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Notes 随历史改写迁移；我们补齐生命周期上报、候选替换与目标分支确认。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20952"/>
              </p:ext>
            </p:extLst>
          </p:nvPr>
        </p:nvGraphicFramePr>
        <p:xfrm>
          <a:off x="384048" y="1556792"/>
          <a:ext cx="7818120" cy="415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生命周期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AI 本地如何支持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二开上报逻辑</a:t>
                      </a:r>
                      <a:endParaRPr lang="zh-CN" sz="1200" b="1" noProof="1">
                        <a:solidFill>
                          <a:srgbClr val="FFFFFF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commit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checkpoint 汇总为提交级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ote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，绑定最终 SHA。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本地落盘后异步上报提交事实；失败保留队列重试。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amend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生成新 SHA，迁移或重建 Notes；最终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Notes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 包含追加编辑。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rebase /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交互式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squash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按旧、新提交映射迁移 Notes；旧提交被重写后的提交替代。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1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cherry-pick / revert /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squash merge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  <a:cs typeface="+mn-cs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产生新提交并独立生成归因；源提交仍然有效。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只作为新提交上报，不会错误废弃源提交。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reset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后退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/ 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恢复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本地状态随分支指针变化保留或重建归因。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/>
                        <a:t>上报指针迁移：回退废弃旧侧未确认候选；前进可恢复此前因 reset 废弃的候选。路径级 reset 不触发。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85632" y="1556792"/>
            <a:ext cx="3328416" cy="4151376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695944" y="1712483"/>
            <a:ext cx="2907792" cy="264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0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我们接通的统计闭环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087144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8" name="Oval 7"/>
          <p:cNvSpPr/>
          <p:nvPr/>
        </p:nvSpPr>
        <p:spPr>
          <a:xfrm>
            <a:off x="8796528" y="2196872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1432" y="2207124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9" y="2221070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记录编辑事实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672360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2" name="Oval 11"/>
          <p:cNvSpPr/>
          <p:nvPr/>
        </p:nvSpPr>
        <p:spPr>
          <a:xfrm>
            <a:off x="8796528" y="2782088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245" y="2653732"/>
            <a:ext cx="1261872" cy="460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commit </a:t>
            </a:r>
            <a:endParaRPr lang="en-US" altLang="zh-CN" sz="1060" b="1" noProof="1">
              <a:solidFill>
                <a:srgbClr val="213261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/ rewrite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9" y="2806287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生成最终 Notes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257576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6" name="Oval 15"/>
          <p:cNvSpPr/>
          <p:nvPr/>
        </p:nvSpPr>
        <p:spPr>
          <a:xfrm>
            <a:off x="8796528" y="3367304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5963" y="3376447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持久上传队列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9" y="3391502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顺序入队 · 断网补传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842792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0" name="Oval 19"/>
          <p:cNvSpPr/>
          <p:nvPr/>
        </p:nvSpPr>
        <p:spPr>
          <a:xfrm>
            <a:off x="8796528" y="3952520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973120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后台候选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19" y="3869382"/>
            <a:ext cx="1234440" cy="4040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旧候选失效 · 新候选建立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428008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4" name="Oval 23"/>
          <p:cNvSpPr/>
          <p:nvPr/>
        </p:nvSpPr>
        <p:spPr>
          <a:xfrm>
            <a:off x="8796528" y="4537736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245" y="4546879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目标分支确认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9" y="4561934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确认后进入统一统计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013223"/>
            <a:ext cx="2926080" cy="530352"/>
          </a:xfrm>
          <a:prstGeom prst="roundRect">
            <a:avLst/>
          </a:prstGeom>
          <a:solidFill>
            <a:srgbClr val="E8F5F1"/>
          </a:solidFill>
          <a:ln w="12700">
            <a:solidFill>
              <a:srgbClr val="188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36576" rIns="118872" bIns="36576" rtlCol="0" anchor="ctr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amend 示例：100 + 50 → 新 SHA 最终 150</a:t>
            </a:r>
            <a:r>
              <a:rPr lang="zh-CN" altLang="en-US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后台计 150，不计 100 + 150 = 250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7442" y="5943600"/>
            <a:ext cx="10570464" cy="438912"/>
          </a:xfrm>
          <a:prstGeom prst="round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zh-CN" sz="1040" noProof="1">
                <a:solidFill>
                  <a:srgbClr val="213261"/>
                </a:solidFill>
                <a:ea typeface="Microsoft YaHei"/>
              </a:rPr>
              <a:t>边界：已确认进入目标分支的旧提交，不由开发者本地 amend / reset 直接反扣；正式修正以服务端目标分支真实历史为准。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离线交付与上游维护：把二开做成可重复发布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当前自有分支已融合 upstream/main 1.6.16，并产出可复核离线包。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9224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上游基线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1.6.16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融合 53 个上游提交</a:t>
            </a:r>
          </a:p>
        </p:txBody>
      </p:sp>
      <p:sp>
        <p:nvSpPr>
          <p:cNvPr id="9" name="Chevron 8"/>
          <p:cNvSpPr/>
          <p:nvPr/>
        </p:nvSpPr>
        <p:spPr>
          <a:xfrm>
            <a:off x="2523744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916936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16936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冲突融合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rewrite 流式解析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保留 hunks 采集</a:t>
            </a:r>
          </a:p>
        </p:txBody>
      </p:sp>
      <p:sp>
        <p:nvSpPr>
          <p:cNvPr id="15" name="Chevron 14"/>
          <p:cNvSpPr/>
          <p:nvPr/>
        </p:nvSpPr>
        <p:spPr>
          <a:xfrm>
            <a:off x="4791456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38344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84648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84648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0136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跨平台构建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2936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Windows x64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Linux x64 / ARM64</a:t>
            </a:r>
          </a:p>
        </p:txBody>
      </p:sp>
      <p:sp>
        <p:nvSpPr>
          <p:cNvPr id="21" name="Chevron 20"/>
          <p:cNvSpPr/>
          <p:nvPr/>
        </p:nvSpPr>
        <p:spPr>
          <a:xfrm>
            <a:off x="7059168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06055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52359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52359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插件产物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VS Code VSIX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JetBrains ZIP</a:t>
            </a:r>
          </a:p>
        </p:txBody>
      </p:sp>
      <p:sp>
        <p:nvSpPr>
          <p:cNvPr id="27" name="Chevron 26"/>
          <p:cNvSpPr/>
          <p:nvPr/>
        </p:nvSpPr>
        <p:spPr>
          <a:xfrm>
            <a:off x="9326880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573768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20072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20072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离线校验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根目录 SHA256SUMS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包内校验和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56048"/>
            <a:ext cx="9966960" cy="64008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" y="5084064"/>
            <a:ext cx="9564624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40" b="1">
                <a:solidFill>
                  <a:srgbClr val="18345D"/>
                </a:solidFill>
                <a:latin typeface="Microsoft YaHei"/>
              </a:rPr>
              <a:t>当前结果：离线包校验和已通过。正式发包前仍需完成真实 Windows x64 安装、Hook 与 commit 冒烟。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后台负责幂等接入、轻量投影、最终提交确认、按需代码审计、统一指标和分层留存。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后台适配全链路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客户端上报可追溯事实；后台把事实转换为可查询、可确认、可重建的统计结果。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Git AI / Kilo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3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Token 日累计快照</a:t>
            </a:r>
          </a:p>
        </p:txBody>
      </p:sp>
      <p:sp>
        <p:nvSpPr>
          <p:cNvPr id="8" name="Chevron 7"/>
          <p:cNvSpPr/>
          <p:nvPr/>
        </p:nvSpPr>
        <p:spPr>
          <a:xfrm>
            <a:off x="2487168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61488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61488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7792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批量接入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批次与事件幂等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失败可重放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保留处理状态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9744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84064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84064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事件规范化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header / payload 分离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组织、用户、仓库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工具、模型、会话</a:t>
            </a:r>
          </a:p>
        </p:txBody>
      </p:sp>
      <p:sp>
        <p:nvSpPr>
          <p:cNvPr id="18" name="Chevron 17"/>
          <p:cNvSpPr/>
          <p:nvPr/>
        </p:nvSpPr>
        <p:spPr>
          <a:xfrm>
            <a:off x="7132320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06640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52944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归因与生命周期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候选建立 / 替换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目标分支确认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行级去重</a:t>
            </a:r>
          </a:p>
        </p:txBody>
      </p:sp>
      <p:sp>
        <p:nvSpPr>
          <p:cNvPr id="23" name="Chevron 22"/>
          <p:cNvSpPr/>
          <p:nvPr/>
        </p:nvSpPr>
        <p:spPr>
          <a:xfrm>
            <a:off x="9454896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729216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729216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0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统计与管理端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日汇总与统一口径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事件明细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提交定位与排障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230368"/>
            <a:ext cx="99669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60" b="1">
                <a:solidFill>
                  <a:srgbClr val="18345D"/>
                </a:solidFill>
                <a:latin typeface="Microsoft YaHei"/>
              </a:rPr>
              <a:t>隐私边界：会话原文只在客户端内存解析，不进入指标库和上传链路；后台仅接收内容无关的 Token 日累计快照，客户端不承担 committed 权威归因。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为了适配 Git AI，后台新增了哪些能力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0352" y="1234440"/>
          <a:ext cx="1078992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23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26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能力域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后台适配内容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协议与入库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代码事件继续按事件键幂等并支持失败重放；Token 日累计快照校验后直接写正式日事实。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事件投影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checkpoint 转接受事实；commit / rewrite 转候选与确认；会话原文不上传，Token 仅投影内容无关的日累计事实。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统计归因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目标分支最终 commit 确认真实入库；行级去重；生命周期替换；日汇总可由规范账本重建。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现行产品口径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Git AI 生成行数按接受行数展示，接受率固定为 100%；入库确认仍以目标仓库事实为准。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管理端页面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左侧拆分“Git AI 明细”和“Kilo 提交明细”；支持用户、模块、事件、状态与 commit 定位。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2696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运维治理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Microsoft YaHei"/>
                        </a:rPr>
                        <a:t>成功投影 / replay 后清除原始 payload；代码审计仅留 30 天 commit + 内容哈希；Token 正常路径不生成 payload、批次与请求账本。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事件明细与分层留存策略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代码事实长期保留，原始 payload 成功投影后清除；Token 只保留日累计事实，代码审计仅留 30 天轻量哈希证据。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523036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事件明细展示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901183" cy="35112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checkpoint：接受行、工具、模型、会话、文件与投影状态。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commit / rewrite：提交、hunk、候选替换、确认与业务状态。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session_event：只在客户端内存解析，不落指标库、不上传原文。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Token：后台只保留按日维度聚合的累计计量，不创建原始 payload。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两个视图：Git AI 明细与 Kilo 提交明细分别查询。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53312"/>
            <a:ext cx="5230368" cy="420624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591056"/>
            <a:ext cx="459028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数据分层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48840"/>
            <a:ext cx="1042415" cy="310896"/>
          </a:xfrm>
          <a:prstGeom prst="roundRect">
            <a:avLst/>
          </a:prstGeom>
          <a:solidFill>
            <a:srgbClr val="267A3E"/>
          </a:solidFill>
          <a:ln w="12700">
            <a:solidFill>
              <a:srgbClr val="26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2176272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0–30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1" y="2139696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热明细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2121408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commit hash + 内容 SHA-256 审计证据、异常身份 Token 隔离记录。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3081528"/>
            <a:ext cx="1042415" cy="310896"/>
          </a:xfrm>
          <a:prstGeom prst="roundRect">
            <a:avLst/>
          </a:prstGeom>
          <a:solidFill>
            <a:srgbClr val="004A84"/>
          </a:solidFill>
          <a:ln w="12700">
            <a:solidFill>
              <a:srgbClr val="004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&gt;30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072384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长期规范账本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3054096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保留正式代码事实、Git Notes 与 Token 日累计事实。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014216"/>
            <a:ext cx="1042415" cy="310896"/>
          </a:xfrm>
          <a:prstGeom prst="roundRect">
            <a:avLst/>
          </a:prstGeom>
          <a:solidFill>
            <a:srgbClr val="A85B00"/>
          </a:solidFill>
          <a:ln w="12700">
            <a:solidFill>
              <a:srgbClr val="A8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4041648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物理清理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4005072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按类型治理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986784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成功投影 / replay 立即清除 payload；旧本地 SQLite 备份后受控缩容。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65192"/>
            <a:ext cx="4462272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80" b="1">
                <a:solidFill>
                  <a:srgbClr val="C00000"/>
                </a:solidFill>
                <a:latin typeface="Microsoft YaHei"/>
              </a:rPr>
              <a:t>新架构已停止会话原文新增；审计代码按需从宿主机 Git 读取，既有本地大文件仍需受控 VACUUM INTO。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问题复盘：本地与后台为什么一起涨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 CAUSE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一次“会话原文级采集”，在客户端与服务端被连续放大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94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工具调用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流式片段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208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3317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SQLite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231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事件表 + 索引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持续追加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496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1605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2519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上传队列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519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失败重传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784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9893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807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接收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07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 / 请求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解析投影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072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8181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9095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后台多层落库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095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 / payload / ledger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再写日事实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3360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9646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738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长期累计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38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人数 × 天数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429000"/>
            <a:ext cx="7178040" cy="2148840"/>
          </a:xfrm>
          <a:prstGeom prst="roundRect">
            <a:avLst>
              <a:gd name="adj" fmla="val 3404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31520" y="3639312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31520" y="3639312"/>
            <a:ext cx="1005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增长机制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4133088"/>
            <a:ext cx="6629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客户端：原始事件逐条追加 + 离线积压 + 重试保留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49808" y="4590288"/>
            <a:ext cx="66294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服务端：同一批数据进入请求、批次、原始 payload、投影事实等多层；即使单条不大，乘以会话频次、员工数和保留时间后仍会持续放大。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973568" y="3429000"/>
            <a:ext cx="33649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193024" y="37307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数百 MB / 人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8193024" y="41879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已观察到的本地量级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93024" y="46451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100+ 人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8193024" y="51023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内网使用规模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结论：这不是单点故障，而是“采集粒度过重 + 两端重复保存”形成的系统性增长。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根因一：采集粒度选错——把会话原文当统计事实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GRAIN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078992"/>
            <a:ext cx="5376672" cy="4553712"/>
          </a:xfrm>
          <a:prstGeom prst="roundRect">
            <a:avLst>
              <a:gd name="adj" fmla="val 1606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68096" y="135331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68096" y="1353312"/>
            <a:ext cx="9601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实际保存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" y="1847088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会话原文级事件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59536" y="261518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用户 / 助手消息正文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9536" y="317296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工具调用参数与结果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" y="37307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流式过程中重复到达的片段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9536" y="428853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重放或恢复时再次出现的事件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6384" y="5010912"/>
            <a:ext cx="46817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体积与“内容长度、流式次数、会话时长”相关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1078992"/>
            <a:ext cx="5010912" cy="4553712"/>
          </a:xfrm>
          <a:prstGeom prst="roundRect">
            <a:avLst>
              <a:gd name="adj" fmla="val 1606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83680" y="1353312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83680" y="1353312"/>
            <a:ext cx="126187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业务真正需要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1847088"/>
            <a:ext cx="4251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内容无关的统计事实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75120" y="261518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input / output Token 累计值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75120" y="3172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cache read / write 累计值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373075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请求次数与 provider / model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75120" y="428853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日期、用户、机器、项目、IDE / 工具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01968" y="5010912"/>
            <a:ext cx="4251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体积只与“天数 × 统计维度数”相关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07024" y="3346704"/>
            <a:ext cx="365760" cy="0"/>
          </a:xfrm>
          <a:prstGeom prst="line">
            <a:avLst/>
          </a:prstGeom>
          <a:noFill/>
          <a:ln w="2921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原文是计算统计值的输入，不应成为长期存储和上传的输出。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根因二：离线队列与服务端多层落库叠加放大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AMPLIFICATION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75488" y="932688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客户端的“可靠不丢”与服务端的“全链路可追溯”组合后，把消息级数据复制了多次。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67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67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1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逐条追加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61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session_event 写入 SQLite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88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53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953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7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47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不通时继续积压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74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239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239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33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失败重试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33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旧数据继续占用本地空间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60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525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525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19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批次接收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019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请求与批次元数据落库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646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9811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811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305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多层投影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305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payload / ledger / fact 再写一遍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15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901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187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473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2920" y="3182112"/>
            <a:ext cx="5321808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49808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49808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客户端放大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9808" y="3913632"/>
            <a:ext cx="4773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事件数持续增加，数据库页与索引同步增长；上传恢复后，已积累的历史数据只是从本地搬到后端，并不会消失。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144768" y="3182112"/>
            <a:ext cx="5193792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400800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0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服务端放大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913632"/>
            <a:ext cx="4645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每条原始消息会触发多表写入、索引与保留成本；100 多人持续使用时，后台增长速度由“人均数据量 × 使用人数”共同决定。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可靠性机制本身没有错，错在它保护的是“原始消息”，而不是“紧凑事实”。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为什么恢复 8082、压缩文件或定期清理都不是根治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6E8"/>
          </a:solidFill>
          <a:ln w="12700">
            <a:solidFill>
              <a:srgbClr val="EFC0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45389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只恢复 8082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834640" y="142646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本地积压会下降，但历史原文被整体转移到后台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217152" y="159105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217152" y="159105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后台更快增长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48716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04672" y="264261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只做压缩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834640" y="261518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降低单条字节数，事件数、索引和重放成本不变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17152" y="277977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217152" y="277977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只能延缓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83133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只做定期清理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834640" y="380390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不断写、不断删，仍有磁盘峰值、审计和回放风险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217152" y="396849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217152" y="396849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治标且复杂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010912"/>
            <a:ext cx="10735056" cy="749808"/>
          </a:xfrm>
          <a:prstGeom prst="roundRect">
            <a:avLst>
              <a:gd name="adj" fmla="val 9756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04672" y="5193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正确方向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984248" y="5138928"/>
            <a:ext cx="8915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在采集源头改变数据粒度：原文只在内存解析，持久化和上传均改为“内容无关、可覆盖、可幂等”的日累计快照。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架构问题必须从数据模型解决，运维手段只能作为存量治理与兜底。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最终方案总览：原文止步内存，上传日累计快照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ARCHITECTURE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67512" y="1545336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6751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6128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6128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/ Kilo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0487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69748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86207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5584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5584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 Token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不保存正文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9943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5663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5663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5040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日维度聚合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5040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绝对累计值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按维度归桶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9399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708660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25119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25119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4496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可变快照队列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74496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同维度仅保留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最新待发快照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98855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28116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EAF8F1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9445752" y="1545336"/>
            <a:ext cx="384048" cy="384048"/>
          </a:xfrm>
          <a:prstGeom prst="ellipse">
            <a:avLst/>
          </a:prstGeom>
          <a:solidFill>
            <a:srgbClr val="20A66A"/>
          </a:solidFill>
          <a:ln w="12700">
            <a:solidFill>
              <a:srgbClr val="20A6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44575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93952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后台日事实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93952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 upsert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幂等覆盖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2880360"/>
            <a:ext cx="10652760" cy="1005840"/>
          </a:xfrm>
          <a:prstGeom prst="roundRect">
            <a:avLst>
              <a:gd name="adj" fmla="val 7273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49808" y="30815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日事实主键维度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331720" y="3026664"/>
            <a:ext cx="83941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 × 用户邮箱 × 稳定机器 ID × 项目 × IDE × 编码工具 × Provider × Model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0292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3152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不含内容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3152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不上传消息正文、工具参数、session / trace ID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11480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34340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抗重复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434340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使用来源绝对累计值，流式重复与重放不会重复加总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72668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95528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可幂等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95528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后台仅接受不回退的累计值与不更旧的时间戳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数据规模从“消息条数与内容长度”降为“每天有限维度的最新累计值”。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客户端改造：压缩、去重、重试与本地留存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CLIENT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303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716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解析三类来源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usage、Kilo / OpenCode tokens、Codex 累计 totals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167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1813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580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稳定来源去重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来源键 + 绝对累计值，重复流与重放不重复计数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03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716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按日维度归桶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用户、机器、项目、IDE、工具、Provider、Model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167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813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8580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离线合并快照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每个维度仅一个可变待发快照；在途时保留 successor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49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716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可靠推进水位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紧凑快照持久化成功后才推进 watermark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167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813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8580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有界本地保留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成功快照立即删除；恢复标记 7 天，统计事实 365 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0352" y="5486400"/>
            <a:ext cx="10698480" cy="475488"/>
          </a:xfrm>
          <a:prstGeom prst="roundRect">
            <a:avLst>
              <a:gd name="adj" fmla="val 15385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68096" y="557784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保持不变：代码归属 checkpoint、Git Notes、commit / rewrite / target branch 处理链路。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客户端既要“少写”，也要在离线、崩溃和重放场景下保持统计不丢不重。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8081 / 8082 路由与失败重传：入口不同，最终服务相同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生产插件走前端网关路径，本地联调可直连应用端口；8082 恢复后，普通可重试数据自动续传。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访问链路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093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62AC"/>
                </a:solidFill>
                <a:latin typeface="Microsoft YaHei"/>
              </a:rPr>
              <a:t>生产浏览器 / 插件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100.7.132.102:8081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/prod-api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6265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518E"/>
                </a:solidFill>
                <a:latin typeface="Microsoft YaHei"/>
              </a:rPr>
              <a:t>Nginx / 网关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65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反向代理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统一鉴权与限流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9437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后台应用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9437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8082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同一上传接口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5973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9145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048256" y="2953512"/>
            <a:ext cx="3474720" cy="310896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4832" y="2980944"/>
            <a:ext cx="3401568" cy="23774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40" b="1">
                <a:solidFill>
                  <a:srgbClr val="111111"/>
                </a:solidFill>
                <a:latin typeface="Microsoft YaHei"/>
              </a:rPr>
              <a:t>本地插件可直接配置 localhost:8082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重试分类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664208"/>
            <a:ext cx="42062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664208"/>
            <a:ext cx="64008" cy="123444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19" y="1783080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持续长退避，数据留在本地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194560"/>
            <a:ext cx="3858768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网络异常、408 / 425 / 429 / 5xx，以及 401 / 403 / 404 / 405 / 409 / 413；最长退避 24 小时。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3035808"/>
            <a:ext cx="4206240" cy="11247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06640" y="3035808"/>
            <a:ext cx="64008" cy="1124712"/>
          </a:xfrm>
          <a:prstGeom prst="rect">
            <a:avLst/>
          </a:prstGeom>
          <a:solidFill>
            <a:srgbClr val="D93025"/>
          </a:solidFill>
          <a:ln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19" y="3154679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停止自动重试，但不删除记录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3566160"/>
            <a:ext cx="3858768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400 / 415 / 422，以及服务端 200 响应中的逐条 errors[]；保留用于诊断和人工处理。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977639"/>
            <a:ext cx="219456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批次与容量保护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≤ 1000 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单次出队上限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249424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目标 ≤ 7 MiB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9424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客户端请求正文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9624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2776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应用 8 MiB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22776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服务端硬限制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22976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6128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Nginx 10m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worker 路由限制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33288"/>
            <a:ext cx="11109960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5815584"/>
            <a:ext cx="10698480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213261"/>
                </a:solidFill>
                <a:latin typeface="Microsoft YaHei"/>
              </a:rPr>
              <a:t>关键结论：8082 故障期间不再无限堆积原始会话；服务恢复后紧凑事实继续上传。恢复上传不会让旧 SQLite 文件立即物理变小，存量空间回收仍需独立维护窗口。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后端改造：从消息级落库改为日事实幂等覆盖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188720"/>
            <a:ext cx="1847088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14016" y="1188720"/>
            <a:ext cx="3959352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87168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改造前：消息级路径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73368" y="1188720"/>
            <a:ext cx="3959352" cy="548640"/>
          </a:xfrm>
          <a:prstGeom prst="rect">
            <a:avLst/>
          </a:prstGeom>
          <a:solidFill>
            <a:srgbClr val="2F6B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46520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改造后：Token 日快照路径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1737360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6656" y="1828800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414016" y="1737360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523744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 / 批次先落库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73368" y="1737360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83096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 marker、日期、时区、稳定机器 ID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2523744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6656" y="2615184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14016" y="2523744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2523744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header 与 payload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73368" y="2523744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83096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不创建原始 header、payload、batch、request ledger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3310128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6656" y="340156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正式事实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414016" y="3310128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2523744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解析后再投影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73368" y="3310128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483096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直接写日事实；batch_id 为空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096512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76656" y="4187952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/ 乱序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14016" y="4096512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2523744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依赖事件级幂等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73368" y="4096512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83096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只接受不回退累计值与不更旧时间戳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76656" y="4974336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异常身份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414016" y="4882896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2523744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原始链路继续占用空间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373368" y="4882896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483096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仅写紧凑隔离记录，30 天优先清理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9765792" cy="420624"/>
          </a:xfrm>
          <a:prstGeom prst="roundRect">
            <a:avLst>
              <a:gd name="adj" fmla="val 17391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749808" y="5824728"/>
            <a:ext cx="937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 fact_ai_token_daily 不参与 30 天清理；旧 session_event backlog 不再进入后端保留链路。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提交代码审计：数据库留轻量证据，代码从宿主机 Git 按需读取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用户不能指定任意仓库、commit 或路径；后台沿任务 102 / 103 已确认事实定位，只返回可验证的 AI 新增代码。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577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页面发起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在可见提交记录上点击“查看代码”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2140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5915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47802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权限与范围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先校验 ai:stats:code:audit 与事件可见性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4164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7939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39826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26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定位仓库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102 扫描事实定位宿主机仓库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6188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9963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1850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1850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锁定提交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103 已确认目标 commit 作为唯一入口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8212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1987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3874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3874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只读取证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固定 git 命令，无 fetch，校验路径与内容哈希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0236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0401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01589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1589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7960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最小展示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仅同哈希 AI 新增行 + 前后 3 行上下文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3246120"/>
            <a:ext cx="64008" cy="1938528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数据库保存什么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二进制 commit hash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内容 SHA-256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与既有确认记录的关联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审计证据保留 30 天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不保存代码正文、完整 diff、prompt 或工具输出。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69663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9663" y="3246120"/>
            <a:ext cx="64008" cy="1938528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52544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宿主机执行什么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只执行固定参数的只读 Git 查询，不接受用户拼接命令；不 fetch、不改仓库。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并限制超时、并发、输出字节、文件数和行数，避免拖垮任务仓库。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36408" y="3246120"/>
            <a:ext cx="3776472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836408" y="3246120"/>
            <a:ext cx="64008" cy="1938528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19288" y="3364991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哪些情况明确不可用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776472"/>
            <a:ext cx="3429000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merge / rewrite / squash 无法证明同一来源、删除行、哈希不一致、仓库或对象不存在、输出超限时，页面显示“暂不可审计”。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6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系统不猜测、不回退到相似代码。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522976"/>
            <a:ext cx="11109960" cy="65836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31520" y="5614416"/>
            <a:ext cx="10643616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80" b="1">
                <a:solidFill>
                  <a:srgbClr val="213261"/>
                </a:solidFill>
                <a:latin typeface="Microsoft YaHei"/>
              </a:rPr>
              <a:t>审计口径：统计事实长期保留；原始 payload 在成功投影或 replay 后清除；查看代码时由浏览器临时接收最小片段，并返回 no-store。侧车取证失败使用独立 savepoint，不影响核心提交确认与正式统计。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实施验证：存储收敛、重传、归因与代码审计均有专项证据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验证覆盖客户端迁移与上传、后端投影与审计、管理端页面；完整库中仅保留 2 个与本机企业配置相关的既有环境敏感失败。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43584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客户端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52 / 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数据库、v7 迁移、触发器、批次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4328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22 /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上传与错误分类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4296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8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HTTP 状态分类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14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归因恢复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24328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4 /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session 压缩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54296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 /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watermark 精确推进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243584"/>
            <a:ext cx="21031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后端与管理端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12280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03720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63 / 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后端 system 专项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44584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11 / 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管理端 admin 专项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03720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 ai-stats 测试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53144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44584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44584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前端生产构建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867912"/>
            <a:ext cx="373075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38679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986784"/>
            <a:ext cx="340156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完整客户端回归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398264"/>
            <a:ext cx="338328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2141 项中 2139 通过；2 个 whoami 失败来自本机真实 metrics_api_base_url 配置，隔离复测确认与本次改动无关。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07408" y="3867912"/>
            <a:ext cx="331012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07408" y="38679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90288" y="3986784"/>
            <a:ext cx="298094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静态与构建检查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0288" y="4398264"/>
            <a:ext cx="296265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cargo check --all-targets、cargo fmt --check、前后端 git diff --check 全部通过。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91272" y="3867912"/>
            <a:ext cx="37216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891272" y="38679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74152" y="3986784"/>
            <a:ext cx="33924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准确性不变量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74152" y="4398264"/>
            <a:ext cx="33741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紧凑事实持久化成功后才推进 watermark；checkpoint、Git Notes、commit / rewrite、目标分支确认主链路保持不变。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559552"/>
            <a:ext cx="11109960" cy="621792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1520" y="5660136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10" b="1">
                <a:solidFill>
                  <a:srgbClr val="213261"/>
                </a:solidFill>
                <a:latin typeface="Microsoft YaHei"/>
              </a:rPr>
              <a:t>结论：这次改造减少的是重复、敏感且不可控的原始会话，不是代码归属证据；Token 使用绝对累计值与新鲜度规则，代码审计再用目标 commit + 内容哈希独立校验。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上线与存量治理：先阻断新增原文，再在维护窗口回收旧文件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v7 会逻辑删除旧 session_event 原文并复用空闲页，但 legacy SQLite 默认 auto_vacuum=NONE，文件不会自动缩小。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上线后新增已受控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80" b="0">
                <a:solidFill>
                  <a:srgbClr val="111111"/>
                </a:solidFill>
                <a:latin typeface="Microsoft YaHei"/>
              </a:rPr>
              <a:t>原文不落 SQLite、不上传；Token 只保留日累计事实；成功投影和 replay 后清除后台原始 payload。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9663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9663" y="13533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52544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旧文件不会瞬间变小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逻辑删除只增加 freelist。守护进程启动时自动 VACUUM 会带来长锁、临时磁盘翻倍和多进程分裂风险，因此未启用。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1353312"/>
            <a:ext cx="377647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6408" y="13533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1472184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审计上线前置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9288" y="1883664"/>
            <a:ext cx="342900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配置 102 / 103 仓库事实，授予 ai:stats:code:audit 权限，并验证宿主机仓库可读、对象存在和 no-store 响应。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090672"/>
            <a:ext cx="27432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受控物理缩容步骤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1792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停进程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停止 daemon 与所有可能打开数据库的进程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24912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43784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43784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备份核验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71216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记录原库哈希、schema、关键计数与可用空间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6904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65776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65776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VACUUM INTO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写入新文件，保留原库作为可回滚副本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68896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287768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287768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92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完整性检查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校验 integrity、schema、队列和统计事实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90888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509760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0384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原子替换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37192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替换后重启，确认上传和归因继续正常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532120"/>
            <a:ext cx="11109960" cy="658368"/>
          </a:xfrm>
          <a:prstGeom prst="roundRect">
            <a:avLst/>
          </a:prstGeom>
          <a:solidFill>
            <a:srgbClr val="FCECEC"/>
          </a:solidFill>
          <a:ln w="1016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641848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D93025"/>
                </a:solidFill>
                <a:latin typeface="Microsoft YaHei"/>
              </a:rPr>
              <a:t>当前边界：代码与测试已完成，但尚未生产部署、未执行任何生产迁移或存量清理。物理缩容必须单独审批维护窗口，不能伴随 daemon 自动升级静默执行。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技术问题：本地 commit 不等于最终入库事实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旧口径从本地动作或本地 commit 出发，无法确认代码是否、何时、以哪个最终 commit 进入目标仓库。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534924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34924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4944" y="1426464"/>
            <a:ext cx="493776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场景一｜本地分支最终未入库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039112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AI 生成 100 行，开发者接受 60 行</a:t>
            </a:r>
          </a:p>
        </p:txBody>
      </p:sp>
      <p:sp>
        <p:nvSpPr>
          <p:cNvPr id="10" name="Chevron 9"/>
          <p:cNvSpPr/>
          <p:nvPr/>
        </p:nvSpPr>
        <p:spPr>
          <a:xfrm>
            <a:off x="306324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本地 commit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889504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只保留在个人分支，随后被放弃</a:t>
            </a:r>
          </a:p>
        </p:txBody>
      </p:sp>
      <p:sp>
        <p:nvSpPr>
          <p:cNvPr id="14" name="Chevron 13"/>
          <p:cNvSpPr/>
          <p:nvPr/>
        </p:nvSpPr>
        <p:spPr>
          <a:xfrm>
            <a:off x="306324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49808" y="3758184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785616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目标仓库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739896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最终入库 0 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590288"/>
            <a:ext cx="4791456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654296"/>
            <a:ext cx="4443984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把未入库代码误计为入库，使入库分子虚增 60 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353312"/>
            <a:ext cx="516636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44768" y="1353312"/>
            <a:ext cx="516636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27648" y="1426464"/>
            <a:ext cx="4773168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场景二｜commit 数天后才入库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2512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9831" y="2039112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接受 60 行并形成本地 commit B</a:t>
            </a:r>
          </a:p>
        </p:txBody>
      </p:sp>
      <p:sp>
        <p:nvSpPr>
          <p:cNvPr id="26" name="Chevron 25"/>
          <p:cNvSpPr/>
          <p:nvPr/>
        </p:nvSpPr>
        <p:spPr>
          <a:xfrm>
            <a:off x="864108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82512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10 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9831" y="2889504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最终 commit T 入库，其中保留 AI 代码 40 行</a:t>
            </a:r>
          </a:p>
        </p:txBody>
      </p:sp>
      <p:sp>
        <p:nvSpPr>
          <p:cNvPr id="30" name="Chevron 29"/>
          <p:cNvSpPr/>
          <p:nvPr/>
        </p:nvSpPr>
        <p:spPr>
          <a:xfrm>
            <a:off x="864108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3739896"/>
            <a:ext cx="4389120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动作日与入库日不同，不能按同一天的数据直接相除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2512" y="4590288"/>
            <a:ext cx="4617720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4654296"/>
            <a:ext cx="43891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Microsoft YaHei"/>
              </a:rPr>
              <a:t>结果是时间批次错配：分子、分母不是同一批代码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458968"/>
            <a:ext cx="9966960" cy="45720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5532120"/>
            <a:ext cx="9582912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18345D"/>
                </a:solidFill>
                <a:latin typeface="Microsoft YaHei"/>
              </a:rPr>
              <a:t>根因：统计起点选错。必须由目标仓库的最终 commit 确认真实入库，再反推其 AI 来源；不能把本地 commit 当作最终入库事实。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9052560" cy="768096"/>
          </a:xfrm>
        </p:spPr>
        <p:txBody>
          <a:bodyPr anchor="ctr"/>
          <a:lstStyle/>
          <a:p>
            <a:r>
              <a:rPr lang="zh-CN" sz="2800" noProof="1">
                <a:solidFill>
                  <a:srgbClr val="1C2E5A"/>
                </a:solidFill>
              </a:rPr>
              <a:t>解决</a:t>
            </a:r>
            <a:r>
              <a:rPr lang="zh-CN" sz="2800" b="1" noProof="1">
                <a:solidFill>
                  <a:srgbClr val="1C2E5A"/>
                </a:solidFill>
                <a:latin typeface="Microsoft YaHei"/>
              </a:rPr>
              <a:t>方案：从目标仓库 commit 反推同一批代码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87552"/>
            <a:ext cx="111099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0" noProof="1">
                <a:solidFill>
                  <a:srgbClr val="1C2E5A"/>
                </a:solidFill>
                <a:latin typeface="Microsoft YaHei"/>
              </a:rPr>
              <a:t>以已进入目标分支的 commit 为统计批次，沿来源链路反推入库、接受与生成事实，三项比例即可直接计算。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55778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目标仓库 commit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确认已进入目标分支
仓库新增 200 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355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339242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确认 AI 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156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去重后保留 40 行
同一来源行只计一次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819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622706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反推接受来源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关联到当时接受 60 行
不受实际发生日期影响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83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906170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反推生成来源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关联到当时生成 100 行
形成完整来源链</a:t>
            </a:r>
          </a:p>
        </p:txBody>
      </p:sp>
      <p:sp>
        <p:nvSpPr>
          <p:cNvPr id="16" name="Chevron 15"/>
          <p:cNvSpPr/>
          <p:nvPr/>
        </p:nvSpPr>
        <p:spPr>
          <a:xfrm>
            <a:off x="286207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Chevron 16"/>
          <p:cNvSpPr/>
          <p:nvPr/>
        </p:nvSpPr>
        <p:spPr>
          <a:xfrm>
            <a:off x="569671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8" name="Chevron 17"/>
          <p:cNvSpPr/>
          <p:nvPr/>
        </p:nvSpPr>
        <p:spPr>
          <a:xfrm>
            <a:off x="8531352" y="2276856"/>
            <a:ext cx="347472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TextBox 18"/>
          <p:cNvSpPr txBox="1"/>
          <p:nvPr/>
        </p:nvSpPr>
        <p:spPr>
          <a:xfrm>
            <a:off x="475488" y="3246120"/>
            <a:ext cx="10698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统一口径后的指标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58521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AI 贡献率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仓库新增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40 ÷ 200 = 20%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5" name="TextBox 24"/>
          <p:cNvSpPr txBox="1"/>
          <p:nvPr/>
        </p:nvSpPr>
        <p:spPr>
          <a:xfrm>
            <a:off x="387705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入库率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05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同批接受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7705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7F68"/>
                </a:solidFill>
                <a:latin typeface="Microsoft YaHei"/>
              </a:rPr>
              <a:t>40 ÷ 60 = 66.7%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2259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9" name="TextBox 28"/>
          <p:cNvSpPr txBox="1"/>
          <p:nvPr/>
        </p:nvSpPr>
        <p:spPr>
          <a:xfrm>
            <a:off x="716889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接受率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同批接受 ÷ 同批生成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60 ÷ 100 = 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8128" y="3840480"/>
            <a:ext cx="10058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350" b="1" noProof="1">
                <a:solidFill>
                  <a:srgbClr val="007F68"/>
                </a:solidFill>
                <a:latin typeface="Microsoft YaHei"/>
              </a:rPr>
              <a:t>三项指标
≤ 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30368"/>
            <a:ext cx="10469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180" b="1" noProof="1">
                <a:solidFill>
                  <a:srgbClr val="1C2E5A"/>
                </a:solidFill>
                <a:latin typeface="Microsoft YaHei"/>
              </a:rPr>
              <a:t>保障机制：目标 commit 作为唯一入口｜来源行级去重｜延迟入库归入最终 commit 批次｜本地 rewrite 只替换未确认候选。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50992"/>
            <a:ext cx="96926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sz="960" b="0" noProof="1">
                <a:solidFill>
                  <a:srgbClr val="1A1A1A"/>
                </a:solidFill>
                <a:latin typeface="Microsoft YaHei"/>
              </a:rPr>
              <a:t>Git AI 产品口径：未独立采集生成量时，生成行数按接受行数计；入库确认仍以目标仓库 commit 为准。</a:t>
            </a:r>
          </a:p>
        </p:txBody>
      </p:sp>
      <p:sp>
        <p:nvSpPr>
          <p:cNvPr id="35" name="TextBox 33">
            <a:extLst>
              <a:ext uri="{FF2B5EF4-FFF2-40B4-BE49-F238E27FC236}">
                <a16:creationId xmlns:a16="http://schemas.microsoft.com/office/drawing/2014/main" id="{1B7A46F6-7A5E-9D86-0D07-587E31F33148}"/>
              </a:ext>
            </a:extLst>
          </p:cNvPr>
          <p:cNvSpPr txBox="1"/>
          <p:nvPr/>
        </p:nvSpPr>
        <p:spPr>
          <a:xfrm>
            <a:off x="457200" y="5926539"/>
            <a:ext cx="8280920" cy="339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项目个人体会：功能开发完毕之后，可能只完成了整体工作量的 </a:t>
            </a:r>
            <a:r>
              <a:rPr lang="en-US" altLang="zh-CN" sz="960" b="0" noProof="1">
                <a:solidFill>
                  <a:srgbClr val="1A1A1A"/>
                </a:solidFill>
                <a:latin typeface="Microsoft YaHei"/>
              </a:rPr>
              <a:t>30%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40%</a:t>
            </a: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。</a:t>
            </a:r>
            <a:r>
              <a:rPr lang="zh-CN" altLang="en-US" sz="960" noProof="1">
                <a:solidFill>
                  <a:srgbClr val="1A1A1A"/>
                </a:solidFill>
              </a:rPr>
              <a:t>真实上线后产生大量数据以及使用场景之后，可能还需要 </a:t>
            </a:r>
            <a:r>
              <a:rPr lang="en-US" altLang="zh-CN" sz="960" noProof="1">
                <a:solidFill>
                  <a:srgbClr val="1A1A1A"/>
                </a:solidFill>
              </a:rPr>
              <a:t>60%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70%</a:t>
            </a:r>
            <a:r>
              <a:rPr lang="zh-CN" altLang="en-US" sz="960" noProof="1">
                <a:solidFill>
                  <a:srgbClr val="1A1A1A"/>
                </a:solidFill>
              </a:rPr>
              <a:t> 的工作量，用于解决这些场景问题、更新功能、修复</a:t>
            </a:r>
            <a:r>
              <a:rPr lang="en-US" altLang="zh-CN" sz="960" noProof="1">
                <a:solidFill>
                  <a:srgbClr val="1A1A1A"/>
                </a:solidFill>
              </a:rPr>
              <a:t>bug</a:t>
            </a:r>
            <a:r>
              <a:rPr lang="zh-CN" altLang="en-US" sz="960" noProof="1">
                <a:solidFill>
                  <a:srgbClr val="1A1A1A"/>
                </a:solidFill>
              </a:rPr>
              <a:t>。</a:t>
            </a:r>
            <a:endParaRPr lang="zh-CN" sz="960" b="0" noProof="1">
              <a:solidFill>
                <a:srgbClr val="1A1A1A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问题一：巨量导入抬高分母，AI 贡献率被稀释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835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当前分母混入日常开发、整体迁移、模板基线和开源导入，项目间 AI 贡献率暂不宜直接横向比较。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565392" cy="43342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58191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20" b="1">
                <a:solidFill>
                  <a:srgbClr val="213261"/>
                </a:solidFill>
                <a:latin typeface="Microsoft YaHei"/>
              </a:rPr>
              <a:t>本地 6—7 月去重样本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20240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C00000"/>
                </a:solidFill>
                <a:latin typeface="Microsoft YaHei"/>
              </a:rPr>
              <a:t>442.9 万行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2" y="2029968"/>
            <a:ext cx="204825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单次最大提交（新增 + 删除）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029968"/>
            <a:ext cx="1490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518E"/>
                </a:solidFill>
                <a:latin typeface="Microsoft YaHei"/>
              </a:rPr>
              <a:t>icfs · 2026-07-08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33472"/>
            <a:ext cx="2176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111111"/>
                </a:solidFill>
                <a:latin typeface="Microsoft YaHei"/>
              </a:rPr>
              <a:t>15 万行以上的异常候选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3347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C00000"/>
                </a:solidFill>
                <a:latin typeface="Microsoft YaHei"/>
              </a:rPr>
              <a:t>8 次提交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33472"/>
            <a:ext cx="261518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占总提交行数 79.4%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962656"/>
            <a:ext cx="5815584" cy="32004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8" y="2962656"/>
            <a:ext cx="4617720" cy="32004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2971800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Microsoft YaHei"/>
              </a:rPr>
              <a:t>异常候选 1,278.9 万行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最大四次提交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4048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07-08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04688" y="3840480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442.9 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15384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06-04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87168" y="4261104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87168" y="4261104"/>
            <a:ext cx="2925091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4688" y="4215384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442.7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902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07-20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87168" y="4636007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7168" y="4636007"/>
            <a:ext cx="636363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04688" y="4590288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96.3 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965192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06-10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87168" y="5010912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87168" y="5010912"/>
            <a:ext cx="595241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04688" y="4965192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90.1 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340096"/>
            <a:ext cx="5806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111111"/>
                </a:solidFill>
                <a:latin typeface="Microsoft YaHei"/>
              </a:rPr>
              <a:t>口径：本地库 2026-06-01—07-21；按规范仓库 + commit 去重；提交行数 = 新增 + 删除。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33488" y="1371600"/>
            <a:ext cx="393192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33488" y="1371600"/>
            <a:ext cx="73152" cy="8046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34656" y="1490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00000"/>
                </a:solidFill>
                <a:latin typeface="Microsoft YaHei"/>
              </a:rPr>
              <a:t>问题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1463040"/>
            <a:ext cx="2706624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少数超大提交决定了绝大部分分母，掩盖日常开发中的 AI 使用。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33488" y="2304288"/>
            <a:ext cx="3931920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333488" y="2304288"/>
            <a:ext cx="73152" cy="1225296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34656" y="2423160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已知来源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7616" y="2395728"/>
            <a:ext cx="2706624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iagent：外网开发后整体导入内网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openspec-ai：模板 / 基线代码复制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开源项目整体引入：项目待确认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33488" y="3657600"/>
            <a:ext cx="393192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333488" y="3657600"/>
            <a:ext cx="73152" cy="932688"/>
          </a:xfrm>
          <a:prstGeom prst="rect">
            <a:avLst/>
          </a:prstGeom>
          <a:solidFill>
            <a:srgbClr val="005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34656" y="3776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518E"/>
                </a:solidFill>
                <a:latin typeface="Microsoft YaHei"/>
              </a:rPr>
              <a:t>现状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7616" y="3749039"/>
            <a:ext cx="270662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“扣减标注”已可临时修正首页，但仍依赖管理员填写固定行数，尚未形成来源识别与统一调整口径。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3488" y="4718304"/>
            <a:ext cx="3931920" cy="98755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333488" y="4718304"/>
            <a:ext cx="73152" cy="9875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34656" y="483717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建议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7616" y="4809744"/>
            <a:ext cx="2706624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系统识别异常候选 → 仓库维护人确认来源 / 排除范围 → 原始口径与调整口径并列展示。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33872"/>
            <a:ext cx="9582912" cy="512064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3232" y="5897880"/>
            <a:ext cx="9162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另一因素是分子漏采：Codex、Claude Code、Kilo v7、OpenCode 等历史生成事实尚未完整进入统计；Git AI 上线后需单独观测。本页只聚焦分母问题。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完成度以可验证证据为准：合并、构建、回归、真实运行与数据清理分别设门槛。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当前完成度与正式上线清单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实现和专项验证已经收口；生产落地仍需按配置、权限、真实仓库和存量缩容四条线验收。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已经完成并可复核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6231"/>
            <a:ext cx="5029200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客户端原始会话只在内存解析，不写 SQLite、不上传。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v7 迁移、跨进程锁、旧原文阻断触发器、批次限额与 fail-closed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8082 长故障重试、恢复续传与不可投递分类已实现。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后端 Token 日事实直写、原始 payload 清除与轻量审计 sidecar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“查看代码”已接通宿主机只读 Git 取证，权限、范围、哈希和资源限制已加固。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客户端、后端、管理端专项回归和构建检查通过。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正式上线前必须收口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856231"/>
            <a:ext cx="5157216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备份并灰度升级 v7，监控 SQLite 增长、freelist、上传队列和 8082 请求体。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核对 8081 /prod-api 到 8082 的生产代理、Nginx 10m 与应用 8 MiB 限制。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为审计角色授予 ai:stats:code:audit，验证 102 / 103 仓库映射及宿主机只读权限。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用真实 commit 覆盖正常、rewrite / squash、删除、超限、仓库缺失等审计结果。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在独立维护窗口执行旧库 VACUUM INTO / 原子替换，并保留原库回滚。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重新生成正式离线包，完成真实 Windows、VS Code、JetBrains、Kilo 端到端冒烟。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971032"/>
            <a:ext cx="10698480" cy="2651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0" b="1">
                <a:solidFill>
                  <a:srgbClr val="213261"/>
                </a:solidFill>
                <a:latin typeface="Microsoft YaHei"/>
              </a:rPr>
              <a:t>最终状态：新增数据规模已从“会话内容 × 消息数”收敛为“日期 × 有限统计维度”；代码准确性由既有归因链路与按需 Git 审计共同保障。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a:ea="Microsoft YaHei" a:latin="Microsoft YaHei">
                <a:solidFill>
                  <a:srgbClr val="213261"/>
                </a:solidFill>
                <a:latin typeface="Microsoft YaHei"/>
              </a:rPr>
              <a:t>Token 统计链路：复用 Git AI 通用框架，补齐企业计量闭环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 a:ea="Microsoft YaHei" a:latin="Microsoft YaHei">
                <a:solidFill>
                  <a:srgbClr val="213261"/>
                </a:solidFill>
                <a:latin typeface="Microsoft YaHei"/>
              </a:rPr>
              <a:t>Git AI 原有 daemon 负责触发、增量扫描、可靠队列和批量上传；企业二开只补充 Token 事实与后台统计。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 a:ea="Microsoft YaHei" a:latin="Microsoft YaHei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39696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a:ea="Microsoft YaHei" a:latin="Microsoft YaHei">
                <a:solidFill>
                  <a:srgbClr val="213261"/>
                </a:solidFill>
                <a:latin typeface="Microsoft YaHei"/>
              </a:rPr>
              <a:t>触发扫描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688336"/>
            <a:ext cx="1627632" cy="17556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Codex 工具 Hook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守护进程启动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commit / push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每 30 分钟兜底扫描</a:t>
            </a:r>
          </a:p>
        </p:txBody>
      </p:sp>
      <p:sp>
        <p:nvSpPr>
          <p:cNvPr id="10" name="Chevron 9"/>
          <p:cNvSpPr/>
          <p:nvPr/>
        </p:nvSpPr>
        <p:spPr>
          <a:xfrm>
            <a:off x="2496312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34056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34056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16936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53512" y="168249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 a:ea="Microsoft YaHei" a:latin="Microsoft YaHei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139696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a:ea="Microsoft YaHei" a:latin="Microsoft YaHei">
                <a:solidFill>
                  <a:srgbClr val="213261"/>
                </a:solidFill>
                <a:latin typeface="Microsoft YaHei"/>
              </a:rPr>
              <a:t>增量读取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688336"/>
            <a:ext cx="1627632" cy="17556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会话发现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按水位读取新增记录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去重与断点续扫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不直接调用 AI 接口</a:t>
            </a:r>
          </a:p>
        </p:txBody>
      </p:sp>
      <p:sp>
        <p:nvSpPr>
          <p:cNvPr id="17" name="Chevron 16"/>
          <p:cNvSpPr/>
          <p:nvPr/>
        </p:nvSpPr>
        <p:spPr>
          <a:xfrm>
            <a:off x="4791456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0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12080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168249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 a:ea="Microsoft YaHei" a:latin="Microsoft YaHei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139696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a:ea="Microsoft YaHei" a:latin="Microsoft YaHei">
                <a:solidFill>
                  <a:srgbClr val="213261"/>
                </a:solidFill>
                <a:latin typeface="Microsoft YaHei"/>
              </a:rPr>
              <a:t>Token 计量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88336"/>
            <a:ext cx="1627632" cy="17556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解析累计 Token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计算相对上次的增量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按用户 / 日期聚合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生成当天累计快照</a:t>
            </a:r>
          </a:p>
        </p:txBody>
      </p:sp>
      <p:sp>
        <p:nvSpPr>
          <p:cNvPr id="24" name="Chevron 23"/>
          <p:cNvSpPr/>
          <p:nvPr/>
        </p:nvSpPr>
        <p:spPr>
          <a:xfrm>
            <a:off x="7086600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24344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4344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07223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799" y="168249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 a:ea="Microsoft YaHei" a:latin="Microsoft YaHei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7223" y="2139696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a:ea="Microsoft YaHei" a:latin="Microsoft YaHei">
                <a:solidFill>
                  <a:srgbClr val="213261"/>
                </a:solidFill>
                <a:latin typeface="Microsoft YaHei"/>
              </a:rPr>
              <a:t>可靠传输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7223" y="2688336"/>
            <a:ext cx="1627632" cy="17556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先写本地指标队列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约每 3 秒检查一次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有数据才批量上传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失败保留并退避重试</a:t>
            </a:r>
          </a:p>
        </p:txBody>
      </p:sp>
      <p:sp>
        <p:nvSpPr>
          <p:cNvPr id="31" name="Chevron 30"/>
          <p:cNvSpPr/>
          <p:nvPr/>
        </p:nvSpPr>
        <p:spPr>
          <a:xfrm>
            <a:off x="9381744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19488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19488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802367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8943" y="168249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 a:ea="Microsoft YaHei" a:latin="Microsoft YaHei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2367" y="2139696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a:ea="Microsoft YaHei" a:latin="Microsoft YaHei">
                <a:solidFill>
                  <a:srgbClr val="213261"/>
                </a:solidFill>
                <a:latin typeface="Microsoft YaHei"/>
              </a:rPr>
              <a:t>后台落地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7" y="2688336"/>
            <a:ext cx="1627632" cy="17556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幂等接收与版本覆盖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用户 / 组织维度投影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日汇总与请求数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a:ea="Microsoft YaHei" a:latin="Microsoft YaHei">
                <a:solidFill>
                  <a:srgbClr val="111111"/>
                </a:solidFill>
                <a:latin typeface="Microsoft YaHei"/>
              </a:rPr>
              <a:t>热力图、趋势和明细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10912"/>
            <a:ext cx="10771632" cy="102412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5212080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a:ea="Microsoft YaHei" a:latin="Microsoft YaHei">
                <a:solidFill>
                  <a:srgbClr val="00518E"/>
                </a:solidFill>
                <a:latin typeface="Microsoft YaHei"/>
              </a:rPr>
              <a:t>产生待上传数据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12848" y="5120640"/>
            <a:ext cx="305409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 a:ea="Microsoft YaHei" a:latin="Microsoft YaHei">
                <a:solidFill>
                  <a:srgbClr val="111111"/>
                </a:solidFill>
                <a:latin typeface="Microsoft YaHei"/>
              </a:rPr>
              <a:t>Hook 或扫描发现新的 Token 累计值，完成增量计算并写入本地队列。</a:t>
            </a:r>
          </a:p>
        </p:txBody>
      </p:sp>
      <p:sp>
        <p:nvSpPr>
          <p:cNvPr id="41" name="Chevron 40"/>
          <p:cNvSpPr/>
          <p:nvPr/>
        </p:nvSpPr>
        <p:spPr>
          <a:xfrm>
            <a:off x="5404104" y="5321808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70448" y="52120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a:ea="Microsoft YaHei" a:latin="Microsoft YaHei">
                <a:solidFill>
                  <a:srgbClr val="00518E"/>
                </a:solidFill>
                <a:latin typeface="Microsoft YaHei"/>
              </a:rPr>
              <a:t>发送到后端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5120640"/>
            <a:ext cx="371246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 a:ea="Microsoft YaHei" a:latin="Microsoft YaHei">
                <a:solidFill>
                  <a:srgbClr val="111111"/>
                </a:solidFill>
                <a:latin typeface="Microsoft YaHei"/>
              </a:rPr>
              <a:t>3 秒任务只检查并发送队列：没有新快照就不发请求，也不会重新扫描会话。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a:ea="Microsoft YaHei" a:latin="Microsoft YaHei">
                <a:solidFill>
                  <a:srgbClr val="213261"/>
                </a:solidFill>
                <a:latin typeface="Microsoft YaHei"/>
              </a:rPr>
              <a:t>上线后 Bug 回顾：真实运行暴露的是组合风险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0771632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1035100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a:ea="Microsoft YaHei" a:latin="Microsoft YaHei">
                <a:solidFill>
                  <a:srgbClr val="213261"/>
                </a:solidFill>
                <a:latin typeface="Microsoft YaHei"/>
              </a:rPr>
              <a:t>结论：证据较强。但应表述为“真实业务数据与运行时序集中暴露了开发阶段覆盖不足”，而不是“这些 Bug 原理上无法提前发现”。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a:ea="Microsoft YaHei" a:latin="Microsoft YaHei">
                <a:solidFill>
                  <a:srgbClr val="213261"/>
                </a:solidFill>
                <a:latin typeface="Microsoft YaHei"/>
              </a:rPr>
              <a:t>五类组合风险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56816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56816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66544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a:ea="Microsoft YaHei" a:latin="Microsoft YaHei">
                <a:solidFill>
                  <a:srgbClr val="00518E"/>
                </a:solidFill>
                <a:latin typeface="Microsoft YaHei"/>
              </a:rPr>
              <a:t>数据异构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536192" cy="61264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 a:ea="Microsoft YaHei" a:latin="Microsoft YaHei">
                <a:solidFill>
                  <a:srgbClr val="111111"/>
                </a:solidFill>
                <a:latin typeface="Microsoft YaHei"/>
              </a:rPr>
              <a:t>跨系统路径、历史配置、重复维度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52344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752344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62072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a:ea="Microsoft YaHei" a:latin="Microsoft YaHei">
                <a:solidFill>
                  <a:srgbClr val="00518E"/>
                </a:solidFill>
                <a:latin typeface="Microsoft YaHei"/>
              </a:rPr>
              <a:t>状态积累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25496"/>
            <a:ext cx="1536192" cy="61264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 a:ea="Microsoft YaHei" a:latin="Microsoft YaHei">
                <a:solidFill>
                  <a:srgbClr val="111111"/>
                </a:solidFill>
                <a:latin typeface="Microsoft YaHei"/>
              </a:rPr>
              <a:t>旧客户端、历史记录、新旧逻辑并存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47872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a:ea="Microsoft YaHei" a:latin="Microsoft YaHei">
                <a:solidFill>
                  <a:srgbClr val="00518E"/>
                </a:solidFill>
                <a:latin typeface="Microsoft YaHei"/>
              </a:rPr>
              <a:t>事件时序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21024"/>
            <a:ext cx="1536192" cy="61264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 a:ea="Microsoft YaHei" a:latin="Microsoft YaHei">
                <a:solidFill>
                  <a:srgbClr val="111111"/>
                </a:solidFill>
                <a:latin typeface="Microsoft YaHei"/>
              </a:rPr>
              <a:t>amend、重试、离线、乱序、部分成功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343400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5312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a:ea="Microsoft YaHei" a:latin="Microsoft YaHei">
                <a:solidFill>
                  <a:srgbClr val="00518E"/>
                </a:solidFill>
                <a:latin typeface="Microsoft YaHei"/>
              </a:rPr>
              <a:t>组合复杂度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416552"/>
            <a:ext cx="1536192" cy="61264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 a:ea="Microsoft YaHei" a:latin="Microsoft YaHei">
                <a:solidFill>
                  <a:srgbClr val="111111"/>
                </a:solidFill>
                <a:latin typeface="Microsoft YaHei"/>
              </a:rPr>
              <a:t>单条件正常，多条件叠加才出错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38928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38928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48656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a:ea="Microsoft YaHei" a:latin="Microsoft YaHei">
                <a:solidFill>
                  <a:srgbClr val="00518E"/>
                </a:solidFill>
                <a:latin typeface="Microsoft YaHei"/>
              </a:rPr>
              <a:t>生产规模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212080"/>
            <a:ext cx="1536192" cy="61264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 a:ea="Microsoft YaHei" a:latin="Microsoft YaHei">
                <a:solidFill>
                  <a:srgbClr val="111111"/>
                </a:solidFill>
                <a:latin typeface="Microsoft YaHei"/>
              </a:rPr>
              <a:t>小样本正确，规模增长后性能失效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474720" y="1609344"/>
          <a:ext cx="7799832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452628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 a:ea="Microsoft YaHei" a:latin="Microsoft YaHei">
                          <a:solidFill>
                            <a:srgbClr val="FFFFFF"/>
                          </a:solidFill>
                          <a:latin typeface="Microsoft YaHei"/>
                        </a:rPr>
                        <a:t>代表性问题</a:t>
                      </a:r>
                    </a:p>
                  </a:txBody>
                  <a:tcPr anchor="ctr" marL="82296" marR="82296" marT="27432" marB="27432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 a:ea="Microsoft YaHei" a:latin="Microsoft YaHei">
                          <a:solidFill>
                            <a:srgbClr val="FFFFFF"/>
                          </a:solidFill>
                          <a:latin typeface="Microsoft YaHei"/>
                        </a:rPr>
                        <a:t>必须出现的真实场景</a:t>
                      </a:r>
                    </a:p>
                  </a:txBody>
                  <a:tcPr anchor="ctr" marL="82296" marR="82296" marT="27432" marB="27432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 a:ea="Microsoft YaHei" a:latin="Microsoft YaHei">
                          <a:solidFill>
                            <a:srgbClr val="FFFFFF"/>
                          </a:solidFill>
                          <a:latin typeface="Microsoft YaHei"/>
                        </a:rPr>
                        <a:t>支撑</a:t>
                      </a:r>
                    </a:p>
                  </a:txBody>
                  <a:tcPr anchor="ctr" marL="82296" marR="82296" marT="27432" marB="27432">
                    <a:solidFill>
                      <a:srgbClr val="0062AC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同一仓库 29 行变 58 行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Windows、macOS 路径与历史配置并存，仓库被重复识别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a:ea="Microsoft YaHei" a:latin="Microsoft YaHei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amend 后旧、新提交同时生效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特定监听时序下，旧提交未被生命周期事件作废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a:ea="Microsoft YaHei" a:latin="Microsoft YaHei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修改 8 行却显示生成 11、入库 9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首尾空行、删除行与上报行数组合出现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较强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入库率超过 100%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重复文本、重复认领与最终内容不一致；865 行、10 个提交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a:ea="Microsoft YaHei" a:latin="Microsoft YaHei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组织筛选漏掉 2,226 行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开发组织、模块归属与多种排除规则交叉重叠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a:ea="Microsoft YaHei" a:latin="Microsoft YaHei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“本月”筛选却显示“当天”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用户快速切换条件，网络响应发生乱序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事件跳过、重复或旧数据覆盖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写入失败、部分成功、同秒碰撞、离线积压后乱序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a:ea="Microsoft YaHei" a:latin="Microsoft YaHei">
                          <a:solidFill>
                            <a:srgbClr val="C00000"/>
                          </a:solidFill>
                          <a:latin typeface="Microsoft YaHei"/>
                        </a:rPr>
                        <a:t>强（含模拟）</a:t>
                      </a:r>
                    </a:p>
                  </a:txBody>
                  <a:tcPr anchor="ctr" marL="82296" marR="82296" marT="22860" marB="22860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约 18.7 万条后查询明显变慢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a:ea="Microsoft YaHei" a:latin="Microsoft YaHei">
                          <a:solidFill>
                            <a:srgbClr val="111111"/>
                          </a:solidFill>
                          <a:latin typeface="Microsoft YaHei"/>
                        </a:rPr>
                        <a:t>开发数据量过小，无法体现真实查询路径瓶颈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a:ea="Microsoft YaHei" a:latin="Microsoft YaHei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anchor="ctr" marL="82296" marR="82296" marT="22860" marB="22860"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02920" y="5971032"/>
            <a:ext cx="9710928" cy="42976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998464"/>
            <a:ext cx="9272016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1" a:ea="Microsoft YaHei" a:latin="Microsoft YaHei">
                <a:solidFill>
                  <a:srgbClr val="213261"/>
                </a:solidFill>
                <a:latin typeface="Microsoft YaHei"/>
              </a:rPr>
              <a:t>对外建议：系统主要风险不在单点功能，而在跨版本、跨组织、历史状态、异常时序和数据规模的组合；质量建设应升级为场景回放、不变量校验、失败注入、时间边界与容量测试。边界：当前足以定性论证，尚不能给出 Bug 占比。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页面标题"/>
          <p:cNvSpPr txBox="1"/>
          <p:nvPr/>
        </p:nvSpPr>
        <p:spPr>
          <a:xfrm>
            <a:off x="329184" y="1554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a:ea="Microsoft YaHei" a:latin="Microsoft YaHei">
                <a:solidFill>
                  <a:srgbClr val="213261"/>
                </a:solidFill>
                <a:latin typeface="Microsoft YaHei"/>
              </a:rPr>
              <a:t>双链路采集、统一入库确认：从编辑事实到正式统计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a:ea="Microsoft YaHei" a:latin="Microsoft YaHei">
                <a:solidFill>
                  <a:srgbClr val="213261"/>
                </a:solidFill>
                <a:latin typeface="Microsoft YaHei"/>
              </a:rPr>
              <a:t>Kilo v5 与 Git AI 分别构造来源证据，后端保留各自归因方式，并在真实仓库确认后统一形成正式统计。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1328" y="1261872"/>
            <a:ext cx="3858768" cy="246888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1275587"/>
            <a:ext cx="3785615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 a:ea="Microsoft YaHei" a:latin="Microsoft YaHei">
                <a:solidFill>
                  <a:srgbClr val="FFFFFF"/>
                </a:solidFill>
                <a:latin typeface="Microsoft YaHei"/>
              </a:rPr>
              <a:t>客户端采集与本地证据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7256" y="1261872"/>
            <a:ext cx="6163056" cy="246888"/>
          </a:xfrm>
          <a:prstGeom prst="round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13832" y="1275587"/>
            <a:ext cx="608990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 a:ea="Microsoft YaHei" a:latin="Microsoft YaHei">
                <a:solidFill>
                  <a:srgbClr val="FFFFFF"/>
                </a:solidFill>
                <a:latin typeface="Microsoft YaHei"/>
              </a:rPr>
              <a:t>后端四重门禁：从候选事实到正式入库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72768"/>
            <a:ext cx="896112" cy="1234440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627632"/>
            <a:ext cx="749808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a:ea="Microsoft YaHei" a:latin="Microsoft YaHei">
                <a:solidFill>
                  <a:srgbClr val="FFFFFF"/>
                </a:solidFill>
                <a:latin typeface="Microsoft YaHei"/>
              </a:rPr>
              <a:t>Kilo v5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90672"/>
            <a:ext cx="896112" cy="1234440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3145536"/>
            <a:ext cx="749808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a:ea="Microsoft YaHei" a:latin="Microsoft YaHei">
                <a:solidFill>
                  <a:srgbClr val="FFFFFF"/>
                </a:solidFill>
                <a:latin typeface="Microsoft YaHei"/>
              </a:rPr>
              <a:t>Git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1691640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编辑事实采集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112264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生成事实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接受事实</a:t>
            </a:r>
          </a:p>
        </p:txBody>
      </p:sp>
      <p:sp>
        <p:nvSpPr>
          <p:cNvPr id="15" name="Chevron 14"/>
          <p:cNvSpPr/>
          <p:nvPr/>
        </p:nvSpPr>
        <p:spPr>
          <a:xfrm>
            <a:off x="2633472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79776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1691640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本地证据留存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2112264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来源行账本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失败保留</a:t>
            </a:r>
          </a:p>
        </p:txBody>
      </p:sp>
      <p:sp>
        <p:nvSpPr>
          <p:cNvPr id="19" name="Chevron 18"/>
          <p:cNvSpPr/>
          <p:nvPr/>
        </p:nvSpPr>
        <p:spPr>
          <a:xfrm>
            <a:off x="3931920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78224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1691640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提交证据包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2112264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最终 Commit 差异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待确认的 AI 行</a:t>
            </a:r>
          </a:p>
        </p:txBody>
      </p:sp>
      <p:sp>
        <p:nvSpPr>
          <p:cNvPr id="23" name="Chevron 22"/>
          <p:cNvSpPr/>
          <p:nvPr/>
        </p:nvSpPr>
        <p:spPr>
          <a:xfrm>
            <a:off x="5230368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376672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5544" y="1691640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112264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明确回执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27" name="Chevron 26"/>
          <p:cNvSpPr/>
          <p:nvPr/>
        </p:nvSpPr>
        <p:spPr>
          <a:xfrm>
            <a:off x="6528816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75120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691640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②提交行归因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112264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完全 / 部分匹配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处理候选变更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81328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0200" y="3209544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多工具来源捕获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3630168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Hook / 会话流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工具调用</a:t>
            </a:r>
          </a:p>
        </p:txBody>
      </p:sp>
      <p:sp>
        <p:nvSpPr>
          <p:cNvPr id="34" name="Chevron 33"/>
          <p:cNvSpPr/>
          <p:nvPr/>
        </p:nvSpPr>
        <p:spPr>
          <a:xfrm>
            <a:off x="2633472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779776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98648" y="3209544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编辑检查点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98648" y="3630168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行级来源归属</a:t>
            </a:r>
          </a:p>
        </p:txBody>
      </p:sp>
      <p:sp>
        <p:nvSpPr>
          <p:cNvPr id="38" name="Chevron 37"/>
          <p:cNvSpPr/>
          <p:nvPr/>
        </p:nvSpPr>
        <p:spPr>
          <a:xfrm>
            <a:off x="3931920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78224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97096" y="3209544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Git 证据固化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7096" y="3630168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Notes + Commit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Rewrite</a:t>
            </a:r>
          </a:p>
        </p:txBody>
      </p:sp>
      <p:sp>
        <p:nvSpPr>
          <p:cNvPr id="42" name="Chevron 41"/>
          <p:cNvSpPr/>
          <p:nvPr/>
        </p:nvSpPr>
        <p:spPr>
          <a:xfrm>
            <a:off x="5230368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376672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95544" y="3209544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95544" y="3630168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持久队列 / 强回执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46" name="Chevron 45"/>
          <p:cNvSpPr/>
          <p:nvPr/>
        </p:nvSpPr>
        <p:spPr>
          <a:xfrm>
            <a:off x="6528816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675120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93992" y="3209544"/>
            <a:ext cx="886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 a:ea="Microsoft YaHei" a:latin="Microsoft YaHei">
                <a:solidFill>
                  <a:srgbClr val="213261"/>
                </a:solidFill>
                <a:latin typeface="Microsoft YaHei"/>
              </a:rPr>
              <a:t>②来源链关联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3992" y="3630168"/>
            <a:ext cx="886968" cy="5760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checkpoint + hunk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 a:ea="Microsoft YaHei" a:latin="Microsoft YaHei">
                <a:solidFill>
                  <a:srgbClr val="111111"/>
                </a:solidFill>
                <a:latin typeface="Microsoft YaHei"/>
              </a:rPr>
              <a:t>Commit / Rewrite 关联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82127" y="1636776"/>
            <a:ext cx="3639312" cy="384048"/>
          </a:xfrm>
          <a:prstGeom prst="roundRect">
            <a:avLst/>
          </a:prstGeom>
          <a:solidFill>
            <a:srgbClr val="FFF7E8"/>
          </a:solidFill>
          <a:ln w="1016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28431" y="1700784"/>
            <a:ext cx="3346704" cy="23774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 a:ea="Microsoft YaHei" a:latin="Microsoft YaHei">
                <a:solidFill>
                  <a:srgbClr val="D97706"/>
                </a:solidFill>
                <a:latin typeface="Microsoft YaHei"/>
              </a:rPr>
              <a:t>客户端 Commit / committed = 本地提交证据，不等于正式入库</a:t>
            </a:r>
          </a:p>
        </p:txBody>
      </p:sp>
      <p:sp>
        <p:nvSpPr>
          <p:cNvPr id="52" name="Right Arrow 51"/>
          <p:cNvSpPr/>
          <p:nvPr/>
        </p:nvSpPr>
        <p:spPr>
          <a:xfrm rot="1140000">
            <a:off x="7808975" y="2414016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ight Arrow 52"/>
          <p:cNvSpPr/>
          <p:nvPr/>
        </p:nvSpPr>
        <p:spPr>
          <a:xfrm rot="20460000">
            <a:off x="7808975" y="3429000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385048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2404872"/>
            <a:ext cx="7498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 a:ea="Microsoft YaHei" a:latin="Microsoft YaHei">
                <a:solidFill>
                  <a:srgbClr val="213261"/>
                </a:solidFill>
                <a:latin typeface="Microsoft YaHei"/>
              </a:rPr>
              <a:t>③真实入库确认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2825496"/>
            <a:ext cx="749808" cy="6675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 a:ea="Microsoft YaHei" a:latin="Microsoft YaHei">
                <a:solidFill>
                  <a:srgbClr val="111111"/>
                </a:solidFill>
                <a:latin typeface="Microsoft YaHei"/>
              </a:rPr>
              <a:t>扫描实际仓库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 a:ea="Microsoft YaHei" a:latin="Microsoft YaHei">
                <a:solidFill>
                  <a:srgbClr val="111111"/>
                </a:solidFill>
                <a:latin typeface="Microsoft YaHei"/>
              </a:rPr>
              <a:t>确认进入目标分支</a:t>
            </a:r>
          </a:p>
        </p:txBody>
      </p:sp>
      <p:sp>
        <p:nvSpPr>
          <p:cNvPr id="57" name="Chevron 56"/>
          <p:cNvSpPr/>
          <p:nvPr/>
        </p:nvSpPr>
        <p:spPr>
          <a:xfrm>
            <a:off x="9390888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518904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37776" y="2404872"/>
            <a:ext cx="7498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 a:ea="Microsoft YaHei" a:latin="Microsoft YaHei">
                <a:solidFill>
                  <a:srgbClr val="213261"/>
                </a:solidFill>
                <a:latin typeface="Microsoft YaHei"/>
              </a:rPr>
              <a:t>④逐行证据准入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2825496"/>
            <a:ext cx="749808" cy="6675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 a:ea="Microsoft YaHei" a:latin="Microsoft YaHei">
                <a:solidFill>
                  <a:srgbClr val="111111"/>
                </a:solidFill>
                <a:latin typeface="Microsoft YaHei"/>
              </a:rPr>
              <a:t>核验目标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 a:ea="Microsoft YaHei" a:latin="Microsoft YaHei">
                <a:solidFill>
                  <a:srgbClr val="111111"/>
                </a:solidFill>
                <a:latin typeface="Microsoft YaHei"/>
              </a:rPr>
              <a:t>同一来源内唯一计数</a:t>
            </a:r>
          </a:p>
        </p:txBody>
      </p:sp>
      <p:sp>
        <p:nvSpPr>
          <p:cNvPr id="61" name="Chevron 60"/>
          <p:cNvSpPr/>
          <p:nvPr/>
        </p:nvSpPr>
        <p:spPr>
          <a:xfrm>
            <a:off x="10524744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652760" y="2286000"/>
            <a:ext cx="987552" cy="1325880"/>
          </a:xfrm>
          <a:prstGeom prst="roundRect">
            <a:avLst/>
          </a:prstGeom>
          <a:solidFill>
            <a:srgbClr val="EDF8F1"/>
          </a:solidFill>
          <a:ln w="13970">
            <a:solidFill>
              <a:srgbClr val="76B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71632" y="2404872"/>
            <a:ext cx="7498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 a:ea="Microsoft YaHei" a:latin="Microsoft YaHei">
                <a:solidFill>
                  <a:srgbClr val="2E8B57"/>
                </a:solidFill>
                <a:latin typeface="Microsoft YaHei"/>
              </a:rPr>
              <a:t>正式统计与展示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71632" y="2825496"/>
            <a:ext cx="749808" cy="6675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 a:ea="Microsoft YaHei" a:latin="Microsoft YaHei">
                <a:solidFill>
                  <a:srgbClr val="111111"/>
                </a:solidFill>
                <a:latin typeface="Microsoft YaHei"/>
              </a:rPr>
              <a:t>committed 日事实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 a:ea="Microsoft YaHei" a:latin="Microsoft YaHei">
                <a:solidFill>
                  <a:srgbClr val="111111"/>
                </a:solidFill>
                <a:latin typeface="Microsoft YaHei"/>
              </a:rPr>
              <a:t>趋势 / 明细 / 看板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645152"/>
            <a:ext cx="10972800" cy="749808"/>
          </a:xfrm>
          <a:prstGeom prst="roundRect">
            <a:avLst/>
          </a:prstGeom>
          <a:solidFill>
            <a:srgbClr val="FFF7E8"/>
          </a:solidFill>
          <a:ln w="1143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3232" y="4773168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 a:ea="Microsoft YaHei" a:latin="Microsoft YaHei">
                <a:solidFill>
                  <a:srgbClr val="D97706"/>
                </a:solidFill>
                <a:latin typeface="Microsoft YaHei"/>
              </a:rPr>
              <a:t>Token 旁路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4773168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 a:ea="Microsoft YaHei" a:latin="Microsoft YaHei">
                <a:solidFill>
                  <a:srgbClr val="111111"/>
                </a:solidFill>
                <a:latin typeface="Microsoft YaHei"/>
              </a:rPr>
              <a:t>模型 / 会话用量</a:t>
            </a:r>
          </a:p>
        </p:txBody>
      </p:sp>
      <p:sp>
        <p:nvSpPr>
          <p:cNvPr id="68" name="Chevron 67"/>
          <p:cNvSpPr/>
          <p:nvPr/>
        </p:nvSpPr>
        <p:spPr>
          <a:xfrm>
            <a:off x="345643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703320" y="4773168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 a:ea="Microsoft YaHei" a:latin="Microsoft YaHei">
                <a:solidFill>
                  <a:srgbClr val="111111"/>
                </a:solidFill>
                <a:latin typeface="Microsoft YaHei"/>
              </a:rPr>
              <a:t>按日累计用量</a:t>
            </a:r>
          </a:p>
        </p:txBody>
      </p:sp>
      <p:sp>
        <p:nvSpPr>
          <p:cNvPr id="70" name="Chevron 69"/>
          <p:cNvSpPr/>
          <p:nvPr/>
        </p:nvSpPr>
        <p:spPr>
          <a:xfrm>
            <a:off x="510235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49240" y="4773168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 a:ea="Microsoft YaHei" a:latin="Microsoft YaHei">
                <a:solidFill>
                  <a:srgbClr val="111111"/>
                </a:solidFill>
                <a:latin typeface="Microsoft YaHei"/>
              </a:rPr>
              <a:t>独立接收与幂等覆盖</a:t>
            </a:r>
          </a:p>
        </p:txBody>
      </p:sp>
      <p:sp>
        <p:nvSpPr>
          <p:cNvPr id="72" name="Chevron 71"/>
          <p:cNvSpPr/>
          <p:nvPr/>
        </p:nvSpPr>
        <p:spPr>
          <a:xfrm>
            <a:off x="7059168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6056" y="47731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 a:ea="Microsoft YaHei" a:latin="Microsoft YaHei">
                <a:solidFill>
                  <a:srgbClr val="111111"/>
                </a:solidFill>
                <a:latin typeface="Microsoft YaHei"/>
              </a:rPr>
              <a:t>Token 日统计与看板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70848" y="4718304"/>
            <a:ext cx="21488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9" b="0" a:ea="Microsoft YaHei" a:latin="Microsoft YaHei">
                <a:solidFill>
                  <a:srgbClr val="111111"/>
                </a:solidFill>
                <a:latin typeface="Microsoft YaHei"/>
              </a:rPr>
              <a:t>Kilo v5 与 Git AI 均按日统计；不经过 Commit 归因、目标分支确认和最终行去重。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" y="5559552"/>
            <a:ext cx="9893808" cy="676656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3232" y="5614416"/>
            <a:ext cx="9473184" cy="35661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a:ea="Microsoft YaHei" a:latin="Microsoft YaHei">
                <a:solidFill>
                  <a:srgbClr val="213261"/>
                </a:solidFill>
                <a:latin typeface="Microsoft YaHei"/>
              </a:rPr>
              <a:t>客户端 Commit / committed 仅表示本地提交证据；后端确认代码真实进入目标分支、核验目标 Diff 并完成同一来源内唯一计数后，才进入正式统计。Token 按日独立统计，不参与代码入库归因。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" y="5961888"/>
            <a:ext cx="947318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 a:ea="Microsoft YaHei" a:latin="Microsoft YaHei">
                <a:solidFill>
                  <a:srgbClr val="213261"/>
                </a:solidFill>
                <a:latin typeface="Microsoft YaHei"/>
              </a:rPr>
              <a:t>边界：同一来源内完成幂等与最终行去重；Kilo v5 与 Git AI 若同时认领同一最终行，当前不承诺跨来源逐行去重。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3123</TotalTime>
  <Words>3895</Words>
  <Application>Microsoft Macintosh PowerPoint</Application>
  <PresentationFormat>宽屏</PresentationFormat>
  <Paragraphs>748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37</vt:i4>
      </vt:variant>
    </vt:vector>
  </HeadingPairs>
  <TitlesOfParts>
    <vt:vector size="42" baseType="lpstr">
      <vt:lpstr>Microsoft YaHei</vt:lpstr>
      <vt:lpstr>Arial</vt:lpstr>
      <vt:lpstr>Menlo</vt:lpstr>
      <vt:lpstr>默认设计模板</vt:lpstr>
      <vt:lpstr>6_默认设计模板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CLI 和插件的 FAQ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Git 生命周期归因：原生支持与后台闭环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解决方案：从目标仓库 commit 反推同一批代码</vt:lpstr>
      <vt:lpstr>PowerPoint 演示文稿</vt:lpstr>
      <vt:lpstr>PowerPoint 演示文稿</vt:lpstr>
      <vt:lpstr>PowerPoint 演示文稿</vt:lpstr>
    </vt:vector>
  </TitlesOfParts>
  <Company>Inspur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. Mark</cp:lastModifiedBy>
  <cp:revision>3159</cp:revision>
  <dcterms:created xsi:type="dcterms:W3CDTF">2005-10-07T03:09:00Z</dcterms:created>
  <dcterms:modified xsi:type="dcterms:W3CDTF">2026-07-23T08:37:11Z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